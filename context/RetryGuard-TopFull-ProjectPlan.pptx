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Project plan presentation — not a results talk. We present what we will do, how we will do it, and what the deliverables 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professor's requirement: 'I want to understand what you are going to do and what the deliverables will be.' This slide answers that directly. Hypothesis aligns with RetryGuard paper Table 1 style metrics.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Mechanism first — the audience needs to understand what TopFull is before seeing the numbers. The starvation problem is the core motivation. TopFull's insight: control APIs at the top, not microservices at each tier.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validate TopFull and motivate why we use it as the overload controller in our stack. The experiment question is: does RetryGuard add value on top of this already-effective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simple but analytically motivated. The key insight is distinguishing instantaneous failures (retries help) from prolonged overload (retries hurt). The threshold and interval parameters come from paper Sec. 6.2.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Istio integration method (Appendix A) is directly how we implement RetryGuard in our stack — Python script on master node, Kubernetes Python client, VirtualService CRD patches. Paper results validated on Bookinfo; we replicate on Online Boutique alongside TopFull.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Boutique is the test application — 11 microservices including Redis. It is chosen because it provides a realistic call chain with varied depth. The app itself is not the subject of study; it is the environment where TopFull + RetryGuard 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is the control condition. It represents 'TopFull doing its best without RetryGuard'. All comparison metrics — goodput improvement, retry reduction, resource savings — are measured as deltas from this baseline.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design principle: one variable changes, everything else stays constant. This is why we can later attribute differences in goodput, latency, and resource usage to RetryGuard's presence.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Non-determinism in Locust is expected and accounted for by design. The repeated-run protocol is standard practice for this type of load-generator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framing is critical. The question is not 'does RetryGuard work in general' — the paper already established that. The question is 'does it add value on top of a sophisticated top-down controller that is already doing a lot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question maps to one or more load scenarios. The questions motivate the scenarios — not the other way around. Source: PRESENTATION-GUIDE.md §6, PRESENTATION-ACTION-ITEMS.md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interval sensitivity and combined equilibrium questions are unique to the TopFull+RetryGuard combination. They have not been studied in either paper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intro slide frames the methodology: the scenarios are deliberately chosen to answer the open questions. Source: PRESENTATION-GUIDE.md §7.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scenario validates that RetryGuard does not hurt normal operation. The paper claims it is non-intrusive under ρ &lt; 1 (analytically, Fig. 7). This is the empirical verification of that claim in our specific setup.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experiment — the primary test of the hypothesis. Everything else is designed to understand *why* the outcome is what it 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Bookinfo analogy in Sec. 6.2 of the RetryGuard paper is the Reviews service (slow HPA) vs. Product service (fast HPA). Checkout in Online Boutique is an analogous hub service with many downstream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Online Boutique architecture image anchors the three positions visually. The structural argument — that hub position creates bidirectional amplification — is the key prediction from topology. Source: PRESENTATION-GUIDE.md §7.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parameter sensitivity study. The hypothesis is that TopFull's faster feedback loop changes the optimal Interval value. Source: PRESENTATION-GUIDE.md §7, RetryGuard.pdf Sec. 6.2.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PRESENTATION-GUIDE.md §7, RetryGuard.pdf (DDoS amplification discussion). Mark clearly as time-permitting — the core experiments are Scenarios 1–5.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Layers 1 and 2 use TopFull's existing collection infrastructure. We do not need to build custom collectors for these — they are already part of the TopFull GitHub repo.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3 is the novel instrumentation we add — the RetryGuard controller decision log. Layers 1 and 2 use existing TopFull infrastructure. Cross-referencing all three layers is what enables us to answer the open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phase numbers on slides — those are internal planning references. No blocker callouts here; if a mentor asks about dependencies or risks, address them verbally.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Recaps the three deliverables precisely. The final sentence is from PRESENTATION-GUIDE.md — it captures the scientific stance: the result, whatever it is, is the contribution.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41148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88952" cy="635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22960"/>
            <a:ext cx="10881360" cy="1463040"/>
          </a:xfrm>
          <a:prstGeom prst="rect">
            <a:avLst/>
          </a:prstGeom>
          <a:noFill/>
        </p:spPr>
        <p:txBody>
          <a:bodyPr wrap="square">
            <a:spAutoFit/>
          </a:bodyPr>
          <a:lstStyle/>
          <a:p>
            <a:r>
              <a:rPr sz="4400" b="1">
                <a:solidFill>
                  <a:srgbClr val="FFFFFF"/>
                </a:solidFill>
              </a:rPr>
              <a:t>RetryGuard on TopFull</a:t>
            </a:r>
          </a:p>
        </p:txBody>
      </p:sp>
      <p:sp>
        <p:nvSpPr>
          <p:cNvPr id="5" name="TextBox 4"/>
          <p:cNvSpPr txBox="1"/>
          <p:nvPr/>
        </p:nvSpPr>
        <p:spPr>
          <a:xfrm>
            <a:off x="640080" y="1920240"/>
            <a:ext cx="10881360" cy="731520"/>
          </a:xfrm>
          <a:prstGeom prst="rect">
            <a:avLst/>
          </a:prstGeom>
          <a:noFill/>
        </p:spPr>
        <p:txBody>
          <a:bodyPr wrap="square">
            <a:spAutoFit/>
          </a:bodyPr>
          <a:lstStyle/>
          <a:p>
            <a:r>
              <a:rPr sz="2100" b="0">
                <a:solidFill>
                  <a:srgbClr val="B0C8E8"/>
                </a:solidFill>
              </a:rPr>
              <a:t>A Project Plan: Evaluating Dynamic Retry Control on a Kubernetes Microservice Stack</a:t>
            </a:r>
          </a:p>
        </p:txBody>
      </p:sp>
      <p:sp>
        <p:nvSpPr>
          <p:cNvPr id="6" name="TextBox 5"/>
          <p:cNvSpPr txBox="1"/>
          <p:nvPr/>
        </p:nvSpPr>
        <p:spPr>
          <a:xfrm>
            <a:off x="640080" y="2743200"/>
            <a:ext cx="10881360" cy="640080"/>
          </a:xfrm>
          <a:prstGeom prst="rect">
            <a:avLst/>
          </a:prstGeom>
          <a:noFill/>
        </p:spPr>
        <p:txBody>
          <a:bodyPr wrap="none">
            <a:spAutoFit/>
          </a:bodyPr>
          <a:lstStyle/>
          <a:p>
            <a:r>
              <a:rPr sz="1600">
                <a:solidFill>
                  <a:srgbClr val="90B8D8"/>
                </a:solidFill>
              </a:rPr>
              <a:t>TAU Workshop in Communication Networks and Information Security</a:t>
            </a:r>
          </a:p>
        </p:txBody>
      </p:sp>
      <p:sp>
        <p:nvSpPr>
          <p:cNvPr id="7" name="TextBox 6"/>
          <p:cNvSpPr txBox="1"/>
          <p:nvPr/>
        </p:nvSpPr>
        <p:spPr>
          <a:xfrm>
            <a:off x="640080" y="4572000"/>
            <a:ext cx="7315200" cy="457200"/>
          </a:xfrm>
          <a:prstGeom prst="rect">
            <a:avLst/>
          </a:prstGeom>
          <a:noFill/>
        </p:spPr>
        <p:txBody>
          <a:bodyPr wrap="square"/>
          <a:lstStyle/>
          <a:p>
            <a:pPr algn="l"/>
            <a:r>
              <a:rPr sz="1200" b="0" i="0">
                <a:solidFill>
                  <a:srgbClr val="55556B"/>
                </a:solidFill>
              </a:rPr>
              <a:t>Self-implementation of Algorithm 1 (RetryGuard, TAU Deepness Lab, 2025)  ·  TopFull SIGCOMM 2024  ·  Online Boutique (Google)  ·  GCP / Kubernetes / Istio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Goal and Hypothesis</a:t>
            </a:r>
          </a:p>
          <a:p>
            <a:r>
              <a:rPr sz="1300" b="0">
                <a:solidFill>
                  <a:srgbClr val="B0C8E8"/>
                </a:solidFill>
              </a:rPr>
              <a:t>§1 — What this project is about</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1 OF 9</a:t>
            </a:r>
          </a:p>
        </p:txBody>
      </p:sp>
      <p:sp>
        <p:nvSpPr>
          <p:cNvPr id="7" name="TextBox 6"/>
          <p:cNvSpPr txBox="1"/>
          <p:nvPr/>
        </p:nvSpPr>
        <p:spPr>
          <a:xfrm>
            <a:off x="365760" y="1508760"/>
            <a:ext cx="11430000" cy="320040"/>
          </a:xfrm>
          <a:prstGeom prst="rect">
            <a:avLst/>
          </a:prstGeom>
          <a:noFill/>
        </p:spPr>
        <p:txBody>
          <a:bodyPr wrap="square"/>
          <a:lstStyle/>
          <a:p>
            <a:pPr algn="l"/>
            <a:r>
              <a:rPr sz="1100" b="1" i="0">
                <a:solidFill>
                  <a:srgbClr val="1F5F99"/>
                </a:solidFill>
              </a:rPr>
              <a:t>GOAL</a:t>
            </a:r>
          </a:p>
        </p:txBody>
      </p:sp>
      <p:sp>
        <p:nvSpPr>
          <p:cNvPr id="8" name="TextBox 7"/>
          <p:cNvSpPr txBox="1"/>
          <p:nvPr/>
        </p:nvSpPr>
        <p:spPr>
          <a:xfrm>
            <a:off x="365760" y="1783080"/>
            <a:ext cx="11430000" cy="640080"/>
          </a:xfrm>
          <a:prstGeom prst="rect">
            <a:avLst/>
          </a:prstGeom>
          <a:noFill/>
        </p:spPr>
        <p:txBody>
          <a:bodyPr wrap="square"/>
          <a:lstStyle/>
          <a:p>
            <a:pPr algn="l"/>
            <a:r>
              <a:rPr sz="1350" b="0" i="0">
                <a:solidFill>
                  <a:srgbClr val="1A1A2E"/>
                </a:solidFill>
              </a:rPr>
              <a:t>Self-implement RetryGuard (Algorithm 1 from the RetryGuard paper, TAU Deepness Lab 2025) and measure its impact when layered on top of TopFull overload control running the Online Boutique microservice application — under overload conditions. We want to know where RetryGuard helps, where it doesn't, and what trade-offs emerge.</a:t>
            </a:r>
          </a:p>
        </p:txBody>
      </p:sp>
      <p:sp>
        <p:nvSpPr>
          <p:cNvPr id="9" name="Rectangle 8"/>
          <p:cNvSpPr/>
          <p:nvPr/>
        </p:nvSpPr>
        <p:spPr>
          <a:xfrm>
            <a:off x="365760" y="251460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651760"/>
            <a:ext cx="11430000" cy="320040"/>
          </a:xfrm>
          <a:prstGeom prst="rect">
            <a:avLst/>
          </a:prstGeom>
          <a:noFill/>
        </p:spPr>
        <p:txBody>
          <a:bodyPr wrap="square"/>
          <a:lstStyle/>
          <a:p>
            <a:pPr algn="l"/>
            <a:r>
              <a:rPr sz="1100" b="1" i="0">
                <a:solidFill>
                  <a:srgbClr val="1F5F99"/>
                </a:solidFill>
              </a:rPr>
              <a:t>HYPOTHESIS</a:t>
            </a:r>
          </a:p>
        </p:txBody>
      </p:sp>
      <p:sp>
        <p:nvSpPr>
          <p:cNvPr id="11" name="TextBox 10"/>
          <p:cNvSpPr txBox="1"/>
          <p:nvPr/>
        </p:nvSpPr>
        <p:spPr>
          <a:xfrm>
            <a:off x="365760" y="2926080"/>
            <a:ext cx="11430000" cy="640080"/>
          </a:xfrm>
          <a:prstGeom prst="rect">
            <a:avLst/>
          </a:prstGeom>
          <a:noFill/>
        </p:spPr>
        <p:txBody>
          <a:bodyPr wrap="square"/>
          <a:lstStyle/>
          <a:p>
            <a:pPr algn="l"/>
            <a:r>
              <a:rPr sz="1350" b="0" i="0">
                <a:solidFill>
                  <a:srgbClr val="1A1A2E"/>
                </a:solidFill>
              </a:rPr>
              <a:t>Dynamic retry control reduces retry storms and protects goodput compared to default retries. System-wide gain may be modest while specific microservices show large improvement — the experiment is designed to surface both.</a:t>
            </a:r>
          </a:p>
        </p:txBody>
      </p:sp>
      <p:sp>
        <p:nvSpPr>
          <p:cNvPr id="12" name="Rectangle 11"/>
          <p:cNvSpPr/>
          <p:nvPr/>
        </p:nvSpPr>
        <p:spPr>
          <a:xfrm>
            <a:off x="365760" y="370332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840480"/>
            <a:ext cx="11430000" cy="274320"/>
          </a:xfrm>
          <a:prstGeom prst="rect">
            <a:avLst/>
          </a:prstGeom>
          <a:noFill/>
        </p:spPr>
        <p:txBody>
          <a:bodyPr wrap="square"/>
          <a:lstStyle/>
          <a:p>
            <a:pPr algn="l"/>
            <a:r>
              <a:rPr sz="1100" b="1" i="0">
                <a:solidFill>
                  <a:srgbClr val="1F5F99"/>
                </a:solidFill>
              </a:rPr>
              <a:t>DELIVERABLES</a:t>
            </a:r>
          </a:p>
        </p:txBody>
      </p:sp>
      <p:sp>
        <p:nvSpPr>
          <p:cNvPr id="14" name="TextBox 13"/>
          <p:cNvSpPr txBox="1"/>
          <p:nvPr/>
        </p:nvSpPr>
        <p:spPr>
          <a:xfrm>
            <a:off x="365760" y="4160520"/>
            <a:ext cx="11430000" cy="2194560"/>
          </a:xfrm>
          <a:prstGeom prst="rect">
            <a:avLst/>
          </a:prstGeom>
          <a:noFill/>
        </p:spPr>
        <p:txBody>
          <a:bodyPr wrap="square">
            <a:spAutoFit/>
          </a:bodyPr>
          <a:lstStyle/>
          <a:p>
            <a:pPr algn="l">
              <a:spcBef>
                <a:spcPts val="200"/>
              </a:spcBef>
              <a:spcAft>
                <a:spcPts val="0"/>
              </a:spcAft>
            </a:pPr>
            <a:r>
              <a:rPr sz="1300" b="0">
                <a:solidFill>
                  <a:srgbClr val="1A1A2E"/>
                </a:solidFill>
              </a:rPr>
              <a:t>•  Working Kubernetes + Istio + TopFull + RetryGuard experimental setup.</a:t>
            </a:r>
          </a:p>
          <a:p>
            <a:pPr algn="l">
              <a:spcBef>
                <a:spcPts val="200"/>
              </a:spcBef>
              <a:spcAft>
                <a:spcPts val="0"/>
              </a:spcAft>
            </a:pPr>
            <a:r>
              <a:rPr sz="1300" b="0">
                <a:solidFill>
                  <a:srgbClr val="1A1A2E"/>
                </a:solidFill>
              </a:rPr>
              <a:t>•  Baseline vs. RetryGuard experiment data across all load scenarios.</a:t>
            </a:r>
          </a:p>
          <a:p>
            <a:pPr algn="l">
              <a:spcBef>
                <a:spcPts val="200"/>
              </a:spcBef>
              <a:spcAft>
                <a:spcPts val="0"/>
              </a:spcAft>
            </a:pPr>
            <a:r>
              <a:rPr sz="1300" b="0">
                <a:solidFill>
                  <a:srgbClr val="1A1A2E"/>
                </a:solidFill>
              </a:rPr>
              <a:t>•  Evaluation report with time-series charts comparing goodput, latency, retries per request, resource usage, and autoscaler behavior.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is TopFull?</a:t>
            </a:r>
          </a:p>
          <a:p>
            <a:r>
              <a:rPr sz="1300" b="0">
                <a:solidFill>
                  <a:srgbClr val="B0C8E8"/>
                </a:solidFill>
              </a:rPr>
              <a:t>§2 — Problem it solves and how it works  ·  SIGCOMM 2024, KAIST</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2 OF 9 (1/2)</a:t>
            </a:r>
          </a:p>
        </p:txBody>
      </p:sp>
      <p:sp>
        <p:nvSpPr>
          <p:cNvPr id="7" name="TextBox 6"/>
          <p:cNvSpPr txBox="1"/>
          <p:nvPr/>
        </p:nvSpPr>
        <p:spPr>
          <a:xfrm>
            <a:off x="365760" y="1508760"/>
            <a:ext cx="11430000" cy="274320"/>
          </a:xfrm>
          <a:prstGeom prst="rect">
            <a:avLst/>
          </a:prstGeom>
          <a:noFill/>
        </p:spPr>
        <p:txBody>
          <a:bodyPr wrap="square"/>
          <a:lstStyle/>
          <a:p>
            <a:pPr algn="l"/>
            <a:r>
              <a:rPr sz="1100" b="1" i="0">
                <a:solidFill>
                  <a:srgbClr val="1F5F99"/>
                </a:solidFill>
              </a:rPr>
              <a:t>THE PROBLEM</a:t>
            </a:r>
          </a:p>
        </p:txBody>
      </p:sp>
      <p:sp>
        <p:nvSpPr>
          <p:cNvPr id="8" name="TextBox 7"/>
          <p:cNvSpPr txBox="1"/>
          <p:nvPr/>
        </p:nvSpPr>
        <p:spPr>
          <a:xfrm>
            <a:off x="365760" y="1783080"/>
            <a:ext cx="11430000" cy="960120"/>
          </a:xfrm>
          <a:prstGeom prst="rect">
            <a:avLst/>
          </a:prstGeom>
          <a:noFill/>
        </p:spPr>
        <p:txBody>
          <a:bodyPr wrap="square"/>
          <a:lstStyle/>
          <a:p>
            <a:pPr algn="l"/>
            <a:r>
              <a:rPr sz="1300" b="0" i="0">
                <a:solidFill>
                  <a:srgbClr val="1A1A2E"/>
                </a:solidFill>
              </a:rPr>
              <a:t>Existing overload controls (DAGOR, Breakwater) manage individual microservices in isolation. When multiple APIs share an overloaded downstream microservice, this causes starvation — some API requests are partially processed then rejected downstream, wasting the resources spent on their upstream path. Example: if API 1 and API 2 both route through Microservice A (capacity 10k rps) and API 1 also routes through Microservice B (capacity 3k rps), a naive controller throttles both at A, but wastes A's capacity on API 1 requests that will be rejected at B anyway — starving API 2.</a:t>
            </a:r>
          </a:p>
        </p:txBody>
      </p:sp>
      <p:sp>
        <p:nvSpPr>
          <p:cNvPr id="9" name="Rectangle 8"/>
          <p:cNvSpPr/>
          <p:nvPr/>
        </p:nvSpPr>
        <p:spPr>
          <a:xfrm>
            <a:off x="365760" y="28346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971800"/>
            <a:ext cx="11430000" cy="274320"/>
          </a:xfrm>
          <a:prstGeom prst="rect">
            <a:avLst/>
          </a:prstGeom>
          <a:noFill/>
        </p:spPr>
        <p:txBody>
          <a:bodyPr wrap="square"/>
          <a:lstStyle/>
          <a:p>
            <a:pPr algn="l"/>
            <a:r>
              <a:rPr sz="1100" b="1" i="0">
                <a:solidFill>
                  <a:srgbClr val="1F5F99"/>
                </a:solidFill>
              </a:rPr>
              <a:t>HOW TOPFULL WORKS</a:t>
            </a:r>
          </a:p>
        </p:txBody>
      </p:sp>
      <p:sp>
        <p:nvSpPr>
          <p:cNvPr id="11" name="TextBox 10"/>
          <p:cNvSpPr txBox="1"/>
          <p:nvPr/>
        </p:nvSpPr>
        <p:spPr>
          <a:xfrm>
            <a:off x="365760" y="3291840"/>
            <a:ext cx="11430000" cy="2651760"/>
          </a:xfrm>
          <a:prstGeom prst="rect">
            <a:avLst/>
          </a:prstGeom>
          <a:noFill/>
        </p:spPr>
        <p:txBody>
          <a:bodyPr wrap="square">
            <a:spAutoFit/>
          </a:bodyPr>
          <a:lstStyle/>
          <a:p>
            <a:pPr algn="l">
              <a:spcBef>
                <a:spcPts val="200"/>
              </a:spcBef>
              <a:spcAft>
                <a:spcPts val="0"/>
              </a:spcAft>
            </a:pPr>
            <a:r>
              <a:rPr sz="1300" b="0">
                <a:solidFill>
                  <a:srgbClr val="1A1A2E"/>
                </a:solidFill>
              </a:rPr>
              <a:t>•  Top-down, API-wise load control at the entry point — controls the rate of external API calls entering the system, not individual internal microservices.</a:t>
            </a:r>
          </a:p>
          <a:p>
            <a:pPr algn="l">
              <a:spcBef>
                <a:spcPts val="200"/>
              </a:spcBef>
              <a:spcAft>
                <a:spcPts val="0"/>
              </a:spcAft>
            </a:pPr>
            <a:r>
              <a:rPr sz="1300" b="0">
                <a:solidFill>
                  <a:srgbClr val="1A1A2E"/>
                </a:solidFill>
              </a:rPr>
              <a:t>•  Clusters interdependent APIs for parallel load control — groups APIs that share overloaded microservices into independent sub-problems, solved simultaneously.</a:t>
            </a:r>
          </a:p>
          <a:p>
            <a:pPr algn="l">
              <a:spcBef>
                <a:spcPts val="200"/>
              </a:spcBef>
              <a:spcAft>
                <a:spcPts val="0"/>
              </a:spcAft>
            </a:pPr>
            <a:r>
              <a:rPr sz="1300" b="0">
                <a:solidFill>
                  <a:srgbClr val="1A1A2E"/>
                </a:solidFill>
              </a:rPr>
              <a:t>•  RL-based rate controller (PPO, Sim2Real transfer learning) — adaptively adjusts throttling aggressiveness based on end-to-end goodput and percentile latencies. Makes rate-control decisions every 1 second.</a:t>
            </a:r>
          </a:p>
          <a:p>
            <a:pPr algn="l">
              <a:spcBef>
                <a:spcPts val="200"/>
              </a:spcBef>
              <a:spcAft>
                <a:spcPts val="0"/>
              </a:spcAft>
            </a:pPr>
            <a:r>
              <a:rPr sz="1300" b="0">
                <a:solidFill>
                  <a:srgbClr val="1A1A2E"/>
                </a:solidFill>
              </a:rPr>
              <a:t>•  Respects business priority — rate-limits lowest-priority APIs first when reducing admission; restores highest-priority APIs first during recovery.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is TopFull? — Validation</a:t>
            </a:r>
          </a:p>
          <a:p>
            <a:r>
              <a:rPr sz="1300" b="0">
                <a:solidFill>
                  <a:srgbClr val="B0C8E8"/>
                </a:solidFill>
              </a:rPr>
              <a:t>§2 — Key results (supporting context)  ·  SIGCOMM 2024</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2 OF 9 (2/2)</a:t>
            </a:r>
          </a:p>
        </p:txBody>
      </p:sp>
      <p:sp>
        <p:nvSpPr>
          <p:cNvPr id="7" name="TextBox 6"/>
          <p:cNvSpPr txBox="1"/>
          <p:nvPr/>
        </p:nvSpPr>
        <p:spPr>
          <a:xfrm>
            <a:off x="365760" y="1508760"/>
            <a:ext cx="11430000" cy="365760"/>
          </a:xfrm>
          <a:prstGeom prst="rect">
            <a:avLst/>
          </a:prstGeom>
          <a:noFill/>
        </p:spPr>
        <p:txBody>
          <a:bodyPr wrap="square"/>
          <a:lstStyle/>
          <a:p>
            <a:pPr algn="l"/>
            <a:r>
              <a:rPr sz="1300" b="0" i="1">
                <a:solidFill>
                  <a:srgbClr val="55556B"/>
                </a:solidFill>
              </a:rPr>
              <a:t>The following results validate that TopFull works and is worth building on. They are not the centerpiece of this project — they establish the baseline system we run RetryGuard on top of.</a:t>
            </a:r>
          </a:p>
        </p:txBody>
      </p:sp>
      <p:sp>
        <p:nvSpPr>
          <p:cNvPr id="8" name="Rectangle 7"/>
          <p:cNvSpPr/>
          <p:nvPr/>
        </p:nvSpPr>
        <p:spPr>
          <a:xfrm>
            <a:off x="365760" y="201168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148840"/>
            <a:ext cx="11430000" cy="274320"/>
          </a:xfrm>
          <a:prstGeom prst="rect">
            <a:avLst/>
          </a:prstGeom>
          <a:noFill/>
        </p:spPr>
        <p:txBody>
          <a:bodyPr wrap="square"/>
          <a:lstStyle/>
          <a:p>
            <a:pPr algn="l"/>
            <a:r>
              <a:rPr sz="1100" b="1" i="0">
                <a:solidFill>
                  <a:srgbClr val="1F5F99"/>
                </a:solidFill>
              </a:rPr>
              <a:t>SIGCOMM 2024 RESULTS (compact, supporting context only)</a:t>
            </a:r>
          </a:p>
        </p:txBody>
      </p:sp>
      <p:sp>
        <p:nvSpPr>
          <p:cNvPr id="10" name="TextBox 9"/>
          <p:cNvSpPr txBox="1"/>
          <p:nvPr/>
        </p:nvSpPr>
        <p:spPr>
          <a:xfrm>
            <a:off x="365760" y="2468880"/>
            <a:ext cx="11430000" cy="3200400"/>
          </a:xfrm>
          <a:prstGeom prst="rect">
            <a:avLst/>
          </a:prstGeom>
          <a:noFill/>
        </p:spPr>
        <p:txBody>
          <a:bodyPr wrap="square">
            <a:spAutoFit/>
          </a:bodyPr>
          <a:lstStyle/>
          <a:p>
            <a:pPr algn="l">
              <a:spcBef>
                <a:spcPts val="200"/>
              </a:spcBef>
              <a:spcAft>
                <a:spcPts val="0"/>
              </a:spcAft>
            </a:pPr>
            <a:r>
              <a:rPr sz="1350" b="0">
                <a:solidFill>
                  <a:srgbClr val="1A1A2E"/>
                </a:solidFill>
              </a:rPr>
              <a:t>•  1.82× more goodput than DAGOR, 2.26× more than Breakwater during overload.</a:t>
            </a:r>
          </a:p>
          <a:p>
            <a:pPr algn="l">
              <a:spcBef>
                <a:spcPts val="200"/>
              </a:spcBef>
              <a:spcAft>
                <a:spcPts val="0"/>
              </a:spcAft>
            </a:pPr>
            <a:r>
              <a:rPr sz="1350" b="0">
                <a:solidFill>
                  <a:srgbClr val="1A1A2E"/>
                </a:solidFill>
              </a:rPr>
              <a:t>•  With autoscaler enabled: up to 3.91× more goodput under traffic surge vs. a standalone autoscaler.</a:t>
            </a:r>
          </a:p>
          <a:p>
            <a:pPr algn="l">
              <a:spcBef>
                <a:spcPts val="200"/>
              </a:spcBef>
              <a:spcAft>
                <a:spcPts val="0"/>
              </a:spcAft>
            </a:pPr>
            <a:r>
              <a:rPr sz="1350" b="0">
                <a:solidFill>
                  <a:srgbClr val="1A1A2E"/>
                </a:solidFill>
              </a:rPr>
              <a:t>•  Tolerates traffic spikes with up to 57% fewer infrastructure resources.</a:t>
            </a:r>
          </a:p>
          <a:p>
            <a:pPr algn="l">
              <a:spcBef>
                <a:spcPts val="200"/>
              </a:spcBef>
              <a:spcAft>
                <a:spcPts val="0"/>
              </a:spcAft>
            </a:pPr>
            <a:r>
              <a:rPr sz="1350" b="0">
                <a:solidFill>
                  <a:srgbClr val="1A1A2E"/>
                </a:solidFill>
              </a:rPr>
              <a:t>•  Converges to optimal rate in 5 seconds vs. 27 seconds for DAGOR.</a:t>
            </a:r>
          </a:p>
          <a:p>
            <a:pPr algn="l">
              <a:spcBef>
                <a:spcPts val="200"/>
              </a:spcBef>
              <a:spcAft>
                <a:spcPts val="0"/>
              </a:spcAft>
            </a:pPr>
            <a:r>
              <a:rPr sz="1350" b="0">
                <a:solidFill>
                  <a:srgbClr val="1A1A2E"/>
                </a:solidFill>
              </a:rPr>
              <a:t>•  Deployed in production at KAIST on a realistic multi-tier microservice workload.</a:t>
            </a:r>
          </a:p>
        </p:txBody>
      </p:sp>
      <p:sp>
        <p:nvSpPr>
          <p:cNvPr id="11" name="TextBox 10"/>
          <p:cNvSpPr txBox="1"/>
          <p:nvPr/>
        </p:nvSpPr>
        <p:spPr>
          <a:xfrm>
            <a:off x="365760" y="5760720"/>
            <a:ext cx="11430000" cy="457200"/>
          </a:xfrm>
          <a:prstGeom prst="rect">
            <a:avLst/>
          </a:prstGeom>
          <a:noFill/>
        </p:spPr>
        <p:txBody>
          <a:bodyPr wrap="square"/>
          <a:lstStyle/>
          <a:p>
            <a:pPr algn="l"/>
            <a:r>
              <a:rPr sz="1000" b="0" i="1">
                <a:solidFill>
                  <a:srgbClr val="55556B"/>
                </a:solidFill>
              </a:rPr>
              <a:t>Source: TopFull.pdf, PRESENTATION-GUIDE.md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is RetryGuard?</a:t>
            </a:r>
          </a:p>
          <a:p>
            <a:r>
              <a:rPr sz="1300" b="0">
                <a:solidFill>
                  <a:srgbClr val="B0C8E8"/>
                </a:solidFill>
              </a:rPr>
              <a:t>§3 — Problem it solves and how it works  ·  TAU Deepness Lab, arXiv:2511.23278, 2025</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3 OF 9 (1/2)</a:t>
            </a:r>
          </a:p>
        </p:txBody>
      </p:sp>
      <p:sp>
        <p:nvSpPr>
          <p:cNvPr id="7" name="TextBox 6"/>
          <p:cNvSpPr txBox="1"/>
          <p:nvPr/>
        </p:nvSpPr>
        <p:spPr>
          <a:xfrm>
            <a:off x="365760" y="1508760"/>
            <a:ext cx="11430000" cy="274320"/>
          </a:xfrm>
          <a:prstGeom prst="rect">
            <a:avLst/>
          </a:prstGeom>
          <a:noFill/>
        </p:spPr>
        <p:txBody>
          <a:bodyPr wrap="square"/>
          <a:lstStyle/>
          <a:p>
            <a:pPr algn="l"/>
            <a:r>
              <a:rPr sz="1100" b="1" i="0">
                <a:solidFill>
                  <a:srgbClr val="1F5F99"/>
                </a:solidFill>
              </a:rPr>
              <a:t>THE PROBLEM</a:t>
            </a:r>
          </a:p>
        </p:txBody>
      </p:sp>
      <p:sp>
        <p:nvSpPr>
          <p:cNvPr id="8" name="TextBox 7"/>
          <p:cNvSpPr txBox="1"/>
          <p:nvPr/>
        </p:nvSpPr>
        <p:spPr>
          <a:xfrm>
            <a:off x="365760" y="1783080"/>
            <a:ext cx="11430000" cy="1005840"/>
          </a:xfrm>
          <a:prstGeom prst="rect">
            <a:avLst/>
          </a:prstGeom>
          <a:noFill/>
        </p:spPr>
        <p:txBody>
          <a:bodyPr wrap="square"/>
          <a:lstStyle/>
          <a:p>
            <a:pPr algn="l"/>
            <a:r>
              <a:rPr sz="1300" b="0" i="0">
                <a:solidFill>
                  <a:srgbClr val="1A1A2E"/>
                </a:solidFill>
              </a:rPr>
              <a:t>Default retry mechanisms (exponential backoff, jitter, retry budgets) are designed for instantaneous failures. During prolonged miscoordination — when services scale at different rates (e.g., a fast upstream auto-scaler vs. a slow downstream database) — retries become counterproductive. They create retry storms: each failed retry multiplies load on an already-overloaded service. When load factor ρ &gt; 1, rejection rates rise sharply (shown analytically in paper Sec. 5) and each retry amplifies load further. The result is self-inflicted Denial-of-Wallet (DoW) — inflated costs, over-scaling, and degraded performance for all users.</a:t>
            </a:r>
          </a:p>
        </p:txBody>
      </p:sp>
      <p:sp>
        <p:nvSpPr>
          <p:cNvPr id="9" name="Rectangle 8"/>
          <p:cNvSpPr/>
          <p:nvPr/>
        </p:nvSpPr>
        <p:spPr>
          <a:xfrm>
            <a:off x="365760" y="292608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063240"/>
            <a:ext cx="11430000" cy="274320"/>
          </a:xfrm>
          <a:prstGeom prst="rect">
            <a:avLst/>
          </a:prstGeom>
          <a:noFill/>
        </p:spPr>
        <p:txBody>
          <a:bodyPr wrap="square"/>
          <a:lstStyle/>
          <a:p>
            <a:pPr algn="l"/>
            <a:r>
              <a:rPr sz="1100" b="1" i="0">
                <a:solidFill>
                  <a:srgbClr val="1F5F99"/>
                </a:solidFill>
              </a:rPr>
              <a:t>HOW RETRYGUARD WORKS (Algorithm 1)</a:t>
            </a:r>
          </a:p>
        </p:txBody>
      </p:sp>
      <p:sp>
        <p:nvSpPr>
          <p:cNvPr id="11" name="TextBox 10"/>
          <p:cNvSpPr txBox="1"/>
          <p:nvPr/>
        </p:nvSpPr>
        <p:spPr>
          <a:xfrm>
            <a:off x="365760" y="3383280"/>
            <a:ext cx="11430000" cy="2560320"/>
          </a:xfrm>
          <a:prstGeom prst="rect">
            <a:avLst/>
          </a:prstGeom>
          <a:noFill/>
        </p:spPr>
        <p:txBody>
          <a:bodyPr wrap="square">
            <a:spAutoFit/>
          </a:bodyPr>
          <a:lstStyle/>
          <a:p>
            <a:pPr algn="l">
              <a:spcBef>
                <a:spcPts val="200"/>
              </a:spcBef>
              <a:spcAft>
                <a:spcPts val="0"/>
              </a:spcAft>
            </a:pPr>
            <a:r>
              <a:rPr sz="1300" b="0">
                <a:solidFill>
                  <a:srgbClr val="1A1A2E"/>
                </a:solidFill>
              </a:rPr>
              <a:t>•  Monitors rejection rate per service continuously during operation.</a:t>
            </a:r>
          </a:p>
          <a:p>
            <a:pPr algn="l">
              <a:spcBef>
                <a:spcPts val="200"/>
              </a:spcBef>
              <a:spcAft>
                <a:spcPts val="0"/>
              </a:spcAft>
            </a:pPr>
            <a:r>
              <a:rPr sz="1300" b="0">
                <a:solidFill>
                  <a:srgbClr val="1A1A2E"/>
                </a:solidFill>
              </a:rPr>
              <a:t>•  If rejection rate exceeds ~20% threshold for Interval consecutive measurement periods (~30s each) → Consecutive_high ≥ Interval: disable retries for that service.</a:t>
            </a:r>
          </a:p>
          <a:p>
            <a:pPr algn="l">
              <a:spcBef>
                <a:spcPts val="200"/>
              </a:spcBef>
              <a:spcAft>
                <a:spcPts val="0"/>
              </a:spcAft>
            </a:pPr>
            <a:r>
              <a:rPr sz="1300" b="0">
                <a:solidFill>
                  <a:srgbClr val="1A1A2E"/>
                </a:solidFill>
              </a:rPr>
              <a:t>•  If rejection rate stays below threshold for Interval consecutive periods → Consecutive_low ≥ Interval: re-enable retries.</a:t>
            </a:r>
          </a:p>
          <a:p>
            <a:pPr algn="l">
              <a:spcBef>
                <a:spcPts val="200"/>
              </a:spcBef>
              <a:spcAft>
                <a:spcPts val="0"/>
              </a:spcAft>
            </a:pPr>
            <a:r>
              <a:rPr sz="1300" b="0">
                <a:solidFill>
                  <a:srgbClr val="1A1A2E"/>
                </a:solidFill>
              </a:rPr>
              <a:t>•  Distributed — each service runs its own instance of Algorithm 1 using local metrics. No central orchestrator required.</a:t>
            </a:r>
          </a:p>
          <a:p>
            <a:pPr algn="l">
              <a:spcBef>
                <a:spcPts val="200"/>
              </a:spcBef>
              <a:spcAft>
                <a:spcPts val="0"/>
              </a:spcAft>
            </a:pPr>
            <a:r>
              <a:rPr sz="1300" b="0">
                <a:solidFill>
                  <a:srgbClr val="1A1A2E"/>
                </a:solidFill>
              </a:rPr>
              <a:t>•  Non-intrusive under normal operation (ρ &lt; 1) — the transition from stable to overloaded is analytically sharp (paper Fig. 7), so false positives are negligible.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is RetryGuard? — Istio Integration &amp; Validation</a:t>
            </a:r>
          </a:p>
          <a:p>
            <a:r>
              <a:rPr sz="1300" b="0">
                <a:solidFill>
                  <a:srgbClr val="B0C8E8"/>
                </a:solidFill>
              </a:rPr>
              <a:t>§3 — How we run it and what the paper shows</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3 OF 9 (2/2)</a:t>
            </a:r>
          </a:p>
        </p:txBody>
      </p:sp>
      <p:sp>
        <p:nvSpPr>
          <p:cNvPr id="7" name="TextBox 6"/>
          <p:cNvSpPr txBox="1"/>
          <p:nvPr/>
        </p:nvSpPr>
        <p:spPr>
          <a:xfrm>
            <a:off x="365760" y="1508760"/>
            <a:ext cx="11430000" cy="274320"/>
          </a:xfrm>
          <a:prstGeom prst="rect">
            <a:avLst/>
          </a:prstGeom>
          <a:noFill/>
        </p:spPr>
        <p:txBody>
          <a:bodyPr wrap="square"/>
          <a:lstStyle/>
          <a:p>
            <a:pPr algn="l"/>
            <a:r>
              <a:rPr sz="1100" b="1" i="0">
                <a:solidFill>
                  <a:srgbClr val="1F5F99"/>
                </a:solidFill>
              </a:rPr>
              <a:t>ISTIO INTEGRATION (Appendix A + Sec. 4)</a:t>
            </a:r>
          </a:p>
        </p:txBody>
      </p:sp>
      <p:sp>
        <p:nvSpPr>
          <p:cNvPr id="8" name="TextBox 7"/>
          <p:cNvSpPr txBox="1"/>
          <p:nvPr/>
        </p:nvSpPr>
        <p:spPr>
          <a:xfrm>
            <a:off x="365760" y="1828800"/>
            <a:ext cx="11430000" cy="1463040"/>
          </a:xfrm>
          <a:prstGeom prst="rect">
            <a:avLst/>
          </a:prstGeom>
          <a:noFill/>
        </p:spPr>
        <p:txBody>
          <a:bodyPr wrap="square">
            <a:spAutoFit/>
          </a:bodyPr>
          <a:lstStyle/>
          <a:p>
            <a:pPr algn="l">
              <a:spcBef>
                <a:spcPts val="200"/>
              </a:spcBef>
              <a:spcAft>
                <a:spcPts val="0"/>
              </a:spcAft>
            </a:pPr>
            <a:r>
              <a:rPr sz="1300" b="0">
                <a:solidFill>
                  <a:srgbClr val="1A1A2E"/>
                </a:solidFill>
              </a:rPr>
              <a:t>•  A designated pod on the master node periodically samples Istio/Envoy sidecar HTTP error rates per service.</a:t>
            </a:r>
          </a:p>
          <a:p>
            <a:pPr algn="l">
              <a:spcBef>
                <a:spcPts val="200"/>
              </a:spcBef>
              <a:spcAft>
                <a:spcPts val="0"/>
              </a:spcAft>
            </a:pPr>
            <a:r>
              <a:rPr sz="1300" b="0">
                <a:solidFill>
                  <a:srgbClr val="1A1A2E"/>
                </a:solidFill>
              </a:rPr>
              <a:t>•  Applies Algorithm 1 locally: if overload detected, patches the Istio VirtualService retry policy for that service via the Kubernetes Python client.</a:t>
            </a:r>
          </a:p>
          <a:p>
            <a:pPr algn="l">
              <a:spcBef>
                <a:spcPts val="200"/>
              </a:spcBef>
              <a:spcAft>
                <a:spcPts val="0"/>
              </a:spcAft>
            </a:pPr>
            <a:r>
              <a:rPr sz="1300" b="0">
                <a:solidFill>
                  <a:srgbClr val="1A1A2E"/>
                </a:solidFill>
              </a:rPr>
              <a:t>•  No per-request overhead — the controller polls on a ~30s cycle. No changes to application code.</a:t>
            </a:r>
          </a:p>
        </p:txBody>
      </p:sp>
      <p:sp>
        <p:nvSpPr>
          <p:cNvPr id="9" name="Rectangle 8"/>
          <p:cNvSpPr/>
          <p:nvPr/>
        </p:nvSpPr>
        <p:spPr>
          <a:xfrm>
            <a:off x="365760" y="35204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657600"/>
            <a:ext cx="11430000" cy="274320"/>
          </a:xfrm>
          <a:prstGeom prst="rect">
            <a:avLst/>
          </a:prstGeom>
          <a:noFill/>
        </p:spPr>
        <p:txBody>
          <a:bodyPr wrap="square"/>
          <a:lstStyle/>
          <a:p>
            <a:pPr algn="l"/>
            <a:r>
              <a:rPr sz="1100" b="1" i="0">
                <a:solidFill>
                  <a:srgbClr val="1F5F99"/>
                </a:solidFill>
              </a:rPr>
              <a:t>KEY RESULTS (TAU DEEPNESS LAB, 2025) — compact, supporting context only</a:t>
            </a:r>
          </a:p>
        </p:txBody>
      </p:sp>
      <p:sp>
        <p:nvSpPr>
          <p:cNvPr id="11" name="TextBox 10"/>
          <p:cNvSpPr txBox="1"/>
          <p:nvPr/>
        </p:nvSpPr>
        <p:spPr>
          <a:xfrm>
            <a:off x="365760" y="3977639"/>
            <a:ext cx="11430000" cy="2103120"/>
          </a:xfrm>
          <a:prstGeom prst="rect">
            <a:avLst/>
          </a:prstGeom>
          <a:noFill/>
        </p:spPr>
        <p:txBody>
          <a:bodyPr wrap="square">
            <a:spAutoFit/>
          </a:bodyPr>
          <a:lstStyle/>
          <a:p>
            <a:pPr algn="l">
              <a:spcBef>
                <a:spcPts val="200"/>
              </a:spcBef>
              <a:spcAft>
                <a:spcPts val="0"/>
              </a:spcAft>
            </a:pPr>
            <a:r>
              <a:rPr sz="1300" b="0">
                <a:solidFill>
                  <a:srgbClr val="1A1A2E"/>
                </a:solidFill>
              </a:rPr>
              <a:t>•  AWS Lambda/DynamoDB: retries per request 2.09 → 0.05 (98% reduction); billing 1029% → 100%.</a:t>
            </a:r>
          </a:p>
          <a:p>
            <a:pPr algn="l">
              <a:spcBef>
                <a:spcPts val="200"/>
              </a:spcBef>
              <a:spcAft>
                <a:spcPts val="0"/>
              </a:spcAft>
            </a:pPr>
            <a:r>
              <a:rPr sz="1300" b="0">
                <a:solidFill>
                  <a:srgbClr val="1A1A2E"/>
                </a:solidFill>
              </a:rPr>
              <a:t>•  Istio/Kubernetes (Bookinfo): retries 0.31 → 0.01/request; billing 224% → 100%. Rejection rate maintained or slightly improved.</a:t>
            </a:r>
          </a:p>
          <a:p>
            <a:pPr algn="l">
              <a:spcBef>
                <a:spcPts val="200"/>
              </a:spcBef>
              <a:spcAft>
                <a:spcPts val="0"/>
              </a:spcAft>
            </a:pPr>
            <a:r>
              <a:rPr sz="1300" b="0">
                <a:solidFill>
                  <a:srgbClr val="1A1A2E"/>
                </a:solidFill>
              </a:rPr>
              <a:t>•  Up to 65% reduction in resource consumption; &gt;90% improvement in latency under overload.</a:t>
            </a:r>
          </a:p>
          <a:p>
            <a:pPr algn="l">
              <a:spcBef>
                <a:spcPts val="200"/>
              </a:spcBef>
              <a:spcAft>
                <a:spcPts val="0"/>
              </a:spcAft>
            </a:pPr>
            <a:r>
              <a:rPr sz="1300" b="0">
                <a:solidFill>
                  <a:srgbClr val="1A1A2E"/>
                </a:solidFill>
              </a:rPr>
              <a:t>•  Also mitigates DDoS amplification — short burst attacks cannot sustain retry storms when RetryGuard suppresses amplification.</a:t>
            </a:r>
          </a:p>
        </p:txBody>
      </p:sp>
      <p:sp>
        <p:nvSpPr>
          <p:cNvPr id="12" name="TextBox 11"/>
          <p:cNvSpPr txBox="1"/>
          <p:nvPr/>
        </p:nvSpPr>
        <p:spPr>
          <a:xfrm>
            <a:off x="365760" y="6309360"/>
            <a:ext cx="11430000" cy="320040"/>
          </a:xfrm>
          <a:prstGeom prst="rect">
            <a:avLst/>
          </a:prstGeom>
          <a:noFill/>
        </p:spPr>
        <p:txBody>
          <a:bodyPr wrap="square"/>
          <a:lstStyle/>
          <a:p>
            <a:pPr algn="l"/>
            <a:r>
              <a:rPr sz="1000" b="0" i="1">
                <a:solidFill>
                  <a:srgbClr val="55556B"/>
                </a:solidFill>
              </a:rPr>
              <a:t>Source: RetryGuard.pdf (Algorithm 1, Sec. 4, Sec. 6.2, Table 1, Appendix A), PRESENTATION-GUIDE.md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Stack &amp; Topology</a:t>
            </a:r>
          </a:p>
          <a:p>
            <a:r>
              <a:rPr sz="1300" b="0">
                <a:solidFill>
                  <a:srgbClr val="B0C8E8"/>
                </a:solidFill>
              </a:rPr>
              <a:t>§4 — Infrastructure and component layout</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4 OF 9</a:t>
            </a:r>
          </a:p>
        </p:txBody>
      </p:sp>
      <p:sp>
        <p:nvSpPr>
          <p:cNvPr id="7" name="TextBox 6"/>
          <p:cNvSpPr txBox="1"/>
          <p:nvPr/>
        </p:nvSpPr>
        <p:spPr>
          <a:xfrm>
            <a:off x="365760" y="1508760"/>
            <a:ext cx="5669280" cy="274320"/>
          </a:xfrm>
          <a:prstGeom prst="rect">
            <a:avLst/>
          </a:prstGeom>
          <a:noFill/>
        </p:spPr>
        <p:txBody>
          <a:bodyPr wrap="square"/>
          <a:lstStyle/>
          <a:p>
            <a:pPr algn="l"/>
            <a:r>
              <a:rPr sz="1100" b="1" i="0">
                <a:solidFill>
                  <a:srgbClr val="1F5F99"/>
                </a:solidFill>
              </a:rPr>
              <a:t>REQUEST PATH</a:t>
            </a:r>
          </a:p>
        </p:txBody>
      </p:sp>
      <p:sp>
        <p:nvSpPr>
          <p:cNvPr id="8" name="TextBox 7"/>
          <p:cNvSpPr txBox="1"/>
          <p:nvPr/>
        </p:nvSpPr>
        <p:spPr>
          <a:xfrm>
            <a:off x="365760" y="1828800"/>
            <a:ext cx="5669280" cy="1371600"/>
          </a:xfrm>
          <a:prstGeom prst="rect">
            <a:avLst/>
          </a:prstGeom>
          <a:noFill/>
        </p:spPr>
        <p:txBody>
          <a:bodyPr wrap="square">
            <a:spAutoFit/>
          </a:bodyPr>
          <a:lstStyle/>
          <a:p>
            <a:pPr algn="l">
              <a:spcBef>
                <a:spcPts val="200"/>
              </a:spcBef>
              <a:spcAft>
                <a:spcPts val="0"/>
              </a:spcAft>
            </a:pPr>
            <a:r>
              <a:rPr sz="1250" b="0">
                <a:solidFill>
                  <a:srgbClr val="1A1A2E"/>
                </a:solidFill>
              </a:rPr>
              <a:t>•  Locust (load-gen VM) generates synthetic API traffic.</a:t>
            </a:r>
          </a:p>
          <a:p>
            <a:pPr algn="l">
              <a:spcBef>
                <a:spcPts val="200"/>
              </a:spcBef>
              <a:spcAft>
                <a:spcPts val="0"/>
              </a:spcAft>
            </a:pPr>
            <a:r>
              <a:rPr sz="1250" b="0">
                <a:solidFill>
                  <a:srgbClr val="1A1A2E"/>
                </a:solidFill>
              </a:rPr>
              <a:t>•  Go proxy / TopFull rate limiter (master node) throttles at entry.</a:t>
            </a:r>
          </a:p>
          <a:p>
            <a:pPr algn="l">
              <a:spcBef>
                <a:spcPts val="200"/>
              </a:spcBef>
              <a:spcAft>
                <a:spcPts val="0"/>
              </a:spcAft>
            </a:pPr>
            <a:r>
              <a:rPr sz="1250" b="0">
                <a:solidFill>
                  <a:srgbClr val="1A1A2E"/>
                </a:solidFill>
              </a:rPr>
              <a:t>•  Istio/Envoy sidecars manage per-service retries inside the cluster.</a:t>
            </a:r>
          </a:p>
          <a:p>
            <a:pPr algn="l">
              <a:spcBef>
                <a:spcPts val="200"/>
              </a:spcBef>
              <a:spcAft>
                <a:spcPts val="0"/>
              </a:spcAft>
            </a:pPr>
            <a:r>
              <a:rPr sz="1250" b="0">
                <a:solidFill>
                  <a:srgbClr val="1A1A2E"/>
                </a:solidFill>
              </a:rPr>
              <a:t>•  Online Boutique microservices run on worker VMs (pods per service).</a:t>
            </a:r>
          </a:p>
        </p:txBody>
      </p:sp>
      <p:sp>
        <p:nvSpPr>
          <p:cNvPr id="9" name="TextBox 8"/>
          <p:cNvSpPr txBox="1"/>
          <p:nvPr/>
        </p:nvSpPr>
        <p:spPr>
          <a:xfrm>
            <a:off x="365760" y="3337560"/>
            <a:ext cx="5669280" cy="274320"/>
          </a:xfrm>
          <a:prstGeom prst="rect">
            <a:avLst/>
          </a:prstGeom>
          <a:noFill/>
        </p:spPr>
        <p:txBody>
          <a:bodyPr wrap="square"/>
          <a:lstStyle/>
          <a:p>
            <a:pPr algn="l"/>
            <a:r>
              <a:rPr sz="1100" b="1" i="0">
                <a:solidFill>
                  <a:srgbClr val="1F5F99"/>
                </a:solidFill>
              </a:rPr>
              <a:t>RETRYGUARD INTEGRATION</a:t>
            </a:r>
          </a:p>
        </p:txBody>
      </p:sp>
      <p:sp>
        <p:nvSpPr>
          <p:cNvPr id="10" name="TextBox 9"/>
          <p:cNvSpPr txBox="1"/>
          <p:nvPr/>
        </p:nvSpPr>
        <p:spPr>
          <a:xfrm>
            <a:off x="365760" y="3657600"/>
            <a:ext cx="5669280" cy="1188720"/>
          </a:xfrm>
          <a:prstGeom prst="rect">
            <a:avLst/>
          </a:prstGeom>
          <a:noFill/>
        </p:spPr>
        <p:txBody>
          <a:bodyPr wrap="square">
            <a:spAutoFit/>
          </a:bodyPr>
          <a:lstStyle/>
          <a:p>
            <a:pPr algn="l">
              <a:spcBef>
                <a:spcPts val="200"/>
              </a:spcBef>
              <a:spcAft>
                <a:spcPts val="0"/>
              </a:spcAft>
            </a:pPr>
            <a:r>
              <a:rPr sz="1250" b="0">
                <a:solidFill>
                  <a:srgbClr val="1A1A2E"/>
                </a:solidFill>
              </a:rPr>
              <a:t>•  Python script runs on master node alongside TopFull's RL controller.</a:t>
            </a:r>
          </a:p>
          <a:p>
            <a:pPr algn="l">
              <a:spcBef>
                <a:spcPts val="200"/>
              </a:spcBef>
              <a:spcAft>
                <a:spcPts val="0"/>
              </a:spcAft>
            </a:pPr>
            <a:r>
              <a:rPr sz="1250" b="0">
                <a:solidFill>
                  <a:srgbClr val="1A1A2E"/>
                </a:solidFill>
              </a:rPr>
              <a:t>•  Reads rejection signals: Istio/Envoy sidecar HTTP error rates per service.</a:t>
            </a:r>
          </a:p>
          <a:p>
            <a:pPr algn="l">
              <a:spcBef>
                <a:spcPts val="200"/>
              </a:spcBef>
              <a:spcAft>
                <a:spcPts val="0"/>
              </a:spcAft>
            </a:pPr>
            <a:r>
              <a:rPr sz="1250" b="0">
                <a:solidFill>
                  <a:srgbClr val="1A1A2E"/>
                </a:solidFill>
              </a:rPr>
              <a:t>•  Patches Istio VirtualService CRDs via Kubernetes Python client to enable/disable retries per service.</a:t>
            </a:r>
          </a:p>
        </p:txBody>
      </p:sp>
      <p:sp>
        <p:nvSpPr>
          <p:cNvPr id="11" name="TextBox 10"/>
          <p:cNvSpPr txBox="1"/>
          <p:nvPr/>
        </p:nvSpPr>
        <p:spPr>
          <a:xfrm>
            <a:off x="365760" y="4983480"/>
            <a:ext cx="5669280" cy="274320"/>
          </a:xfrm>
          <a:prstGeom prst="rect">
            <a:avLst/>
          </a:prstGeom>
          <a:noFill/>
        </p:spPr>
        <p:txBody>
          <a:bodyPr wrap="square"/>
          <a:lstStyle/>
          <a:p>
            <a:pPr algn="l"/>
            <a:r>
              <a:rPr sz="1100" b="1" i="0">
                <a:solidFill>
                  <a:srgbClr val="1F5F99"/>
                </a:solidFill>
              </a:rPr>
              <a:t>VM ROLES</a:t>
            </a:r>
          </a:p>
        </p:txBody>
      </p:sp>
      <p:sp>
        <p:nvSpPr>
          <p:cNvPr id="12" name="TextBox 11"/>
          <p:cNvSpPr txBox="1"/>
          <p:nvPr/>
        </p:nvSpPr>
        <p:spPr>
          <a:xfrm>
            <a:off x="365760" y="5303520"/>
            <a:ext cx="5669280" cy="1280160"/>
          </a:xfrm>
          <a:prstGeom prst="rect">
            <a:avLst/>
          </a:prstGeom>
          <a:noFill/>
        </p:spPr>
        <p:txBody>
          <a:bodyPr wrap="square">
            <a:spAutoFit/>
          </a:bodyPr>
          <a:lstStyle/>
          <a:p>
            <a:pPr algn="l">
              <a:spcBef>
                <a:spcPts val="200"/>
              </a:spcBef>
              <a:spcAft>
                <a:spcPts val="0"/>
              </a:spcAft>
            </a:pPr>
            <a:r>
              <a:rPr sz="1200" b="0">
                <a:solidFill>
                  <a:srgbClr val="1A1A2E"/>
                </a:solidFill>
              </a:rPr>
              <a:t>•  Master (8+ vCPU, 16 GB): K8s control plane, Istio control plane, TopFull, RetryGuard.</a:t>
            </a:r>
          </a:p>
          <a:p>
            <a:pPr algn="l">
              <a:spcBef>
                <a:spcPts val="200"/>
              </a:spcBef>
              <a:spcAft>
                <a:spcPts val="0"/>
              </a:spcAft>
            </a:pPr>
            <a:r>
              <a:rPr sz="1200" b="0">
                <a:solidFill>
                  <a:srgbClr val="1A1A2E"/>
                </a:solidFill>
              </a:rPr>
              <a:t>•  Workers 2–N: application pods, cAdvisor resource monitoring.</a:t>
            </a:r>
          </a:p>
          <a:p>
            <a:pPr algn="l">
              <a:spcBef>
                <a:spcPts val="200"/>
              </a:spcBef>
              <a:spcAft>
                <a:spcPts val="0"/>
              </a:spcAft>
            </a:pPr>
            <a:r>
              <a:rPr sz="1200" b="0">
                <a:solidFill>
                  <a:srgbClr val="1A1A2E"/>
                </a:solidFill>
              </a:rPr>
              <a:t>•  Load-gen: Locust only. Cloud: GCP (~$300 student credits). Start with 3 nodes; scale only if needed.</a:t>
            </a:r>
          </a:p>
        </p:txBody>
      </p:sp>
      <p:pic>
        <p:nvPicPr>
          <p:cNvPr id="13" name="Picture 12" descr="Online-Boutique-architecture.png"/>
          <p:cNvPicPr>
            <a:picLocks noChangeAspect="1"/>
          </p:cNvPicPr>
          <p:nvPr/>
        </p:nvPicPr>
        <p:blipFill>
          <a:blip r:embed="rId2"/>
          <a:stretch>
            <a:fillRect/>
          </a:stretch>
        </p:blipFill>
        <p:spPr>
          <a:xfrm>
            <a:off x="6217920" y="1188720"/>
            <a:ext cx="5577840" cy="5029200"/>
          </a:xfrm>
          <a:prstGeom prst="rect">
            <a:avLst/>
          </a:prstGeom>
        </p:spPr>
      </p:pic>
      <p:sp>
        <p:nvSpPr>
          <p:cNvPr id="14" name="TextBox 13"/>
          <p:cNvSpPr txBox="1"/>
          <p:nvPr/>
        </p:nvSpPr>
        <p:spPr>
          <a:xfrm>
            <a:off x="6217920" y="6263640"/>
            <a:ext cx="5577840" cy="320040"/>
          </a:xfrm>
          <a:prstGeom prst="rect">
            <a:avLst/>
          </a:prstGeom>
          <a:noFill/>
        </p:spPr>
        <p:txBody>
          <a:bodyPr wrap="square"/>
          <a:lstStyle/>
          <a:p>
            <a:pPr algn="l"/>
            <a:r>
              <a:rPr sz="950" b="0" i="1">
                <a:solidFill>
                  <a:srgbClr val="55556B"/>
                </a:solidFill>
              </a:rPr>
              <a:t>Online Boutique call graph — Frontend → Checkout → Cart, Shipping, Currency, ProductCatalog, Email, Payment; also Recommendation, Ad. Representative call chain, not the subject of study.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How We Test — The Baseline</a:t>
            </a:r>
          </a:p>
          <a:p>
            <a:r>
              <a:rPr sz="1300" b="0">
                <a:solidFill>
                  <a:srgbClr val="B0C8E8"/>
                </a:solidFill>
              </a:rPr>
              <a:t>§5 — Controlled experimental methodology (1/3)</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5 OF 9 (1/3)</a:t>
            </a:r>
          </a:p>
        </p:txBody>
      </p:sp>
      <p:sp>
        <p:nvSpPr>
          <p:cNvPr id="7" name="TextBox 6"/>
          <p:cNvSpPr txBox="1"/>
          <p:nvPr/>
        </p:nvSpPr>
        <p:spPr>
          <a:xfrm>
            <a:off x="365760" y="1508760"/>
            <a:ext cx="11430000" cy="548640"/>
          </a:xfrm>
          <a:prstGeom prst="rect">
            <a:avLst/>
          </a:prstGeom>
          <a:noFill/>
        </p:spPr>
        <p:txBody>
          <a:bodyPr wrap="square"/>
          <a:lstStyle/>
          <a:p>
            <a:pPr algn="l"/>
            <a:r>
              <a:rPr sz="1350" b="0" i="0">
                <a:solidFill>
                  <a:srgbClr val="1A1A2E"/>
                </a:solidFill>
              </a:rPr>
              <a:t>To isolate RetryGuard's effect, we need a baseline that captures the system's behavior without it. Everything except the retry policy must be identical between the baseline run and the RetryGuard run.</a:t>
            </a:r>
          </a:p>
        </p:txBody>
      </p:sp>
      <p:sp>
        <p:nvSpPr>
          <p:cNvPr id="8" name="Rectangle 7"/>
          <p:cNvSpPr/>
          <p:nvPr/>
        </p:nvSpPr>
        <p:spPr>
          <a:xfrm>
            <a:off x="365760" y="21945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377440"/>
            <a:ext cx="11430000" cy="274320"/>
          </a:xfrm>
          <a:prstGeom prst="rect">
            <a:avLst/>
          </a:prstGeom>
          <a:noFill/>
        </p:spPr>
        <p:txBody>
          <a:bodyPr wrap="square"/>
          <a:lstStyle/>
          <a:p>
            <a:pPr algn="l"/>
            <a:r>
              <a:rPr sz="1100" b="1" i="0">
                <a:solidFill>
                  <a:srgbClr val="1F5F99"/>
                </a:solidFill>
              </a:rPr>
              <a:t>BASELINE CONFIGURATION</a:t>
            </a:r>
          </a:p>
        </p:txBody>
      </p:sp>
      <p:sp>
        <p:nvSpPr>
          <p:cNvPr id="10" name="TextBox 9"/>
          <p:cNvSpPr txBox="1"/>
          <p:nvPr/>
        </p:nvSpPr>
        <p:spPr>
          <a:xfrm>
            <a:off x="365760" y="2697480"/>
            <a:ext cx="11430000" cy="3200400"/>
          </a:xfrm>
          <a:prstGeom prst="rect">
            <a:avLst/>
          </a:prstGeom>
          <a:noFill/>
        </p:spPr>
        <p:txBody>
          <a:bodyPr wrap="square">
            <a:spAutoFit/>
          </a:bodyPr>
          <a:lstStyle/>
          <a:p>
            <a:pPr algn="l">
              <a:spcBef>
                <a:spcPts val="200"/>
              </a:spcBef>
              <a:spcAft>
                <a:spcPts val="0"/>
              </a:spcAft>
            </a:pPr>
            <a:r>
              <a:rPr sz="1300" b="0">
                <a:solidFill>
                  <a:srgbClr val="1A1A2E"/>
                </a:solidFill>
              </a:rPr>
              <a:t>•  TopFull overload controller: ON. RL rate limiter actively adjusts admission at entry.</a:t>
            </a:r>
          </a:p>
          <a:p>
            <a:pPr algn="l">
              <a:spcBef>
                <a:spcPts val="200"/>
              </a:spcBef>
              <a:spcAft>
                <a:spcPts val="0"/>
              </a:spcAft>
            </a:pPr>
            <a:r>
              <a:rPr sz="1300" b="0">
                <a:solidFill>
                  <a:srgbClr val="1A1A2E"/>
                </a:solidFill>
              </a:rPr>
              <a:t>•  Istio default retry policy: ON. Retries fire per the default VirtualService configuration for every service.</a:t>
            </a:r>
          </a:p>
          <a:p>
            <a:pPr algn="l">
              <a:spcBef>
                <a:spcPts val="200"/>
              </a:spcBef>
              <a:spcAft>
                <a:spcPts val="0"/>
              </a:spcAft>
            </a:pPr>
            <a:r>
              <a:rPr sz="1300" b="0">
                <a:solidFill>
                  <a:srgbClr val="1A1A2E"/>
                </a:solidFill>
              </a:rPr>
              <a:t>•  RetryGuard: OFF. No dynamic retry control. The controller script is not running.</a:t>
            </a:r>
          </a:p>
          <a:p>
            <a:pPr algn="l">
              <a:spcBef>
                <a:spcPts val="200"/>
              </a:spcBef>
              <a:spcAft>
                <a:spcPts val="0"/>
              </a:spcAft>
            </a:pPr>
            <a:r>
              <a:rPr sz="1300" b="0">
                <a:solidFill>
                  <a:srgbClr val="1A1A2E"/>
                </a:solidFill>
              </a:rPr>
              <a:t>•  Fixed workload scenario — same load shape, same duration, same replica counts for every baseline run.</a:t>
            </a:r>
          </a:p>
          <a:p>
            <a:pPr algn="l">
              <a:spcBef>
                <a:spcPts val="200"/>
              </a:spcBef>
              <a:spcAft>
                <a:spcPts val="0"/>
              </a:spcAft>
            </a:pPr>
            <a:r>
              <a:rPr sz="1300" b="0">
                <a:solidFill>
                  <a:srgbClr val="1A1A2E"/>
                </a:solidFill>
              </a:rPr>
              <a:t>•  All output saved to a named baseline artifact directory: CSVs from metric_collector.py, resource data from resource_collector.py (cAdvisor), overload detection logs from overload_detection.py.</a:t>
            </a:r>
          </a:p>
          <a:p>
            <a:pPr algn="l">
              <a:spcBef>
                <a:spcPts val="200"/>
              </a:spcBef>
              <a:spcAft>
                <a:spcPts val="0"/>
              </a:spcAft>
            </a:pPr>
            <a:r>
              <a:rPr sz="1300" b="0">
                <a:solidFill>
                  <a:srgbClr val="1A1A2E"/>
                </a:solidFill>
              </a:rPr>
              <a:t>•  Baseline runs are repeated multiple times to account for Locust's non-deterministic traffic generation.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How We Test — The Experiment</a:t>
            </a:r>
          </a:p>
          <a:p>
            <a:r>
              <a:rPr sz="1300" b="0">
                <a:solidFill>
                  <a:srgbClr val="B0C8E8"/>
                </a:solidFill>
              </a:rPr>
              <a:t>§5 — Controlled experimental methodology (2/3)</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5 OF 9 (2/3)</a:t>
            </a:r>
          </a:p>
        </p:txBody>
      </p:sp>
      <p:sp>
        <p:nvSpPr>
          <p:cNvPr id="7" name="TextBox 6"/>
          <p:cNvSpPr txBox="1"/>
          <p:nvPr/>
        </p:nvSpPr>
        <p:spPr>
          <a:xfrm>
            <a:off x="365760" y="1508760"/>
            <a:ext cx="11430000" cy="502920"/>
          </a:xfrm>
          <a:prstGeom prst="rect">
            <a:avLst/>
          </a:prstGeom>
          <a:noFill/>
        </p:spPr>
        <p:txBody>
          <a:bodyPr wrap="square"/>
          <a:lstStyle/>
          <a:p>
            <a:pPr algn="l"/>
            <a:r>
              <a:rPr sz="1350" b="0" i="0">
                <a:solidFill>
                  <a:srgbClr val="1A1A2E"/>
                </a:solidFill>
              </a:rPr>
              <a:t>The RetryGuard experiment is identical to the baseline in every respect except one: RetryGuard is running. This single-variable change lets us attribute any difference in outcome directly to RetryGuard.</a:t>
            </a:r>
          </a:p>
        </p:txBody>
      </p:sp>
      <p:sp>
        <p:nvSpPr>
          <p:cNvPr id="8" name="Rectangle 7"/>
          <p:cNvSpPr/>
          <p:nvPr/>
        </p:nvSpPr>
        <p:spPr>
          <a:xfrm>
            <a:off x="365760" y="21488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286000"/>
            <a:ext cx="11430000" cy="274320"/>
          </a:xfrm>
          <a:prstGeom prst="rect">
            <a:avLst/>
          </a:prstGeom>
          <a:noFill/>
        </p:spPr>
        <p:txBody>
          <a:bodyPr wrap="square"/>
          <a:lstStyle/>
          <a:p>
            <a:pPr algn="l"/>
            <a:r>
              <a:rPr sz="1100" b="1" i="0">
                <a:solidFill>
                  <a:srgbClr val="1F5F99"/>
                </a:solidFill>
              </a:rPr>
              <a:t>EXPERIMENT CONFIGURATION</a:t>
            </a:r>
          </a:p>
        </p:txBody>
      </p:sp>
      <p:sp>
        <p:nvSpPr>
          <p:cNvPr id="10" name="TextBox 9"/>
          <p:cNvSpPr txBox="1"/>
          <p:nvPr/>
        </p:nvSpPr>
        <p:spPr>
          <a:xfrm>
            <a:off x="365760" y="2606040"/>
            <a:ext cx="11430000" cy="3474720"/>
          </a:xfrm>
          <a:prstGeom prst="rect">
            <a:avLst/>
          </a:prstGeom>
          <a:noFill/>
        </p:spPr>
        <p:txBody>
          <a:bodyPr wrap="square">
            <a:spAutoFit/>
          </a:bodyPr>
          <a:lstStyle/>
          <a:p>
            <a:pPr algn="l">
              <a:spcBef>
                <a:spcPts val="200"/>
              </a:spcBef>
              <a:spcAft>
                <a:spcPts val="0"/>
              </a:spcAft>
            </a:pPr>
            <a:r>
              <a:rPr sz="1300" b="0">
                <a:solidFill>
                  <a:srgbClr val="1A1A2E"/>
                </a:solidFill>
              </a:rPr>
              <a:t>•  Same load, same topology, same replica counts as the baseline — no other changes.</a:t>
            </a:r>
          </a:p>
          <a:p>
            <a:pPr algn="l">
              <a:spcBef>
                <a:spcPts val="200"/>
              </a:spcBef>
              <a:spcAft>
                <a:spcPts val="0"/>
              </a:spcAft>
            </a:pPr>
            <a:r>
              <a:rPr sz="1300" b="0">
                <a:solidFill>
                  <a:srgbClr val="1A1A2E"/>
                </a:solidFill>
              </a:rPr>
              <a:t>•  RetryGuard: ON. Python script running on master node, monitoring Istio/Envoy sidecar metrics.</a:t>
            </a:r>
          </a:p>
          <a:p>
            <a:pPr algn="l">
              <a:spcBef>
                <a:spcPts val="200"/>
              </a:spcBef>
              <a:spcAft>
                <a:spcPts val="0"/>
              </a:spcAft>
            </a:pPr>
            <a:r>
              <a:rPr sz="1300" b="0">
                <a:solidFill>
                  <a:srgbClr val="1A1A2E"/>
                </a:solidFill>
              </a:rPr>
              <a:t>•  Controller parameters from RetryGuard paper Sec. 6.2:  ~20% rejection threshold,  ~30-second measurement interval (the Interval parameter in Algorithm 1).</a:t>
            </a:r>
          </a:p>
          <a:p>
            <a:pPr algn="l">
              <a:spcBef>
                <a:spcPts val="200"/>
              </a:spcBef>
              <a:spcAft>
                <a:spcPts val="0"/>
              </a:spcAft>
            </a:pPr>
            <a:r>
              <a:rPr sz="1300" b="0">
                <a:solidFill>
                  <a:srgbClr val="1A1A2E"/>
                </a:solidFill>
              </a:rPr>
              <a:t>•  RetryGuard patches Istio VirtualService CRDs via Kubernetes Python client when overload is detected at a service.</a:t>
            </a:r>
          </a:p>
          <a:p>
            <a:pPr algn="l">
              <a:spcBef>
                <a:spcPts val="200"/>
              </a:spcBef>
              <a:spcAft>
                <a:spcPts val="0"/>
              </a:spcAft>
            </a:pPr>
            <a:r>
              <a:rPr sz="1300" b="0">
                <a:solidFill>
                  <a:srgbClr val="1A1A2E"/>
                </a:solidFill>
              </a:rPr>
              <a:t>•  All output saved to a named experiment artifact directory, mirroring the baseline artifact structure exactly.</a:t>
            </a:r>
          </a:p>
          <a:p>
            <a:pPr algn="l">
              <a:spcBef>
                <a:spcPts val="200"/>
              </a:spcBef>
              <a:spcAft>
                <a:spcPts val="0"/>
              </a:spcAft>
            </a:pPr>
            <a:r>
              <a:rPr sz="1300" b="0">
                <a:solidFill>
                  <a:srgbClr val="1A1A2E"/>
                </a:solidFill>
              </a:rPr>
              <a:t>•  Controller decisions logged: which services had retries toggled, at what time, and based on what rejection rate reading.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How We Test — Repeated Runs</a:t>
            </a:r>
          </a:p>
          <a:p>
            <a:r>
              <a:rPr sz="1300" b="0">
                <a:solidFill>
                  <a:srgbClr val="B0C8E8"/>
                </a:solidFill>
              </a:rPr>
              <a:t>§5 — Controlled experimental methodology (3/3)</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5 OF 9 (3/3)</a:t>
            </a:r>
          </a:p>
        </p:txBody>
      </p:sp>
      <p:sp>
        <p:nvSpPr>
          <p:cNvPr id="7" name="TextBox 6"/>
          <p:cNvSpPr txBox="1"/>
          <p:nvPr/>
        </p:nvSpPr>
        <p:spPr>
          <a:xfrm>
            <a:off x="365760" y="1508760"/>
            <a:ext cx="11430000" cy="502920"/>
          </a:xfrm>
          <a:prstGeom prst="rect">
            <a:avLst/>
          </a:prstGeom>
          <a:noFill/>
        </p:spPr>
        <p:txBody>
          <a:bodyPr wrap="square"/>
          <a:lstStyle/>
          <a:p>
            <a:pPr algn="l"/>
            <a:r>
              <a:rPr sz="1350" b="0" i="0">
                <a:solidFill>
                  <a:srgbClr val="1A1A2E"/>
                </a:solidFill>
              </a:rPr>
              <a:t>Locust generates randomized user behavior — the arrival pattern is non-deterministic. A single run per scenario is insufficient to isolate RetryGuard's effect from natural traffic variation.</a:t>
            </a:r>
          </a:p>
        </p:txBody>
      </p:sp>
      <p:sp>
        <p:nvSpPr>
          <p:cNvPr id="8" name="Rectangle 7"/>
          <p:cNvSpPr/>
          <p:nvPr/>
        </p:nvSpPr>
        <p:spPr>
          <a:xfrm>
            <a:off x="365760" y="21488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286000"/>
            <a:ext cx="11430000" cy="274320"/>
          </a:xfrm>
          <a:prstGeom prst="rect">
            <a:avLst/>
          </a:prstGeom>
          <a:noFill/>
        </p:spPr>
        <p:txBody>
          <a:bodyPr wrap="square"/>
          <a:lstStyle/>
          <a:p>
            <a:pPr algn="l"/>
            <a:r>
              <a:rPr sz="1100" b="1" i="0">
                <a:solidFill>
                  <a:srgbClr val="1F5F99"/>
                </a:solidFill>
              </a:rPr>
              <a:t>REPEATED-RUN PROTOCOL</a:t>
            </a:r>
          </a:p>
        </p:txBody>
      </p:sp>
      <p:sp>
        <p:nvSpPr>
          <p:cNvPr id="10" name="TextBox 9"/>
          <p:cNvSpPr txBox="1"/>
          <p:nvPr/>
        </p:nvSpPr>
        <p:spPr>
          <a:xfrm>
            <a:off x="365760" y="2606040"/>
            <a:ext cx="11430000" cy="2560320"/>
          </a:xfrm>
          <a:prstGeom prst="rect">
            <a:avLst/>
          </a:prstGeom>
          <a:noFill/>
        </p:spPr>
        <p:txBody>
          <a:bodyPr wrap="square">
            <a:spAutoFit/>
          </a:bodyPr>
          <a:lstStyle/>
          <a:p>
            <a:pPr algn="l">
              <a:spcBef>
                <a:spcPts val="200"/>
              </a:spcBef>
              <a:spcAft>
                <a:spcPts val="0"/>
              </a:spcAft>
            </a:pPr>
            <a:r>
              <a:rPr sz="1300" b="0">
                <a:solidFill>
                  <a:srgbClr val="1A1A2E"/>
                </a:solidFill>
              </a:rPr>
              <a:t>•  Both the baseline and the RetryGuard experiment are run multiple times under the same configuration for each load scenario.</a:t>
            </a:r>
          </a:p>
          <a:p>
            <a:pPr algn="l">
              <a:spcBef>
                <a:spcPts val="200"/>
              </a:spcBef>
              <a:spcAft>
                <a:spcPts val="0"/>
              </a:spcAft>
            </a:pPr>
            <a:r>
              <a:rPr sz="1300" b="0">
                <a:solidFill>
                  <a:srgbClr val="1A1A2E"/>
                </a:solidFill>
              </a:rPr>
              <a:t>•  Results are compared using averages and medians across runs — not individual trial outcomes.</a:t>
            </a:r>
          </a:p>
          <a:p>
            <a:pPr algn="l">
              <a:spcBef>
                <a:spcPts val="200"/>
              </a:spcBef>
              <a:spcAft>
                <a:spcPts val="0"/>
              </a:spcAft>
            </a:pPr>
            <a:r>
              <a:rPr sz="1300" b="0">
                <a:solidFill>
                  <a:srgbClr val="1A1A2E"/>
                </a:solidFill>
              </a:rPr>
              <a:t>•  Same inputs, different retry policy, multiple runs: this protocol isolates RetryGuard's contribution from Locust-introduced noise.</a:t>
            </a:r>
          </a:p>
          <a:p>
            <a:pPr algn="l">
              <a:spcBef>
                <a:spcPts val="200"/>
              </a:spcBef>
              <a:spcAft>
                <a:spcPts val="0"/>
              </a:spcAft>
            </a:pPr>
            <a:r>
              <a:rPr sz="1300" b="0">
                <a:solidFill>
                  <a:srgbClr val="1A1A2E"/>
                </a:solidFill>
              </a:rPr>
              <a:t>•  Any scenario where results are inconsistent across runs is flagged for re-investigation before drawing conclusions.</a:t>
            </a:r>
          </a:p>
        </p:txBody>
      </p:sp>
      <p:sp>
        <p:nvSpPr>
          <p:cNvPr id="11" name="Rectangle 10"/>
          <p:cNvSpPr/>
          <p:nvPr/>
        </p:nvSpPr>
        <p:spPr>
          <a:xfrm>
            <a:off x="365760" y="438912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4526280"/>
            <a:ext cx="11430000" cy="274320"/>
          </a:xfrm>
          <a:prstGeom prst="rect">
            <a:avLst/>
          </a:prstGeom>
          <a:noFill/>
        </p:spPr>
        <p:txBody>
          <a:bodyPr wrap="square"/>
          <a:lstStyle/>
          <a:p>
            <a:pPr algn="l"/>
            <a:r>
              <a:rPr sz="1100" b="1" i="0">
                <a:solidFill>
                  <a:srgbClr val="1F5F99"/>
                </a:solidFill>
              </a:rPr>
              <a:t>COMPARISON LOGIC</a:t>
            </a:r>
          </a:p>
        </p:txBody>
      </p:sp>
      <p:sp>
        <p:nvSpPr>
          <p:cNvPr id="13" name="TextBox 12"/>
          <p:cNvSpPr txBox="1"/>
          <p:nvPr/>
        </p:nvSpPr>
        <p:spPr>
          <a:xfrm>
            <a:off x="365760" y="4846320"/>
            <a:ext cx="11430000" cy="640080"/>
          </a:xfrm>
          <a:prstGeom prst="rect">
            <a:avLst/>
          </a:prstGeom>
          <a:noFill/>
        </p:spPr>
        <p:txBody>
          <a:bodyPr wrap="square"/>
          <a:lstStyle/>
          <a:p>
            <a:pPr algn="l"/>
            <a:r>
              <a:rPr sz="1350" b="0" i="0">
                <a:solidFill>
                  <a:srgbClr val="1A1A2E"/>
                </a:solidFill>
              </a:rPr>
              <a:t>For each scenario: [Baseline runs] vs. [RetryGuard runs] → delta in goodput, latency, retries/request, CPU, pod count. The delta is the measured effect of RetryGuard. We report both system-wide aggregates and per-microservice breakdowns.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What We Want to Find Out</a:t>
            </a:r>
          </a:p>
          <a:p>
            <a:r>
              <a:rPr sz="1300" b="0">
                <a:solidFill>
                  <a:srgbClr val="B0C8E8"/>
                </a:solidFill>
              </a:rPr>
              <a:t>§6 — The intellectual core of the project (1/3)</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6 OF 9 (1/3)</a:t>
            </a:r>
          </a:p>
        </p:txBody>
      </p:sp>
      <p:sp>
        <p:nvSpPr>
          <p:cNvPr id="7" name="TextBox 6"/>
          <p:cNvSpPr txBox="1"/>
          <p:nvPr/>
        </p:nvSpPr>
        <p:spPr>
          <a:xfrm>
            <a:off x="365760" y="1508760"/>
            <a:ext cx="11430000" cy="274320"/>
          </a:xfrm>
          <a:prstGeom prst="rect">
            <a:avLst/>
          </a:prstGeom>
          <a:noFill/>
        </p:spPr>
        <p:txBody>
          <a:bodyPr wrap="square"/>
          <a:lstStyle/>
          <a:p>
            <a:pPr algn="l"/>
            <a:r>
              <a:rPr sz="1100" b="1" i="0">
                <a:solidFill>
                  <a:srgbClr val="1F5F99"/>
                </a:solidFill>
              </a:rPr>
              <a:t>THE CENTRAL QUESTION</a:t>
            </a:r>
          </a:p>
        </p:txBody>
      </p:sp>
      <p:sp>
        <p:nvSpPr>
          <p:cNvPr id="8" name="TextBox 7"/>
          <p:cNvSpPr txBox="1"/>
          <p:nvPr/>
        </p:nvSpPr>
        <p:spPr>
          <a:xfrm>
            <a:off x="365760" y="1828800"/>
            <a:ext cx="11430000" cy="1143000"/>
          </a:xfrm>
          <a:prstGeom prst="rect">
            <a:avLst/>
          </a:prstGeom>
          <a:noFill/>
        </p:spPr>
        <p:txBody>
          <a:bodyPr wrap="square"/>
          <a:lstStyle/>
          <a:p>
            <a:pPr algn="l"/>
            <a:r>
              <a:rPr sz="1800" b="1" i="0">
                <a:solidFill>
                  <a:srgbClr val="1A2E4A"/>
                </a:solidFill>
              </a:rPr>
              <a:t>Does adding RetryGuard on top of TopFull actually make things better — or is TopFull's overload control already sufficient on its own, such that internal retries are no longer a meaningful factor?</a:t>
            </a:r>
          </a:p>
        </p:txBody>
      </p:sp>
      <p:sp>
        <p:nvSpPr>
          <p:cNvPr id="9" name="Rectangle 8"/>
          <p:cNvSpPr/>
          <p:nvPr/>
        </p:nvSpPr>
        <p:spPr>
          <a:xfrm>
            <a:off x="365760" y="31089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246120"/>
            <a:ext cx="11430000" cy="2468880"/>
          </a:xfrm>
          <a:prstGeom prst="rect">
            <a:avLst/>
          </a:prstGeom>
          <a:noFill/>
        </p:spPr>
        <p:txBody>
          <a:bodyPr wrap="square"/>
          <a:lstStyle/>
          <a:p>
            <a:pPr algn="l"/>
            <a:r>
              <a:rPr sz="1350" b="0" i="0">
                <a:solidFill>
                  <a:srgbClr val="1A1A2E"/>
                </a:solidFill>
              </a:rPr>
              <a:t>RetryGuard has been validated in AWS Lambda/DynamoDB and standalone Istio/Kubernetes (Bookinfo) environments. It has never been evaluated specifically alongside a sophisticated top-down overload controller like TopFull.
TopFull controls admission at the entry proxy. But once a request is admitted, Istio's internal retry policies fire independently inside the cluster — invisible to TopFull's rate limiter. These internal retries can amplify load on downstream services beyond what TopFull can throttle from above. RetryGuard, operating per-service with Istio metrics, is positioned to suppress exactly this internal amplification.
Whether that suppression produces measurable gains on top of TopFull — and for which services, under which conditions — is the gap this project investigates.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Open Questions</a:t>
            </a:r>
          </a:p>
          <a:p>
            <a:r>
              <a:rPr sz="1300" b="0">
                <a:solidFill>
                  <a:srgbClr val="B0C8E8"/>
                </a:solidFill>
              </a:rPr>
              <a:t>§6 — Specific questions the project is designed to answer (2/3)</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6 OF 9 (2/3)</a:t>
            </a:r>
          </a:p>
        </p:txBody>
      </p:sp>
      <p:sp>
        <p:nvSpPr>
          <p:cNvPr id="7" name="TextBox 6"/>
          <p:cNvSpPr txBox="1"/>
          <p:nvPr/>
        </p:nvSpPr>
        <p:spPr>
          <a:xfrm>
            <a:off x="365760" y="1508760"/>
            <a:ext cx="11430000" cy="256032"/>
          </a:xfrm>
          <a:prstGeom prst="rect">
            <a:avLst/>
          </a:prstGeom>
          <a:noFill/>
        </p:spPr>
        <p:txBody>
          <a:bodyPr wrap="square"/>
          <a:lstStyle/>
          <a:p>
            <a:pPr algn="l"/>
            <a:r>
              <a:rPr sz="1050" b="1" i="0">
                <a:solidFill>
                  <a:srgbClr val="E86B1F"/>
                </a:solidFill>
              </a:rPr>
              <a:t>SYSTEM-LEVEL GAINS</a:t>
            </a:r>
          </a:p>
        </p:txBody>
      </p:sp>
      <p:sp>
        <p:nvSpPr>
          <p:cNvPr id="8" name="TextBox 7"/>
          <p:cNvSpPr txBox="1"/>
          <p:nvPr/>
        </p:nvSpPr>
        <p:spPr>
          <a:xfrm>
            <a:off x="365760" y="1783080"/>
            <a:ext cx="11430000" cy="502920"/>
          </a:xfrm>
          <a:prstGeom prst="rect">
            <a:avLst/>
          </a:prstGeom>
          <a:noFill/>
        </p:spPr>
        <p:txBody>
          <a:bodyPr wrap="square"/>
          <a:lstStyle/>
          <a:p>
            <a:pPr algn="l"/>
            <a:r>
              <a:rPr sz="1250" b="0" i="0">
                <a:solidFill>
                  <a:srgbClr val="1A1A2E"/>
                </a:solidFill>
              </a:rPr>
              <a:t>Does RetryGuard further improve global goodput and latency during overload, or does TopFull's entry-point control already absorb the retry problem so that internal retries are no longer a meaningful factor?</a:t>
            </a:r>
          </a:p>
        </p:txBody>
      </p:sp>
      <p:sp>
        <p:nvSpPr>
          <p:cNvPr id="9" name="TextBox 8"/>
          <p:cNvSpPr txBox="1"/>
          <p:nvPr/>
        </p:nvSpPr>
        <p:spPr>
          <a:xfrm>
            <a:off x="365760" y="2423160"/>
            <a:ext cx="11430000" cy="256032"/>
          </a:xfrm>
          <a:prstGeom prst="rect">
            <a:avLst/>
          </a:prstGeom>
          <a:noFill/>
        </p:spPr>
        <p:txBody>
          <a:bodyPr wrap="square"/>
          <a:lstStyle/>
          <a:p>
            <a:pPr algn="l"/>
            <a:r>
              <a:rPr sz="1050" b="1" i="0">
                <a:solidFill>
                  <a:srgbClr val="E86B1F"/>
                </a:solidFill>
              </a:rPr>
              <a:t>TOPOLOGY BENEFICIARIES</a:t>
            </a:r>
          </a:p>
        </p:txBody>
      </p:sp>
      <p:sp>
        <p:nvSpPr>
          <p:cNvPr id="10" name="TextBox 9"/>
          <p:cNvSpPr txBox="1"/>
          <p:nvPr/>
        </p:nvSpPr>
        <p:spPr>
          <a:xfrm>
            <a:off x="365760" y="2697480"/>
            <a:ext cx="11430000" cy="502920"/>
          </a:xfrm>
          <a:prstGeom prst="rect">
            <a:avLst/>
          </a:prstGeom>
          <a:noFill/>
        </p:spPr>
        <p:txBody>
          <a:bodyPr wrap="square"/>
          <a:lstStyle/>
          <a:p>
            <a:pPr algn="l"/>
            <a:r>
              <a:rPr sz="1250" b="0" i="0">
                <a:solidFill>
                  <a:srgbClr val="1A1A2E"/>
                </a:solidFill>
              </a:rPr>
              <a:t>Which specific microservices in the call chain benefit most? Do leaf-node services (deeper in the chain, farther from where TopFull throttles) respond differently than gateway-adjacent services? Is the benefit uneven across the topology?</a:t>
            </a:r>
          </a:p>
        </p:txBody>
      </p:sp>
      <p:sp>
        <p:nvSpPr>
          <p:cNvPr id="11" name="TextBox 10"/>
          <p:cNvSpPr txBox="1"/>
          <p:nvPr/>
        </p:nvSpPr>
        <p:spPr>
          <a:xfrm>
            <a:off x="365760" y="3337560"/>
            <a:ext cx="11430000" cy="256032"/>
          </a:xfrm>
          <a:prstGeom prst="rect">
            <a:avLst/>
          </a:prstGeom>
          <a:noFill/>
        </p:spPr>
        <p:txBody>
          <a:bodyPr wrap="square"/>
          <a:lstStyle/>
          <a:p>
            <a:pPr algn="l"/>
            <a:r>
              <a:rPr sz="1050" b="1" i="0">
                <a:solidFill>
                  <a:srgbClr val="E86B1F"/>
                </a:solidFill>
              </a:rPr>
              <a:t>CHAIN PROPAGATION</a:t>
            </a:r>
          </a:p>
        </p:txBody>
      </p:sp>
      <p:sp>
        <p:nvSpPr>
          <p:cNvPr id="12" name="TextBox 11"/>
          <p:cNvSpPr txBox="1"/>
          <p:nvPr/>
        </p:nvSpPr>
        <p:spPr>
          <a:xfrm>
            <a:off x="365760" y="3611880"/>
            <a:ext cx="11430000" cy="502920"/>
          </a:xfrm>
          <a:prstGeom prst="rect">
            <a:avLst/>
          </a:prstGeom>
          <a:noFill/>
        </p:spPr>
        <p:txBody>
          <a:bodyPr wrap="square"/>
          <a:lstStyle/>
          <a:p>
            <a:pPr algn="l"/>
            <a:r>
              <a:rPr sz="1250" b="0" i="0">
                <a:solidFill>
                  <a:srgbClr val="1A1A2E"/>
                </a:solidFill>
              </a:rPr>
              <a:t>If RetryGuard activates on one downstream service, do the resource savings propagate upward through the rest of the execution path — or is the effect local to that service?</a:t>
            </a:r>
          </a:p>
        </p:txBody>
      </p:sp>
      <p:sp>
        <p:nvSpPr>
          <p:cNvPr id="13" name="TextBox 12"/>
          <p:cNvSpPr txBox="1"/>
          <p:nvPr/>
        </p:nvSpPr>
        <p:spPr>
          <a:xfrm>
            <a:off x="365760" y="4251960"/>
            <a:ext cx="11430000" cy="256032"/>
          </a:xfrm>
          <a:prstGeom prst="rect">
            <a:avLst/>
          </a:prstGeom>
          <a:noFill/>
        </p:spPr>
        <p:txBody>
          <a:bodyPr wrap="square"/>
          <a:lstStyle/>
          <a:p>
            <a:pPr algn="l"/>
            <a:r>
              <a:rPr sz="1050" b="1" i="0">
                <a:solidFill>
                  <a:srgbClr val="E86B1F"/>
                </a:solidFill>
              </a:rPr>
              <a:t>CONTROLLER INTERACTION</a:t>
            </a:r>
          </a:p>
        </p:txBody>
      </p:sp>
      <p:sp>
        <p:nvSpPr>
          <p:cNvPr id="14" name="TextBox 13"/>
          <p:cNvSpPr txBox="1"/>
          <p:nvPr/>
        </p:nvSpPr>
        <p:spPr>
          <a:xfrm>
            <a:off x="365760" y="4526280"/>
            <a:ext cx="11430000" cy="502920"/>
          </a:xfrm>
          <a:prstGeom prst="rect">
            <a:avLst/>
          </a:prstGeom>
          <a:noFill/>
        </p:spPr>
        <p:txBody>
          <a:bodyPr wrap="square"/>
          <a:lstStyle/>
          <a:p>
            <a:pPr algn="l"/>
            <a:r>
              <a:rPr sz="1250" b="0" i="0">
                <a:solidFill>
                  <a:srgbClr val="1A1A2E"/>
                </a:solidFill>
              </a:rPr>
              <a:t>TopFull's RL controller and RetryGuard are both feedback loops running simultaneously on overlapping signals. TopFull adjusts admission rates every 1 second; RetryGuard toggles per-service retry policies on a ~30-second cycle. Do they cooperate — or does one loop's correction interfere with the other's? This combination has not been studied.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Open Questions (continued)</a:t>
            </a:r>
          </a:p>
          <a:p>
            <a:r>
              <a:rPr sz="1300" b="0">
                <a:solidFill>
                  <a:srgbClr val="B0C8E8"/>
                </a:solidFill>
              </a:rPr>
              <a:t>§6 — Specific questions the project is designed to answer (3/3)</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6 OF 9 (3/3)</a:t>
            </a:r>
          </a:p>
        </p:txBody>
      </p:sp>
      <p:sp>
        <p:nvSpPr>
          <p:cNvPr id="7" name="TextBox 6"/>
          <p:cNvSpPr txBox="1"/>
          <p:nvPr/>
        </p:nvSpPr>
        <p:spPr>
          <a:xfrm>
            <a:off x="365760" y="1508760"/>
            <a:ext cx="11430000" cy="256032"/>
          </a:xfrm>
          <a:prstGeom prst="rect">
            <a:avLst/>
          </a:prstGeom>
          <a:noFill/>
        </p:spPr>
        <p:txBody>
          <a:bodyPr wrap="square"/>
          <a:lstStyle/>
          <a:p>
            <a:pPr algn="l"/>
            <a:r>
              <a:rPr sz="1050" b="1" i="0">
                <a:solidFill>
                  <a:srgbClr val="E86B1F"/>
                </a:solidFill>
              </a:rPr>
              <a:t>COMBINED EQUILIBRIUM</a:t>
            </a:r>
          </a:p>
        </p:txBody>
      </p:sp>
      <p:sp>
        <p:nvSpPr>
          <p:cNvPr id="8" name="TextBox 7"/>
          <p:cNvSpPr txBox="1"/>
          <p:nvPr/>
        </p:nvSpPr>
        <p:spPr>
          <a:xfrm>
            <a:off x="365760" y="1783080"/>
            <a:ext cx="11430000" cy="594360"/>
          </a:xfrm>
          <a:prstGeom prst="rect">
            <a:avLst/>
          </a:prstGeom>
          <a:noFill/>
        </p:spPr>
        <p:txBody>
          <a:bodyPr wrap="square"/>
          <a:lstStyle/>
          <a:p>
            <a:pPr algn="l"/>
            <a:r>
              <a:rPr sz="1200" b="0" i="0">
                <a:solidFill>
                  <a:srgbClr val="1A1A2E"/>
                </a:solidFill>
              </a:rPr>
              <a:t>When RetryGuard suppresses internal retries at a bottleneck, the bottleneck's load drops, improving the goodput and latency signals that TopFull's RL observes. TopFull may respond by increasing admission. Does this feedback loop find a better stable throughput point — more goodput at the same capacity — or does increased admission re-trigger overload and undo the gains?</a:t>
            </a:r>
          </a:p>
        </p:txBody>
      </p:sp>
      <p:sp>
        <p:nvSpPr>
          <p:cNvPr id="9" name="TextBox 8"/>
          <p:cNvSpPr txBox="1"/>
          <p:nvPr/>
        </p:nvSpPr>
        <p:spPr>
          <a:xfrm>
            <a:off x="365760" y="2560320"/>
            <a:ext cx="11430000" cy="256032"/>
          </a:xfrm>
          <a:prstGeom prst="rect">
            <a:avLst/>
          </a:prstGeom>
          <a:noFill/>
        </p:spPr>
        <p:txBody>
          <a:bodyPr wrap="square"/>
          <a:lstStyle/>
          <a:p>
            <a:pPr algn="l"/>
            <a:r>
              <a:rPr sz="1050" b="1" i="0">
                <a:solidFill>
                  <a:srgbClr val="E86B1F"/>
                </a:solidFill>
              </a:rPr>
              <a:t>TOPOLOGY POSITION SENSITIVITY</a:t>
            </a:r>
          </a:p>
        </p:txBody>
      </p:sp>
      <p:sp>
        <p:nvSpPr>
          <p:cNvPr id="10" name="TextBox 9"/>
          <p:cNvSpPr txBox="1"/>
          <p:nvPr/>
        </p:nvSpPr>
        <p:spPr>
          <a:xfrm>
            <a:off x="365760" y="2834640"/>
            <a:ext cx="11430000" cy="594360"/>
          </a:xfrm>
          <a:prstGeom prst="rect">
            <a:avLst/>
          </a:prstGeom>
          <a:noFill/>
        </p:spPr>
        <p:txBody>
          <a:bodyPr wrap="square"/>
          <a:lstStyle/>
          <a:p>
            <a:pPr algn="l"/>
            <a:r>
              <a:rPr sz="1200" b="0" i="0">
                <a:solidFill>
                  <a:srgbClr val="1A1A2E"/>
                </a:solidFill>
              </a:rPr>
              <a:t>Does the structural position of the bottleneck service in the call chain change RetryGuard's contribution? Three positions: (1) gateway-adjacent (e.g., Recommendation/ProductCatalog) — TopFull sees this most directly; (2) hub/sub-tree root (e.g., Checkout) — fans out to 6 downstream callers, creating bidirectional retry amplification; (3) deep leaf (e.g., Email or Payment) — no downstream dependencies, most attenuated from TopFull's entry signal. The hub case is expected to show the most severe amplification.</a:t>
            </a:r>
          </a:p>
        </p:txBody>
      </p:sp>
      <p:sp>
        <p:nvSpPr>
          <p:cNvPr id="11" name="TextBox 10"/>
          <p:cNvSpPr txBox="1"/>
          <p:nvPr/>
        </p:nvSpPr>
        <p:spPr>
          <a:xfrm>
            <a:off x="365760" y="3611880"/>
            <a:ext cx="11430000" cy="256032"/>
          </a:xfrm>
          <a:prstGeom prst="rect">
            <a:avLst/>
          </a:prstGeom>
          <a:noFill/>
        </p:spPr>
        <p:txBody>
          <a:bodyPr wrap="square"/>
          <a:lstStyle/>
          <a:p>
            <a:pPr algn="l"/>
            <a:r>
              <a:rPr sz="1050" b="1" i="0">
                <a:solidFill>
                  <a:srgbClr val="E86B1F"/>
                </a:solidFill>
              </a:rPr>
              <a:t>INTERVAL PARAMETER SENSITIVITY</a:t>
            </a:r>
          </a:p>
        </p:txBody>
      </p:sp>
      <p:sp>
        <p:nvSpPr>
          <p:cNvPr id="12" name="TextBox 11"/>
          <p:cNvSpPr txBox="1"/>
          <p:nvPr/>
        </p:nvSpPr>
        <p:spPr>
          <a:xfrm>
            <a:off x="365760" y="3886200"/>
            <a:ext cx="11430000" cy="594360"/>
          </a:xfrm>
          <a:prstGeom prst="rect">
            <a:avLst/>
          </a:prstGeom>
          <a:noFill/>
        </p:spPr>
        <p:txBody>
          <a:bodyPr wrap="square"/>
          <a:lstStyle/>
          <a:p>
            <a:pPr algn="l"/>
            <a:r>
              <a:rPr sz="1200" b="0" i="0">
                <a:solidFill>
                  <a:srgbClr val="1A1A2E"/>
                </a:solidFill>
              </a:rPr>
              <a:t>Is RetryGuard's 30-second re-enable interval optimal when TopFull is co-running? That interval was validated in the original paper (Sec. 6.2) without a simultaneous top-down controller. With TopFull's RL making decisions every 1 second, recovery dynamics may be faster or more oscillatory. Does the optimal interval shift in this context?</a:t>
            </a:r>
          </a:p>
        </p:txBody>
      </p:sp>
      <p:sp>
        <p:nvSpPr>
          <p:cNvPr id="13" name="TextBox 12"/>
          <p:cNvSpPr txBox="1"/>
          <p:nvPr/>
        </p:nvSpPr>
        <p:spPr>
          <a:xfrm>
            <a:off x="365760" y="4663440"/>
            <a:ext cx="11430000" cy="256032"/>
          </a:xfrm>
          <a:prstGeom prst="rect">
            <a:avLst/>
          </a:prstGeom>
          <a:noFill/>
        </p:spPr>
        <p:txBody>
          <a:bodyPr wrap="square"/>
          <a:lstStyle/>
          <a:p>
            <a:pPr algn="l"/>
            <a:r>
              <a:rPr sz="1050" b="1" i="0">
                <a:solidFill>
                  <a:srgbClr val="E86B1F"/>
                </a:solidFill>
              </a:rPr>
              <a:t>ADVERSARIAL RESILIENCE</a:t>
            </a:r>
          </a:p>
        </p:txBody>
      </p:sp>
      <p:sp>
        <p:nvSpPr>
          <p:cNvPr id="14" name="TextBox 13"/>
          <p:cNvSpPr txBox="1"/>
          <p:nvPr/>
        </p:nvSpPr>
        <p:spPr>
          <a:xfrm>
            <a:off x="365760" y="4937760"/>
            <a:ext cx="11430000" cy="594360"/>
          </a:xfrm>
          <a:prstGeom prst="rect">
            <a:avLst/>
          </a:prstGeom>
          <a:noFill/>
        </p:spPr>
        <p:txBody>
          <a:bodyPr wrap="square"/>
          <a:lstStyle/>
          <a:p>
            <a:pPr algn="l"/>
            <a:r>
              <a:rPr sz="1200" b="0" i="0">
                <a:solidFill>
                  <a:srgbClr val="1A1A2E"/>
                </a:solidFill>
              </a:rPr>
              <a:t>Under malicious traffic, does hostile load trick the controller into misfiring — suppressing retries when it shouldn't — or does RetryGuard successfully blunt retry amplification from attack traffic?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Load Scenarios — Overview</a:t>
            </a:r>
          </a:p>
          <a:p>
            <a:r>
              <a:rPr sz="1300" b="0">
                <a:solidFill>
                  <a:srgbClr val="B0C8E8"/>
                </a:solidFill>
              </a:rPr>
              <a:t>§7 — Each scenario operationalizes one or more open questions</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(INTRO)</a:t>
            </a:r>
          </a:p>
        </p:txBody>
      </p:sp>
      <p:sp>
        <p:nvSpPr>
          <p:cNvPr id="7" name="TextBox 6"/>
          <p:cNvSpPr txBox="1"/>
          <p:nvPr/>
        </p:nvSpPr>
        <p:spPr>
          <a:xfrm>
            <a:off x="365760" y="1508760"/>
            <a:ext cx="11430000" cy="685800"/>
          </a:xfrm>
          <a:prstGeom prst="rect">
            <a:avLst/>
          </a:prstGeom>
          <a:noFill/>
        </p:spPr>
        <p:txBody>
          <a:bodyPr wrap="square"/>
          <a:lstStyle/>
          <a:p>
            <a:pPr algn="l"/>
            <a:r>
              <a:rPr sz="1350" b="0" i="0">
                <a:solidFill>
                  <a:srgbClr val="1A1A2E"/>
                </a:solidFill>
              </a:rPr>
              <a:t>The load scenarios are derived directly from the open questions on the preceding slides. Each scenario is designed to answer specific questions — they were not chosen independently. This mapping ensures the experiment is driven by scientific questions rather than convenient traffic shapes.</a:t>
            </a:r>
          </a:p>
        </p:txBody>
      </p:sp>
      <p:sp>
        <p:nvSpPr>
          <p:cNvPr id="8" name="Rectangle 7"/>
          <p:cNvSpPr/>
          <p:nvPr/>
        </p:nvSpPr>
        <p:spPr>
          <a:xfrm>
            <a:off x="365760" y="233172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468880"/>
            <a:ext cx="11430000" cy="274320"/>
          </a:xfrm>
          <a:prstGeom prst="rect">
            <a:avLst/>
          </a:prstGeom>
          <a:noFill/>
        </p:spPr>
        <p:txBody>
          <a:bodyPr wrap="square"/>
          <a:lstStyle/>
          <a:p>
            <a:pPr algn="l"/>
            <a:r>
              <a:rPr sz="1100" b="1" i="0">
                <a:solidFill>
                  <a:srgbClr val="1F5F99"/>
                </a:solidFill>
              </a:rPr>
              <a:t>SHARED INFRASTRUCTURE</a:t>
            </a:r>
          </a:p>
        </p:txBody>
      </p:sp>
      <p:sp>
        <p:nvSpPr>
          <p:cNvPr id="10" name="TextBox 9"/>
          <p:cNvSpPr txBox="1"/>
          <p:nvPr/>
        </p:nvSpPr>
        <p:spPr>
          <a:xfrm>
            <a:off x="365760" y="2743200"/>
            <a:ext cx="11430000" cy="502920"/>
          </a:xfrm>
          <a:prstGeom prst="rect">
            <a:avLst/>
          </a:prstGeom>
          <a:noFill/>
        </p:spPr>
        <p:txBody>
          <a:bodyPr wrap="square"/>
          <a:lstStyle/>
          <a:p>
            <a:pPr algn="l"/>
            <a:r>
              <a:rPr sz="1350" b="0" i="0">
                <a:solidFill>
                  <a:srgbClr val="1A1A2E"/>
                </a:solidFill>
              </a:rPr>
              <a:t>All scenarios use TopFull's built-in synthetic workload generator (Locust + TopFull scripts from the paper) — not ad-hoc traffic. This ensures reproducibility and direct comparability with the TopFull paper's evaluation methodology.</a:t>
            </a:r>
          </a:p>
        </p:txBody>
      </p:sp>
      <p:sp>
        <p:nvSpPr>
          <p:cNvPr id="11" name="Rectangle 10"/>
          <p:cNvSpPr/>
          <p:nvPr/>
        </p:nvSpPr>
        <p:spPr>
          <a:xfrm>
            <a:off x="365760" y="338328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520440"/>
            <a:ext cx="11430000" cy="274320"/>
          </a:xfrm>
          <a:prstGeom prst="rect">
            <a:avLst/>
          </a:prstGeom>
          <a:noFill/>
        </p:spPr>
        <p:txBody>
          <a:bodyPr wrap="square"/>
          <a:lstStyle/>
          <a:p>
            <a:pPr algn="l"/>
            <a:r>
              <a:rPr sz="1100" b="1" i="0">
                <a:solidFill>
                  <a:srgbClr val="1F5F99"/>
                </a:solidFill>
              </a:rPr>
              <a:t>MEASUREMENT NOTE</a:t>
            </a:r>
          </a:p>
        </p:txBody>
      </p:sp>
      <p:sp>
        <p:nvSpPr>
          <p:cNvPr id="13" name="TextBox 12"/>
          <p:cNvSpPr txBox="1"/>
          <p:nvPr/>
        </p:nvSpPr>
        <p:spPr>
          <a:xfrm>
            <a:off x="365760" y="3794760"/>
            <a:ext cx="11430000" cy="502920"/>
          </a:xfrm>
          <a:prstGeom prst="rect">
            <a:avLst/>
          </a:prstGeom>
          <a:noFill/>
        </p:spPr>
        <p:txBody>
          <a:bodyPr wrap="square"/>
          <a:lstStyle/>
          <a:p>
            <a:pPr algn="l"/>
            <a:r>
              <a:rPr sz="1350" b="0" i="0">
                <a:solidFill>
                  <a:srgbClr val="1A1A2E"/>
                </a:solidFill>
              </a:rPr>
              <a:t>RetryGuard's per-service decisions are driven by Istio/Envoy sidecar metrics (HTTP error rates read locally at each service) — a separate measurement point from TopFull's entry-proxy collectors. Both data streams are collected and cross-referenced when interpreting results.</a:t>
            </a:r>
          </a:p>
        </p:txBody>
      </p:sp>
      <p:sp>
        <p:nvSpPr>
          <p:cNvPr id="14" name="Rectangle 13"/>
          <p:cNvSpPr/>
          <p:nvPr/>
        </p:nvSpPr>
        <p:spPr>
          <a:xfrm>
            <a:off x="365760" y="44348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572000"/>
            <a:ext cx="11430000" cy="274320"/>
          </a:xfrm>
          <a:prstGeom prst="rect">
            <a:avLst/>
          </a:prstGeom>
          <a:noFill/>
        </p:spPr>
        <p:txBody>
          <a:bodyPr wrap="square"/>
          <a:lstStyle/>
          <a:p>
            <a:pPr algn="l"/>
            <a:r>
              <a:rPr sz="1100" b="1" i="0">
                <a:solidFill>
                  <a:srgbClr val="1F5F99"/>
                </a:solidFill>
              </a:rPr>
              <a:t>SCENARIO SUMMARY</a:t>
            </a:r>
          </a:p>
        </p:txBody>
      </p:sp>
      <p:sp>
        <p:nvSpPr>
          <p:cNvPr id="16" name="TextBox 15"/>
          <p:cNvSpPr txBox="1"/>
          <p:nvPr/>
        </p:nvSpPr>
        <p:spPr>
          <a:xfrm>
            <a:off x="457200" y="4892040"/>
            <a:ext cx="3474720" cy="246888"/>
          </a:xfrm>
          <a:prstGeom prst="rect">
            <a:avLst/>
          </a:prstGeom>
          <a:noFill/>
        </p:spPr>
        <p:txBody>
          <a:bodyPr wrap="square"/>
          <a:lstStyle/>
          <a:p>
            <a:pPr algn="l"/>
            <a:r>
              <a:rPr sz="1100" b="1" i="0">
                <a:solidFill>
                  <a:srgbClr val="1A2E4A"/>
                </a:solidFill>
              </a:rPr>
              <a:t>Normal Operation</a:t>
            </a:r>
          </a:p>
        </p:txBody>
      </p:sp>
      <p:sp>
        <p:nvSpPr>
          <p:cNvPr id="17" name="TextBox 16"/>
          <p:cNvSpPr txBox="1"/>
          <p:nvPr/>
        </p:nvSpPr>
        <p:spPr>
          <a:xfrm>
            <a:off x="4023360" y="4892040"/>
            <a:ext cx="7772400" cy="246888"/>
          </a:xfrm>
          <a:prstGeom prst="rect">
            <a:avLst/>
          </a:prstGeom>
          <a:noFill/>
        </p:spPr>
        <p:txBody>
          <a:bodyPr wrap="square"/>
          <a:lstStyle/>
          <a:p>
            <a:pPr algn="l"/>
            <a:r>
              <a:rPr sz="1100" b="0" i="0">
                <a:solidFill>
                  <a:srgbClr val="1A1A2E"/>
                </a:solidFill>
              </a:rPr>
              <a:t>→ System-level gains (sanity check)</a:t>
            </a:r>
          </a:p>
        </p:txBody>
      </p:sp>
      <p:sp>
        <p:nvSpPr>
          <p:cNvPr id="18" name="TextBox 17"/>
          <p:cNvSpPr txBox="1"/>
          <p:nvPr/>
        </p:nvSpPr>
        <p:spPr>
          <a:xfrm>
            <a:off x="457200" y="5166360"/>
            <a:ext cx="3474720" cy="246888"/>
          </a:xfrm>
          <a:prstGeom prst="rect">
            <a:avLst/>
          </a:prstGeom>
          <a:noFill/>
        </p:spPr>
        <p:txBody>
          <a:bodyPr wrap="square"/>
          <a:lstStyle/>
          <a:p>
            <a:pPr algn="l"/>
            <a:r>
              <a:rPr sz="1100" b="1" i="0">
                <a:solidFill>
                  <a:srgbClr val="1A2E4A"/>
                </a:solidFill>
              </a:rPr>
              <a:t>Sustained Overload</a:t>
            </a:r>
          </a:p>
        </p:txBody>
      </p:sp>
      <p:sp>
        <p:nvSpPr>
          <p:cNvPr id="19" name="TextBox 18"/>
          <p:cNvSpPr txBox="1"/>
          <p:nvPr/>
        </p:nvSpPr>
        <p:spPr>
          <a:xfrm>
            <a:off x="4023360" y="5166360"/>
            <a:ext cx="7772400" cy="246888"/>
          </a:xfrm>
          <a:prstGeom prst="rect">
            <a:avLst/>
          </a:prstGeom>
          <a:noFill/>
        </p:spPr>
        <p:txBody>
          <a:bodyPr wrap="square"/>
          <a:lstStyle/>
          <a:p>
            <a:pPr algn="l"/>
            <a:r>
              <a:rPr sz="1100" b="0" i="0">
                <a:solidFill>
                  <a:srgbClr val="1A1A2E"/>
                </a:solidFill>
              </a:rPr>
              <a:t>→ System-level gains, topology beneficiaries, chain propagation, controller interaction</a:t>
            </a:r>
          </a:p>
        </p:txBody>
      </p:sp>
      <p:sp>
        <p:nvSpPr>
          <p:cNvPr id="20" name="TextBox 19"/>
          <p:cNvSpPr txBox="1"/>
          <p:nvPr/>
        </p:nvSpPr>
        <p:spPr>
          <a:xfrm>
            <a:off x="457200" y="5440680"/>
            <a:ext cx="3474720" cy="246888"/>
          </a:xfrm>
          <a:prstGeom prst="rect">
            <a:avLst/>
          </a:prstGeom>
          <a:noFill/>
        </p:spPr>
        <p:txBody>
          <a:bodyPr wrap="square"/>
          <a:lstStyle/>
          <a:p>
            <a:pPr algn="l"/>
            <a:r>
              <a:rPr sz="1100" b="1" i="0">
                <a:solidFill>
                  <a:srgbClr val="1A2E4A"/>
                </a:solidFill>
              </a:rPr>
              <a:t>Targeted Bottleneck</a:t>
            </a:r>
          </a:p>
        </p:txBody>
      </p:sp>
      <p:sp>
        <p:nvSpPr>
          <p:cNvPr id="21" name="TextBox 20"/>
          <p:cNvSpPr txBox="1"/>
          <p:nvPr/>
        </p:nvSpPr>
        <p:spPr>
          <a:xfrm>
            <a:off x="4023360" y="5440680"/>
            <a:ext cx="7772400" cy="246888"/>
          </a:xfrm>
          <a:prstGeom prst="rect">
            <a:avLst/>
          </a:prstGeom>
          <a:noFill/>
        </p:spPr>
        <p:txBody>
          <a:bodyPr wrap="square"/>
          <a:lstStyle/>
          <a:p>
            <a:pPr algn="l"/>
            <a:r>
              <a:rPr sz="1100" b="0" i="0">
                <a:solidFill>
                  <a:srgbClr val="1A1A2E"/>
                </a:solidFill>
              </a:rPr>
              <a:t>→ Topology beneficiaries, chain propagation, controller interaction</a:t>
            </a:r>
          </a:p>
        </p:txBody>
      </p:sp>
      <p:sp>
        <p:nvSpPr>
          <p:cNvPr id="22" name="TextBox 21"/>
          <p:cNvSpPr txBox="1"/>
          <p:nvPr/>
        </p:nvSpPr>
        <p:spPr>
          <a:xfrm>
            <a:off x="457200" y="5715000"/>
            <a:ext cx="3474720" cy="246888"/>
          </a:xfrm>
          <a:prstGeom prst="rect">
            <a:avLst/>
          </a:prstGeom>
          <a:noFill/>
        </p:spPr>
        <p:txBody>
          <a:bodyPr wrap="square"/>
          <a:lstStyle/>
          <a:p>
            <a:pPr algn="l"/>
            <a:r>
              <a:rPr sz="1100" b="1" i="0">
                <a:solidFill>
                  <a:srgbClr val="1A2E4A"/>
                </a:solidFill>
              </a:rPr>
              <a:t>Topology Position Compare</a:t>
            </a:r>
          </a:p>
        </p:txBody>
      </p:sp>
      <p:sp>
        <p:nvSpPr>
          <p:cNvPr id="23" name="TextBox 22"/>
          <p:cNvSpPr txBox="1"/>
          <p:nvPr/>
        </p:nvSpPr>
        <p:spPr>
          <a:xfrm>
            <a:off x="4023360" y="5715000"/>
            <a:ext cx="7772400" cy="246888"/>
          </a:xfrm>
          <a:prstGeom prst="rect">
            <a:avLst/>
          </a:prstGeom>
          <a:noFill/>
        </p:spPr>
        <p:txBody>
          <a:bodyPr wrap="square"/>
          <a:lstStyle/>
          <a:p>
            <a:pPr algn="l"/>
            <a:r>
              <a:rPr sz="1100" b="0" i="0">
                <a:solidFill>
                  <a:srgbClr val="1A1A2E"/>
                </a:solidFill>
              </a:rPr>
              <a:t>→ Topology position sensitivity, topology beneficiaries, chain propagation</a:t>
            </a:r>
          </a:p>
        </p:txBody>
      </p:sp>
      <p:sp>
        <p:nvSpPr>
          <p:cNvPr id="24" name="TextBox 23"/>
          <p:cNvSpPr txBox="1"/>
          <p:nvPr/>
        </p:nvSpPr>
        <p:spPr>
          <a:xfrm>
            <a:off x="457200" y="5989320"/>
            <a:ext cx="3474720" cy="246888"/>
          </a:xfrm>
          <a:prstGeom prst="rect">
            <a:avLst/>
          </a:prstGeom>
          <a:noFill/>
        </p:spPr>
        <p:txBody>
          <a:bodyPr wrap="square"/>
          <a:lstStyle/>
          <a:p>
            <a:pPr algn="l"/>
            <a:r>
              <a:rPr sz="1100" b="1" i="0">
                <a:solidFill>
                  <a:srgbClr val="1A2E4A"/>
                </a:solidFill>
              </a:rPr>
              <a:t>Re-enable Interval Tuning</a:t>
            </a:r>
          </a:p>
        </p:txBody>
      </p:sp>
      <p:sp>
        <p:nvSpPr>
          <p:cNvPr id="25" name="TextBox 24"/>
          <p:cNvSpPr txBox="1"/>
          <p:nvPr/>
        </p:nvSpPr>
        <p:spPr>
          <a:xfrm>
            <a:off x="4023360" y="5989320"/>
            <a:ext cx="7772400" cy="246888"/>
          </a:xfrm>
          <a:prstGeom prst="rect">
            <a:avLst/>
          </a:prstGeom>
          <a:noFill/>
        </p:spPr>
        <p:txBody>
          <a:bodyPr wrap="square"/>
          <a:lstStyle/>
          <a:p>
            <a:pPr algn="l"/>
            <a:r>
              <a:rPr sz="1100" b="0" i="0">
                <a:solidFill>
                  <a:srgbClr val="1A1A2E"/>
                </a:solidFill>
              </a:rPr>
              <a:t>→ Interval parameter sensitivity, combined equilibrium</a:t>
            </a:r>
          </a:p>
        </p:txBody>
      </p:sp>
      <p:sp>
        <p:nvSpPr>
          <p:cNvPr id="26" name="TextBox 25"/>
          <p:cNvSpPr txBox="1"/>
          <p:nvPr/>
        </p:nvSpPr>
        <p:spPr>
          <a:xfrm>
            <a:off x="457200" y="6263640"/>
            <a:ext cx="3474720" cy="246888"/>
          </a:xfrm>
          <a:prstGeom prst="rect">
            <a:avLst/>
          </a:prstGeom>
          <a:noFill/>
        </p:spPr>
        <p:txBody>
          <a:bodyPr wrap="square"/>
          <a:lstStyle/>
          <a:p>
            <a:pPr algn="l"/>
            <a:r>
              <a:rPr sz="1100" b="1" i="0">
                <a:solidFill>
                  <a:srgbClr val="1A2E4A"/>
                </a:solidFill>
              </a:rPr>
              <a:t>Attack Traffic (extension)</a:t>
            </a:r>
          </a:p>
        </p:txBody>
      </p:sp>
      <p:sp>
        <p:nvSpPr>
          <p:cNvPr id="27" name="TextBox 26"/>
          <p:cNvSpPr txBox="1"/>
          <p:nvPr/>
        </p:nvSpPr>
        <p:spPr>
          <a:xfrm>
            <a:off x="4023360" y="6263640"/>
            <a:ext cx="7772400" cy="246888"/>
          </a:xfrm>
          <a:prstGeom prst="rect">
            <a:avLst/>
          </a:prstGeom>
          <a:noFill/>
        </p:spPr>
        <p:txBody>
          <a:bodyPr wrap="square"/>
          <a:lstStyle/>
          <a:p>
            <a:pPr algn="l"/>
            <a:r>
              <a:rPr sz="1100" b="0" i="0">
                <a:solidFill>
                  <a:srgbClr val="1A1A2E"/>
                </a:solidFill>
              </a:rPr>
              <a:t>→ Adversarial resilience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Normal Operation</a:t>
            </a:r>
          </a:p>
          <a:p>
            <a:r>
              <a:rPr sz="1300" b="0">
                <a:solidFill>
                  <a:srgbClr val="B0C8E8"/>
                </a:solidFill>
              </a:rPr>
              <a:t>§7 — Load scenario 1 of 6</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(1/6)</a:t>
            </a:r>
          </a:p>
        </p:txBody>
      </p:sp>
      <p:sp>
        <p:nvSpPr>
          <p:cNvPr id="7" name="TextBox 6"/>
          <p:cNvSpPr txBox="1"/>
          <p:nvPr/>
        </p:nvSpPr>
        <p:spPr>
          <a:xfrm>
            <a:off x="365760" y="1508760"/>
            <a:ext cx="11430000" cy="274320"/>
          </a:xfrm>
          <a:prstGeom prst="rect">
            <a:avLst/>
          </a:prstGeom>
          <a:noFill/>
        </p:spPr>
        <p:txBody>
          <a:bodyPr wrap="square"/>
          <a:lstStyle/>
          <a:p>
            <a:pPr algn="l"/>
            <a:r>
              <a:rPr sz="1100" b="1" i="0">
                <a:solidFill>
                  <a:srgbClr val="1F5F99"/>
                </a:solidFill>
              </a:rPr>
              <a:t>WHAT HAPPENS IN THE SYSTEM</a:t>
            </a:r>
          </a:p>
        </p:txBody>
      </p:sp>
      <p:sp>
        <p:nvSpPr>
          <p:cNvPr id="8" name="TextBox 7"/>
          <p:cNvSpPr txBox="1"/>
          <p:nvPr/>
        </p:nvSpPr>
        <p:spPr>
          <a:xfrm>
            <a:off x="365760" y="1783080"/>
            <a:ext cx="11430000" cy="640080"/>
          </a:xfrm>
          <a:prstGeom prst="rect">
            <a:avLst/>
          </a:prstGeom>
          <a:noFill/>
        </p:spPr>
        <p:txBody>
          <a:bodyPr wrap="square"/>
          <a:lstStyle/>
          <a:p>
            <a:pPr algn="l"/>
            <a:r>
              <a:rPr sz="1350" b="0" i="0">
                <a:solidFill>
                  <a:srgbClr val="1A1A2E"/>
                </a:solidFill>
              </a:rPr>
              <a:t>Traffic is flat and manageable — RPS well within service capacity. No service reaches ρ &gt; 1. TopFull's rate limiter is not under pressure. Istio retry policies fire occasionally for transient errors but do not accumulate.</a:t>
            </a:r>
          </a:p>
        </p:txBody>
      </p:sp>
      <p:sp>
        <p:nvSpPr>
          <p:cNvPr id="9" name="Rectangle 8"/>
          <p:cNvSpPr/>
          <p:nvPr/>
        </p:nvSpPr>
        <p:spPr>
          <a:xfrm>
            <a:off x="365760" y="256032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697480"/>
            <a:ext cx="11430000" cy="274320"/>
          </a:xfrm>
          <a:prstGeom prst="rect">
            <a:avLst/>
          </a:prstGeom>
          <a:noFill/>
        </p:spPr>
        <p:txBody>
          <a:bodyPr wrap="square"/>
          <a:lstStyle/>
          <a:p>
            <a:pPr algn="l"/>
            <a:r>
              <a:rPr sz="1100" b="1" i="0">
                <a:solidFill>
                  <a:srgbClr val="1F5F99"/>
                </a:solidFill>
              </a:rPr>
              <a:t>WHAT IT TESTS</a:t>
            </a:r>
          </a:p>
        </p:txBody>
      </p:sp>
      <p:sp>
        <p:nvSpPr>
          <p:cNvPr id="11" name="TextBox 10"/>
          <p:cNvSpPr txBox="1"/>
          <p:nvPr/>
        </p:nvSpPr>
        <p:spPr>
          <a:xfrm>
            <a:off x="365760" y="2971800"/>
            <a:ext cx="11430000" cy="731520"/>
          </a:xfrm>
          <a:prstGeom prst="rect">
            <a:avLst/>
          </a:prstGeom>
          <a:noFill/>
        </p:spPr>
        <p:txBody>
          <a:bodyPr wrap="square"/>
          <a:lstStyle/>
          <a:p>
            <a:pPr algn="l"/>
            <a:r>
              <a:rPr sz="1350" b="0" i="0">
                <a:solidFill>
                  <a:srgbClr val="1A1A2E"/>
                </a:solidFill>
              </a:rPr>
              <a:t>Does RetryGuard stay entirely non-intrusive when the system is healthy? The controller should detect rejection rates below the ~20% threshold across all services and leave Istio VirtualService configurations untouched. Any spurious retry suppression under healthy load would be a controller malfunction.</a:t>
            </a:r>
          </a:p>
        </p:txBody>
      </p:sp>
      <p:sp>
        <p:nvSpPr>
          <p:cNvPr id="12" name="Rectangle 11"/>
          <p:cNvSpPr/>
          <p:nvPr/>
        </p:nvSpPr>
        <p:spPr>
          <a:xfrm>
            <a:off x="365760" y="384048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977639"/>
            <a:ext cx="11430000" cy="274320"/>
          </a:xfrm>
          <a:prstGeom prst="rect">
            <a:avLst/>
          </a:prstGeom>
          <a:noFill/>
        </p:spPr>
        <p:txBody>
          <a:bodyPr wrap="square"/>
          <a:lstStyle/>
          <a:p>
            <a:pPr algn="l"/>
            <a:r>
              <a:rPr sz="1100" b="1" i="0">
                <a:solidFill>
                  <a:srgbClr val="1F5F99"/>
                </a:solidFill>
              </a:rPr>
              <a:t>OPEN QUESTION(S) ADDRESSED</a:t>
            </a:r>
          </a:p>
        </p:txBody>
      </p:sp>
      <p:sp>
        <p:nvSpPr>
          <p:cNvPr id="14" name="TextBox 13"/>
          <p:cNvSpPr txBox="1"/>
          <p:nvPr/>
        </p:nvSpPr>
        <p:spPr>
          <a:xfrm>
            <a:off x="365760" y="4251960"/>
            <a:ext cx="11430000" cy="502920"/>
          </a:xfrm>
          <a:prstGeom prst="rect">
            <a:avLst/>
          </a:prstGeom>
          <a:noFill/>
        </p:spPr>
        <p:txBody>
          <a:bodyPr wrap="square"/>
          <a:lstStyle/>
          <a:p>
            <a:pPr algn="l"/>
            <a:r>
              <a:rPr sz="1350" b="0" i="0">
                <a:solidFill>
                  <a:srgbClr val="1A1A2E"/>
                </a:solidFill>
              </a:rPr>
              <a:t>System-level gains (non-overload side): a necessary sanity check — performance must be indistinguishable between baseline and RetryGuard runs during normal load before we can trust the overload results.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Sustained Overload</a:t>
            </a:r>
          </a:p>
          <a:p>
            <a:r>
              <a:rPr sz="1300" b="0">
                <a:solidFill>
                  <a:srgbClr val="B0C8E8"/>
                </a:solidFill>
              </a:rPr>
              <a:t>§7 — Load scenario 2 of 6  ·  The core experiment</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(2/6)</a:t>
            </a:r>
          </a:p>
        </p:txBody>
      </p:sp>
      <p:sp>
        <p:nvSpPr>
          <p:cNvPr id="7" name="TextBox 6"/>
          <p:cNvSpPr txBox="1"/>
          <p:nvPr/>
        </p:nvSpPr>
        <p:spPr>
          <a:xfrm>
            <a:off x="365760" y="1508760"/>
            <a:ext cx="11430000" cy="274320"/>
          </a:xfrm>
          <a:prstGeom prst="rect">
            <a:avLst/>
          </a:prstGeom>
          <a:noFill/>
        </p:spPr>
        <p:txBody>
          <a:bodyPr wrap="square"/>
          <a:lstStyle/>
          <a:p>
            <a:pPr algn="l"/>
            <a:r>
              <a:rPr sz="1100" b="1" i="0">
                <a:solidFill>
                  <a:srgbClr val="1F5F99"/>
                </a:solidFill>
              </a:rPr>
              <a:t>WHAT HAPPENS IN THE SYSTEM</a:t>
            </a:r>
          </a:p>
        </p:txBody>
      </p:sp>
      <p:sp>
        <p:nvSpPr>
          <p:cNvPr id="8" name="TextBox 7"/>
          <p:cNvSpPr txBox="1"/>
          <p:nvPr/>
        </p:nvSpPr>
        <p:spPr>
          <a:xfrm>
            <a:off x="365760" y="1783080"/>
            <a:ext cx="11430000" cy="868680"/>
          </a:xfrm>
          <a:prstGeom prst="rect">
            <a:avLst/>
          </a:prstGeom>
          <a:noFill/>
        </p:spPr>
        <p:txBody>
          <a:bodyPr wrap="square"/>
          <a:lstStyle/>
          <a:p>
            <a:pPr algn="l"/>
            <a:r>
              <a:rPr sz="1350" b="0" i="0">
                <a:solidFill>
                  <a:srgbClr val="1A1A2E"/>
                </a:solidFill>
              </a:rPr>
              <a:t>Load increases until ρ &gt; 1 system-wide, then holds there for several minutes. This sustained overload is the exact miscoordination condition the RetryGuard paper was designed for — only prolonged overload triggers Algorithm 1. Brief spikes do not. TopFull throttles at the entry proxy. But once a request is admitted, Istio's default retry policy fires internally on each rejection — these retries are invisible to TopFull's rate limiter and amplify load on downstream services beyond what TopFull can throttle from above.</a:t>
            </a:r>
          </a:p>
        </p:txBody>
      </p:sp>
      <p:sp>
        <p:nvSpPr>
          <p:cNvPr id="9" name="Rectangle 8"/>
          <p:cNvSpPr/>
          <p:nvPr/>
        </p:nvSpPr>
        <p:spPr>
          <a:xfrm>
            <a:off x="365760" y="28346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971800"/>
            <a:ext cx="11430000" cy="274320"/>
          </a:xfrm>
          <a:prstGeom prst="rect">
            <a:avLst/>
          </a:prstGeom>
          <a:noFill/>
        </p:spPr>
        <p:txBody>
          <a:bodyPr wrap="square"/>
          <a:lstStyle/>
          <a:p>
            <a:pPr algn="l"/>
            <a:r>
              <a:rPr sz="1100" b="1" i="0">
                <a:solidFill>
                  <a:srgbClr val="1F5F99"/>
                </a:solidFill>
              </a:rPr>
              <a:t>WHAT IT TESTS</a:t>
            </a:r>
          </a:p>
        </p:txBody>
      </p:sp>
      <p:sp>
        <p:nvSpPr>
          <p:cNvPr id="11" name="TextBox 10"/>
          <p:cNvSpPr txBox="1"/>
          <p:nvPr/>
        </p:nvSpPr>
        <p:spPr>
          <a:xfrm>
            <a:off x="365760" y="3246120"/>
            <a:ext cx="11430000" cy="640080"/>
          </a:xfrm>
          <a:prstGeom prst="rect">
            <a:avLst/>
          </a:prstGeom>
          <a:noFill/>
        </p:spPr>
        <p:txBody>
          <a:bodyPr wrap="square"/>
          <a:lstStyle/>
          <a:p>
            <a:pPr algn="l"/>
            <a:r>
              <a:rPr sz="1350" b="0" i="0">
                <a:solidFill>
                  <a:srgbClr val="1A1A2E"/>
                </a:solidFill>
              </a:rPr>
              <a:t>Does RetryGuard suppress this internal retry amplification — and does that produce measurable improvement in goodput or resource usage on top of what TopFull achieves alone? RetryGuard's ~30s detection window must trigger before we can observe any effect.</a:t>
            </a:r>
          </a:p>
        </p:txBody>
      </p:sp>
      <p:sp>
        <p:nvSpPr>
          <p:cNvPr id="12" name="Rectangle 11"/>
          <p:cNvSpPr/>
          <p:nvPr/>
        </p:nvSpPr>
        <p:spPr>
          <a:xfrm>
            <a:off x="365760" y="40233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4160520"/>
            <a:ext cx="11430000" cy="274320"/>
          </a:xfrm>
          <a:prstGeom prst="rect">
            <a:avLst/>
          </a:prstGeom>
          <a:noFill/>
        </p:spPr>
        <p:txBody>
          <a:bodyPr wrap="square"/>
          <a:lstStyle/>
          <a:p>
            <a:pPr algn="l"/>
            <a:r>
              <a:rPr sz="1100" b="1" i="0">
                <a:solidFill>
                  <a:srgbClr val="1F5F99"/>
                </a:solidFill>
              </a:rPr>
              <a:t>OPEN QUESTION(S) ADDRESSED</a:t>
            </a:r>
          </a:p>
        </p:txBody>
      </p:sp>
      <p:sp>
        <p:nvSpPr>
          <p:cNvPr id="14" name="TextBox 13"/>
          <p:cNvSpPr txBox="1"/>
          <p:nvPr/>
        </p:nvSpPr>
        <p:spPr>
          <a:xfrm>
            <a:off x="365760" y="4480560"/>
            <a:ext cx="11430000" cy="1600200"/>
          </a:xfrm>
          <a:prstGeom prst="rect">
            <a:avLst/>
          </a:prstGeom>
          <a:noFill/>
        </p:spPr>
        <p:txBody>
          <a:bodyPr wrap="square">
            <a:spAutoFit/>
          </a:bodyPr>
          <a:lstStyle/>
          <a:p>
            <a:pPr algn="l">
              <a:spcBef>
                <a:spcPts val="200"/>
              </a:spcBef>
              <a:spcAft>
                <a:spcPts val="0"/>
              </a:spcAft>
            </a:pPr>
            <a:r>
              <a:rPr sz="1300" b="0">
                <a:solidFill>
                  <a:srgbClr val="1A1A2E"/>
                </a:solidFill>
              </a:rPr>
              <a:t>•  System-level gains — primary outcome.</a:t>
            </a:r>
          </a:p>
          <a:p>
            <a:pPr algn="l">
              <a:spcBef>
                <a:spcPts val="200"/>
              </a:spcBef>
              <a:spcAft>
                <a:spcPts val="0"/>
              </a:spcAft>
            </a:pPr>
            <a:r>
              <a:rPr sz="1300" b="0">
                <a:solidFill>
                  <a:srgbClr val="1A1A2E"/>
                </a:solidFill>
              </a:rPr>
              <a:t>•  Topology beneficiaries — which services show the largest retry reduction.</a:t>
            </a:r>
          </a:p>
          <a:p>
            <a:pPr algn="l">
              <a:spcBef>
                <a:spcPts val="200"/>
              </a:spcBef>
              <a:spcAft>
                <a:spcPts val="0"/>
              </a:spcAft>
            </a:pPr>
            <a:r>
              <a:rPr sz="1300" b="0">
                <a:solidFill>
                  <a:srgbClr val="1A1A2E"/>
                </a:solidFill>
              </a:rPr>
              <a:t>•  Chain propagation — do savings at the bottleneck propagate upstream?</a:t>
            </a:r>
          </a:p>
          <a:p>
            <a:pPr algn="l">
              <a:spcBef>
                <a:spcPts val="200"/>
              </a:spcBef>
              <a:spcAft>
                <a:spcPts val="0"/>
              </a:spcAft>
            </a:pPr>
            <a:r>
              <a:rPr sz="1300" b="0">
                <a:solidFill>
                  <a:srgbClr val="1A1A2E"/>
                </a:solidFill>
              </a:rPr>
              <a:t>•  Controller interaction — do TopFull and RetryGuard cooperate or interfere during co-operation?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Targeted Bottleneck</a:t>
            </a:r>
          </a:p>
          <a:p>
            <a:r>
              <a:rPr sz="1300" b="0">
                <a:solidFill>
                  <a:srgbClr val="B0C8E8"/>
                </a:solidFill>
              </a:rPr>
              <a:t>§7 — Load scenario 3 of 6</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(3/6)</a:t>
            </a:r>
          </a:p>
        </p:txBody>
      </p:sp>
      <p:sp>
        <p:nvSpPr>
          <p:cNvPr id="7" name="TextBox 6"/>
          <p:cNvSpPr txBox="1"/>
          <p:nvPr/>
        </p:nvSpPr>
        <p:spPr>
          <a:xfrm>
            <a:off x="365760" y="1508760"/>
            <a:ext cx="11430000" cy="274320"/>
          </a:xfrm>
          <a:prstGeom prst="rect">
            <a:avLst/>
          </a:prstGeom>
          <a:noFill/>
        </p:spPr>
        <p:txBody>
          <a:bodyPr wrap="square"/>
          <a:lstStyle/>
          <a:p>
            <a:pPr algn="l"/>
            <a:r>
              <a:rPr sz="1100" b="1" i="0">
                <a:solidFill>
                  <a:srgbClr val="1F5F99"/>
                </a:solidFill>
              </a:rPr>
              <a:t>WHAT HAPPENS IN THE SYSTEM</a:t>
            </a:r>
          </a:p>
        </p:txBody>
      </p:sp>
      <p:sp>
        <p:nvSpPr>
          <p:cNvPr id="8" name="TextBox 7"/>
          <p:cNvSpPr txBox="1"/>
          <p:nvPr/>
        </p:nvSpPr>
        <p:spPr>
          <a:xfrm>
            <a:off x="365760" y="1783080"/>
            <a:ext cx="11430000" cy="868680"/>
          </a:xfrm>
          <a:prstGeom prst="rect">
            <a:avLst/>
          </a:prstGeom>
          <a:noFill/>
        </p:spPr>
        <p:txBody>
          <a:bodyPr wrap="square"/>
          <a:lstStyle/>
          <a:p>
            <a:pPr algn="l"/>
            <a:r>
              <a:rPr sz="1350" b="0" i="0">
                <a:solidFill>
                  <a:srgbClr val="1A1A2E"/>
                </a:solidFill>
              </a:rPr>
              <a:t>Full call chain exercises at normal RPS. One specific downstream service (e.g., Checkout or a mid-chain service) is constrained — reduced replica count or CPU limit — so it reaches ρ &gt; 1 even under TopFull's throttled entry rate. TopFull detects the overloaded service and throttles the APIs routing through it at the entry. But after TopFull admits a request, the constrained service may still reject it, and its immediate upstream caller retries it via Istio. These internal retries are not counted by TopFull's proxy and add load directly at the bottleneck.</a:t>
            </a:r>
          </a:p>
        </p:txBody>
      </p:sp>
      <p:sp>
        <p:nvSpPr>
          <p:cNvPr id="9" name="Rectangle 8"/>
          <p:cNvSpPr/>
          <p:nvPr/>
        </p:nvSpPr>
        <p:spPr>
          <a:xfrm>
            <a:off x="365760" y="28346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971800"/>
            <a:ext cx="11430000" cy="274320"/>
          </a:xfrm>
          <a:prstGeom prst="rect">
            <a:avLst/>
          </a:prstGeom>
          <a:noFill/>
        </p:spPr>
        <p:txBody>
          <a:bodyPr wrap="square"/>
          <a:lstStyle/>
          <a:p>
            <a:pPr algn="l"/>
            <a:r>
              <a:rPr sz="1100" b="1" i="0">
                <a:solidFill>
                  <a:srgbClr val="1F5F99"/>
                </a:solidFill>
              </a:rPr>
              <a:t>WHAT IT TESTS</a:t>
            </a:r>
          </a:p>
        </p:txBody>
      </p:sp>
      <p:sp>
        <p:nvSpPr>
          <p:cNvPr id="11" name="TextBox 10"/>
          <p:cNvSpPr txBox="1"/>
          <p:nvPr/>
        </p:nvSpPr>
        <p:spPr>
          <a:xfrm>
            <a:off x="365760" y="3246120"/>
            <a:ext cx="11430000" cy="685800"/>
          </a:xfrm>
          <a:prstGeom prst="rect">
            <a:avLst/>
          </a:prstGeom>
          <a:noFill/>
        </p:spPr>
        <p:txBody>
          <a:bodyPr wrap="square"/>
          <a:lstStyle/>
          <a:p>
            <a:pPr algn="l"/>
            <a:r>
              <a:rPr sz="1350" b="0" i="0">
                <a:solidFill>
                  <a:srgbClr val="1A1A2E"/>
                </a:solidFill>
              </a:rPr>
              <a:t>RetryGuard, reading Istio metrics directly at the bottleneck service, sees the rejection rate and suppresses per-service retries. Does this reduce load at the bottleneck faster and more directly than TopFull's top-down throttling alone? Does the benefit propagate upward through the call chain? This scenario is directly analogous to the RetryGuard Bookinfo case study (Sec. 6.2 of the RetryGuard paper).</a:t>
            </a:r>
          </a:p>
        </p:txBody>
      </p:sp>
      <p:sp>
        <p:nvSpPr>
          <p:cNvPr id="12" name="Rectangle 11"/>
          <p:cNvSpPr/>
          <p:nvPr/>
        </p:nvSpPr>
        <p:spPr>
          <a:xfrm>
            <a:off x="365760" y="411480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4251960"/>
            <a:ext cx="11430000" cy="274320"/>
          </a:xfrm>
          <a:prstGeom prst="rect">
            <a:avLst/>
          </a:prstGeom>
          <a:noFill/>
        </p:spPr>
        <p:txBody>
          <a:bodyPr wrap="square"/>
          <a:lstStyle/>
          <a:p>
            <a:pPr algn="l"/>
            <a:r>
              <a:rPr sz="1100" b="1" i="0">
                <a:solidFill>
                  <a:srgbClr val="1F5F99"/>
                </a:solidFill>
              </a:rPr>
              <a:t>OPEN QUESTION(S) ADDRESSED</a:t>
            </a:r>
          </a:p>
        </p:txBody>
      </p:sp>
      <p:sp>
        <p:nvSpPr>
          <p:cNvPr id="14" name="TextBox 13"/>
          <p:cNvSpPr txBox="1"/>
          <p:nvPr/>
        </p:nvSpPr>
        <p:spPr>
          <a:xfrm>
            <a:off x="365760" y="4572000"/>
            <a:ext cx="11430000" cy="1188720"/>
          </a:xfrm>
          <a:prstGeom prst="rect">
            <a:avLst/>
          </a:prstGeom>
          <a:noFill/>
        </p:spPr>
        <p:txBody>
          <a:bodyPr wrap="square">
            <a:spAutoFit/>
          </a:bodyPr>
          <a:lstStyle/>
          <a:p>
            <a:pPr algn="l">
              <a:spcBef>
                <a:spcPts val="200"/>
              </a:spcBef>
              <a:spcAft>
                <a:spcPts val="0"/>
              </a:spcAft>
            </a:pPr>
            <a:r>
              <a:rPr sz="1300" b="0">
                <a:solidFill>
                  <a:srgbClr val="1A1A2E"/>
                </a:solidFill>
              </a:rPr>
              <a:t>•  Topology beneficiaries — does RetryGuard's benefit concentrate at the constrained service?</a:t>
            </a:r>
          </a:p>
          <a:p>
            <a:pPr algn="l">
              <a:spcBef>
                <a:spcPts val="200"/>
              </a:spcBef>
              <a:spcAft>
                <a:spcPts val="0"/>
              </a:spcAft>
            </a:pPr>
            <a:r>
              <a:rPr sz="1300" b="0">
                <a:solidFill>
                  <a:srgbClr val="1A1A2E"/>
                </a:solidFill>
              </a:rPr>
              <a:t>•  Chain propagation — do resource savings at the bottleneck propagate upward?</a:t>
            </a:r>
          </a:p>
          <a:p>
            <a:pPr algn="l">
              <a:spcBef>
                <a:spcPts val="200"/>
              </a:spcBef>
              <a:spcAft>
                <a:spcPts val="0"/>
              </a:spcAft>
            </a:pPr>
            <a:r>
              <a:rPr sz="1300" b="0">
                <a:solidFill>
                  <a:srgbClr val="1A1A2E"/>
                </a:solidFill>
              </a:rPr>
              <a:t>•  Controller interaction — does per-service suppression complement or conflict with TopFull's top-down throttling?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Topology Position Comparison</a:t>
            </a:r>
          </a:p>
          <a:p>
            <a:r>
              <a:rPr sz="1300" b="0">
                <a:solidFill>
                  <a:srgbClr val="B0C8E8"/>
                </a:solidFill>
              </a:rPr>
              <a:t>§7 — Load scenario 4 of 6</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(4/6)</a:t>
            </a:r>
          </a:p>
        </p:txBody>
      </p:sp>
      <p:sp>
        <p:nvSpPr>
          <p:cNvPr id="7" name="TextBox 6"/>
          <p:cNvSpPr txBox="1"/>
          <p:nvPr/>
        </p:nvSpPr>
        <p:spPr>
          <a:xfrm>
            <a:off x="365760" y="1508760"/>
            <a:ext cx="11430000" cy="502920"/>
          </a:xfrm>
          <a:prstGeom prst="rect">
            <a:avLst/>
          </a:prstGeom>
          <a:noFill/>
        </p:spPr>
        <p:txBody>
          <a:bodyPr wrap="square"/>
          <a:lstStyle/>
          <a:p>
            <a:pPr algn="l"/>
            <a:r>
              <a:rPr sz="1350" b="0" i="0">
                <a:solidFill>
                  <a:srgbClr val="1A1A2E"/>
                </a:solidFill>
              </a:rPr>
              <a:t>Three separate Targeted Bottleneck runs — same load, same methodology — varying only where in the Online Boutique call chain the constrained service sits. The comparison tests whether RetryGuard's per-service suppression value scales with fan-out width and topology depth.</a:t>
            </a:r>
          </a:p>
        </p:txBody>
      </p:sp>
      <p:sp>
        <p:nvSpPr>
          <p:cNvPr id="8" name="TextBox 7"/>
          <p:cNvSpPr txBox="1"/>
          <p:nvPr/>
        </p:nvSpPr>
        <p:spPr>
          <a:xfrm>
            <a:off x="365760" y="2194560"/>
            <a:ext cx="7040880" cy="256032"/>
          </a:xfrm>
          <a:prstGeom prst="rect">
            <a:avLst/>
          </a:prstGeom>
          <a:noFill/>
        </p:spPr>
        <p:txBody>
          <a:bodyPr wrap="square"/>
          <a:lstStyle/>
          <a:p>
            <a:pPr algn="l"/>
            <a:r>
              <a:rPr sz="1100" b="1" i="0">
                <a:solidFill>
                  <a:srgbClr val="E86B1F"/>
                </a:solidFill>
              </a:rPr>
              <a:t>(1) Gateway-adjacent / shallow sub-tree</a:t>
            </a:r>
          </a:p>
        </p:txBody>
      </p:sp>
      <p:sp>
        <p:nvSpPr>
          <p:cNvPr id="9" name="TextBox 8"/>
          <p:cNvSpPr txBox="1"/>
          <p:nvPr/>
        </p:nvSpPr>
        <p:spPr>
          <a:xfrm>
            <a:off x="365760" y="2468880"/>
            <a:ext cx="7040880" cy="685800"/>
          </a:xfrm>
          <a:prstGeom prst="rect">
            <a:avLst/>
          </a:prstGeom>
          <a:noFill/>
        </p:spPr>
        <p:txBody>
          <a:bodyPr wrap="square"/>
          <a:lstStyle/>
          <a:p>
            <a:pPr algn="l"/>
            <a:r>
              <a:rPr sz="1250" b="0" i="0">
                <a:solidFill>
                  <a:srgbClr val="1A1A2E"/>
                </a:solidFill>
              </a:rPr>
              <a:t>e.g., Recommendation or ProductCatalog. Called directly by Frontend; few or no downstream dependencies. TopFull's entry-level routing sees this bottleneck most directly. Retry amplification is limited to Frontend → service.</a:t>
            </a:r>
          </a:p>
        </p:txBody>
      </p:sp>
      <p:sp>
        <p:nvSpPr>
          <p:cNvPr id="10" name="TextBox 9"/>
          <p:cNvSpPr txBox="1"/>
          <p:nvPr/>
        </p:nvSpPr>
        <p:spPr>
          <a:xfrm>
            <a:off x="365760" y="3200400"/>
            <a:ext cx="7040880" cy="256032"/>
          </a:xfrm>
          <a:prstGeom prst="rect">
            <a:avLst/>
          </a:prstGeom>
          <a:noFill/>
        </p:spPr>
        <p:txBody>
          <a:bodyPr wrap="square"/>
          <a:lstStyle/>
          <a:p>
            <a:pPr algn="l"/>
            <a:r>
              <a:rPr sz="1100" b="1" i="0">
                <a:solidFill>
                  <a:srgbClr val="E86B1F"/>
                </a:solidFill>
              </a:rPr>
              <a:t>(2) Hub / sub-tree root</a:t>
            </a:r>
          </a:p>
        </p:txBody>
      </p:sp>
      <p:sp>
        <p:nvSpPr>
          <p:cNvPr id="11" name="TextBox 10"/>
          <p:cNvSpPr txBox="1"/>
          <p:nvPr/>
        </p:nvSpPr>
        <p:spPr>
          <a:xfrm>
            <a:off x="365760" y="3474720"/>
            <a:ext cx="7040880" cy="685800"/>
          </a:xfrm>
          <a:prstGeom prst="rect">
            <a:avLst/>
          </a:prstGeom>
          <a:noFill/>
        </p:spPr>
        <p:txBody>
          <a:bodyPr wrap="square"/>
          <a:lstStyle/>
          <a:p>
            <a:pPr algn="l"/>
            <a:r>
              <a:rPr sz="1250" b="0" i="0">
                <a:solidFill>
                  <a:srgbClr val="1A1A2E"/>
                </a:solidFill>
              </a:rPr>
              <a:t>e.g., Checkout. Downstream from Frontend but fans out to Cart, Shipping, Currency, ProductCatalog, Email, and Payment. Overloading Checkout creates bidirectional retry amplification: Frontend retries Checkout (upward) while Checkout retries all six downstream callers simultaneously (downward). The hub case is expected to show the most severe amplification. Suppressing retries at Checkout simultaneously relieves pressure across all its downstream callers.</a:t>
            </a:r>
          </a:p>
        </p:txBody>
      </p:sp>
      <p:sp>
        <p:nvSpPr>
          <p:cNvPr id="12" name="TextBox 11"/>
          <p:cNvSpPr txBox="1"/>
          <p:nvPr/>
        </p:nvSpPr>
        <p:spPr>
          <a:xfrm>
            <a:off x="365760" y="4206240"/>
            <a:ext cx="7040880" cy="256032"/>
          </a:xfrm>
          <a:prstGeom prst="rect">
            <a:avLst/>
          </a:prstGeom>
          <a:noFill/>
        </p:spPr>
        <p:txBody>
          <a:bodyPr wrap="square"/>
          <a:lstStyle/>
          <a:p>
            <a:pPr algn="l"/>
            <a:r>
              <a:rPr sz="1100" b="1" i="0">
                <a:solidFill>
                  <a:srgbClr val="E86B1F"/>
                </a:solidFill>
              </a:rPr>
              <a:t>(3) Deep leaf</a:t>
            </a:r>
          </a:p>
        </p:txBody>
      </p:sp>
      <p:sp>
        <p:nvSpPr>
          <p:cNvPr id="13" name="TextBox 12"/>
          <p:cNvSpPr txBox="1"/>
          <p:nvPr/>
        </p:nvSpPr>
        <p:spPr>
          <a:xfrm>
            <a:off x="365760" y="4480560"/>
            <a:ext cx="7040880" cy="685800"/>
          </a:xfrm>
          <a:prstGeom prst="rect">
            <a:avLst/>
          </a:prstGeom>
          <a:noFill/>
        </p:spPr>
        <p:txBody>
          <a:bodyPr wrap="square"/>
          <a:lstStyle/>
          <a:p>
            <a:pPr algn="l"/>
            <a:r>
              <a:rPr sz="1250" b="0" i="0">
                <a:solidFill>
                  <a:srgbClr val="1A1A2E"/>
                </a:solidFill>
              </a:rPr>
              <a:t>e.g., Email or Payment. No downstream dependencies; reachable only through Checkout. Frontend cannot call it directly. TopFull's top-down signal here is most attenuated — the bottleneck is invisible at the entry until Checkout itself starts degrading.</a:t>
            </a:r>
          </a:p>
        </p:txBody>
      </p:sp>
      <p:sp>
        <p:nvSpPr>
          <p:cNvPr id="14" name="TextBox 13"/>
          <p:cNvSpPr txBox="1"/>
          <p:nvPr/>
        </p:nvSpPr>
        <p:spPr>
          <a:xfrm>
            <a:off x="365760" y="5212080"/>
            <a:ext cx="7040880" cy="274320"/>
          </a:xfrm>
          <a:prstGeom prst="rect">
            <a:avLst/>
          </a:prstGeom>
          <a:noFill/>
        </p:spPr>
        <p:txBody>
          <a:bodyPr wrap="square"/>
          <a:lstStyle/>
          <a:p>
            <a:pPr algn="l"/>
            <a:r>
              <a:rPr sz="1100" b="1" i="0">
                <a:solidFill>
                  <a:srgbClr val="1F5F99"/>
                </a:solidFill>
              </a:rPr>
              <a:t>OPEN QUESTION(S) ADDRESSED</a:t>
            </a:r>
          </a:p>
        </p:txBody>
      </p:sp>
      <p:sp>
        <p:nvSpPr>
          <p:cNvPr id="15" name="TextBox 14"/>
          <p:cNvSpPr txBox="1"/>
          <p:nvPr/>
        </p:nvSpPr>
        <p:spPr>
          <a:xfrm>
            <a:off x="365760" y="5486400"/>
            <a:ext cx="7040880" cy="411480"/>
          </a:xfrm>
          <a:prstGeom prst="rect">
            <a:avLst/>
          </a:prstGeom>
          <a:noFill/>
        </p:spPr>
        <p:txBody>
          <a:bodyPr wrap="square"/>
          <a:lstStyle/>
          <a:p>
            <a:pPr algn="l"/>
            <a:r>
              <a:rPr sz="1300" b="0" i="0">
                <a:solidFill>
                  <a:srgbClr val="1A1A2E"/>
                </a:solidFill>
              </a:rPr>
              <a:t>Topology position sensitivity, topology beneficiaries, chain propagation</a:t>
            </a:r>
          </a:p>
        </p:txBody>
      </p:sp>
      <p:pic>
        <p:nvPicPr>
          <p:cNvPr id="16" name="Picture 15" descr="Online-Boutique-architecture.png"/>
          <p:cNvPicPr>
            <a:picLocks noChangeAspect="1"/>
          </p:cNvPicPr>
          <p:nvPr/>
        </p:nvPicPr>
        <p:blipFill>
          <a:blip r:embed="rId2"/>
          <a:stretch>
            <a:fillRect/>
          </a:stretch>
        </p:blipFill>
        <p:spPr>
          <a:xfrm>
            <a:off x="7589520" y="1280160"/>
            <a:ext cx="4206240" cy="5029200"/>
          </a:xfrm>
          <a:prstGeom prst="rect">
            <a:avLst/>
          </a:prstGeom>
        </p:spPr>
      </p:pic>
      <p:sp>
        <p:nvSpPr>
          <p:cNvPr id="17" name="TextBox 16"/>
          <p:cNvSpPr txBox="1"/>
          <p:nvPr/>
        </p:nvSpPr>
        <p:spPr>
          <a:xfrm>
            <a:off x="7589520" y="6355080"/>
            <a:ext cx="4206240" cy="320040"/>
          </a:xfrm>
          <a:prstGeom prst="rect">
            <a:avLst/>
          </a:prstGeom>
          <a:noFill/>
        </p:spPr>
        <p:txBody>
          <a:bodyPr wrap="square"/>
          <a:lstStyle/>
          <a:p>
            <a:pPr algn="l"/>
            <a:r>
              <a:rPr sz="900" b="0" i="1">
                <a:solidFill>
                  <a:srgbClr val="55556B"/>
                </a:solidFill>
              </a:rPr>
              <a:t>Annotate: circle ProductCatalog (pos. 1), Checkout (pos. 2), Email/Payment (pos.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Re-enable Interval Tuning</a:t>
            </a:r>
          </a:p>
          <a:p>
            <a:r>
              <a:rPr sz="1300" b="0">
                <a:solidFill>
                  <a:srgbClr val="B0C8E8"/>
                </a:solidFill>
              </a:rPr>
              <a:t>§7 — Load scenario 5 of 6</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(5/6)</a:t>
            </a:r>
          </a:p>
        </p:txBody>
      </p:sp>
      <p:sp>
        <p:nvSpPr>
          <p:cNvPr id="7" name="TextBox 6"/>
          <p:cNvSpPr txBox="1"/>
          <p:nvPr/>
        </p:nvSpPr>
        <p:spPr>
          <a:xfrm>
            <a:off x="365760" y="1508760"/>
            <a:ext cx="11430000" cy="274320"/>
          </a:xfrm>
          <a:prstGeom prst="rect">
            <a:avLst/>
          </a:prstGeom>
          <a:noFill/>
        </p:spPr>
        <p:txBody>
          <a:bodyPr wrap="square"/>
          <a:lstStyle/>
          <a:p>
            <a:pPr algn="l"/>
            <a:r>
              <a:rPr sz="1100" b="1" i="0">
                <a:solidFill>
                  <a:srgbClr val="1F5F99"/>
                </a:solidFill>
              </a:rPr>
              <a:t>WHAT HAPPENS IN THE SYSTEM</a:t>
            </a:r>
          </a:p>
        </p:txBody>
      </p:sp>
      <p:sp>
        <p:nvSpPr>
          <p:cNvPr id="8" name="TextBox 7"/>
          <p:cNvSpPr txBox="1"/>
          <p:nvPr/>
        </p:nvSpPr>
        <p:spPr>
          <a:xfrm>
            <a:off x="365760" y="1783080"/>
            <a:ext cx="11430000" cy="594360"/>
          </a:xfrm>
          <a:prstGeom prst="rect">
            <a:avLst/>
          </a:prstGeom>
          <a:noFill/>
        </p:spPr>
        <p:txBody>
          <a:bodyPr wrap="square"/>
          <a:lstStyle/>
          <a:p>
            <a:pPr algn="l"/>
            <a:r>
              <a:rPr sz="1350" b="0" i="0">
                <a:solidFill>
                  <a:srgbClr val="1A1A2E"/>
                </a:solidFill>
              </a:rPr>
              <a:t>The Sustained Overload scenario is run multiple times, holding all parameters constant and varying only RetryGuard's re-enable interval — the Interval parameter in Algorithm 1. Test values: 10s, 20s, 30s (paper default from Sec. 6.2), 60s.</a:t>
            </a:r>
          </a:p>
        </p:txBody>
      </p:sp>
      <p:sp>
        <p:nvSpPr>
          <p:cNvPr id="9" name="Rectangle 8"/>
          <p:cNvSpPr/>
          <p:nvPr/>
        </p:nvSpPr>
        <p:spPr>
          <a:xfrm>
            <a:off x="365760" y="251460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651760"/>
            <a:ext cx="11430000" cy="274320"/>
          </a:xfrm>
          <a:prstGeom prst="rect">
            <a:avLst/>
          </a:prstGeom>
          <a:noFill/>
        </p:spPr>
        <p:txBody>
          <a:bodyPr wrap="square"/>
          <a:lstStyle/>
          <a:p>
            <a:pPr algn="l"/>
            <a:r>
              <a:rPr sz="1100" b="1" i="0">
                <a:solidFill>
                  <a:srgbClr val="1F5F99"/>
                </a:solidFill>
              </a:rPr>
              <a:t>WHAT IT TESTS</a:t>
            </a:r>
          </a:p>
        </p:txBody>
      </p:sp>
      <p:sp>
        <p:nvSpPr>
          <p:cNvPr id="11" name="TextBox 10"/>
          <p:cNvSpPr txBox="1"/>
          <p:nvPr/>
        </p:nvSpPr>
        <p:spPr>
          <a:xfrm>
            <a:off x="365760" y="2971800"/>
            <a:ext cx="11430000" cy="2103120"/>
          </a:xfrm>
          <a:prstGeom prst="rect">
            <a:avLst/>
          </a:prstGeom>
          <a:noFill/>
        </p:spPr>
        <p:txBody>
          <a:bodyPr wrap="square">
            <a:spAutoFit/>
          </a:bodyPr>
          <a:lstStyle/>
          <a:p>
            <a:pPr algn="l">
              <a:spcBef>
                <a:spcPts val="200"/>
              </a:spcBef>
              <a:spcAft>
                <a:spcPts val="0"/>
              </a:spcAft>
            </a:pPr>
            <a:r>
              <a:rPr sz="1300" b="0">
                <a:solidFill>
                  <a:srgbClr val="1A1A2E"/>
                </a:solidFill>
              </a:rPr>
              <a:t>•  Too short (e.g., 10s): risks premature re-enabling before the bottleneck has fully cleared, potentially re-triggering overload.</a:t>
            </a:r>
          </a:p>
          <a:p>
            <a:pPr algn="l">
              <a:spcBef>
                <a:spcPts val="200"/>
              </a:spcBef>
              <a:spcAft>
                <a:spcPts val="0"/>
              </a:spcAft>
            </a:pPr>
            <a:r>
              <a:rPr sz="1300" b="0">
                <a:solidFill>
                  <a:srgbClr val="1A1A2E"/>
                </a:solidFill>
              </a:rPr>
              <a:t>•  Too long (e.g., 60s): keeps retries suppressed after the bottleneck has cleared, slowing throughput recovery unnecessarily.</a:t>
            </a:r>
          </a:p>
          <a:p>
            <a:pPr algn="l">
              <a:spcBef>
                <a:spcPts val="200"/>
              </a:spcBef>
              <a:spcAft>
                <a:spcPts val="0"/>
              </a:spcAft>
            </a:pPr>
            <a:r>
              <a:rPr sz="1300" b="0">
                <a:solidFill>
                  <a:srgbClr val="1A1A2E"/>
                </a:solidFill>
              </a:rPr>
              <a:t>•  The paper's 30s default was validated without a co-running top-down controller. With TopFull's RL adjusting admission rates every 1 second, recovery dynamics may be faster or more oscillatory than in the original RetryGuard experiments.</a:t>
            </a:r>
          </a:p>
          <a:p>
            <a:pPr algn="l">
              <a:spcBef>
                <a:spcPts val="200"/>
              </a:spcBef>
              <a:spcAft>
                <a:spcPts val="0"/>
              </a:spcAft>
            </a:pPr>
            <a:r>
              <a:rPr sz="1300" b="0">
                <a:solidFill>
                  <a:srgbClr val="1A1A2E"/>
                </a:solidFill>
              </a:rPr>
              <a:t>•  Does the optimal interval shift in this context? There is no established answer for the TopFull + RetryGuard combination.</a:t>
            </a:r>
          </a:p>
        </p:txBody>
      </p:sp>
      <p:sp>
        <p:nvSpPr>
          <p:cNvPr id="12" name="Rectangle 11"/>
          <p:cNvSpPr/>
          <p:nvPr/>
        </p:nvSpPr>
        <p:spPr>
          <a:xfrm>
            <a:off x="365760" y="51663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303520"/>
            <a:ext cx="11430000" cy="274320"/>
          </a:xfrm>
          <a:prstGeom prst="rect">
            <a:avLst/>
          </a:prstGeom>
          <a:noFill/>
        </p:spPr>
        <p:txBody>
          <a:bodyPr wrap="square"/>
          <a:lstStyle/>
          <a:p>
            <a:pPr algn="l"/>
            <a:r>
              <a:rPr sz="1100" b="1" i="0">
                <a:solidFill>
                  <a:srgbClr val="1F5F99"/>
                </a:solidFill>
              </a:rPr>
              <a:t>OPEN QUESTION(S) ADDRESSED</a:t>
            </a:r>
          </a:p>
        </p:txBody>
      </p:sp>
      <p:sp>
        <p:nvSpPr>
          <p:cNvPr id="14" name="TextBox 13"/>
          <p:cNvSpPr txBox="1"/>
          <p:nvPr/>
        </p:nvSpPr>
        <p:spPr>
          <a:xfrm>
            <a:off x="365760" y="5577840"/>
            <a:ext cx="11430000" cy="457200"/>
          </a:xfrm>
          <a:prstGeom prst="rect">
            <a:avLst/>
          </a:prstGeom>
          <a:noFill/>
        </p:spPr>
        <p:txBody>
          <a:bodyPr wrap="square"/>
          <a:lstStyle/>
          <a:p>
            <a:pPr algn="l"/>
            <a:r>
              <a:rPr sz="1300" b="0" i="0">
                <a:solidFill>
                  <a:srgbClr val="1A1A2E"/>
                </a:solidFill>
              </a:rPr>
              <a:t>Interval parameter sensitivity, combined equilibrium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Scenario: Attack Traffic</a:t>
            </a:r>
          </a:p>
          <a:p>
            <a:r>
              <a:rPr sz="1300" b="0">
                <a:solidFill>
                  <a:srgbClr val="B0C8E8"/>
                </a:solidFill>
              </a:rPr>
              <a:t>§7 — Load scenario 6 of 6  ·  Extension, time-permitting</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7 OF 9 (6/6)</a:t>
            </a:r>
          </a:p>
        </p:txBody>
      </p:sp>
      <p:sp>
        <p:nvSpPr>
          <p:cNvPr id="7" name="Rectangle 6"/>
          <p:cNvSpPr/>
          <p:nvPr/>
        </p:nvSpPr>
        <p:spPr>
          <a:xfrm>
            <a:off x="365760" y="1508760"/>
            <a:ext cx="11430000" cy="347472"/>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36192"/>
            <a:ext cx="11247120" cy="292608"/>
          </a:xfrm>
          <a:prstGeom prst="rect">
            <a:avLst/>
          </a:prstGeom>
          <a:noFill/>
        </p:spPr>
        <p:txBody>
          <a:bodyPr wrap="square"/>
          <a:lstStyle/>
          <a:p>
            <a:pPr algn="l"/>
            <a:r>
              <a:rPr sz="1200" b="1" i="0">
                <a:solidFill>
                  <a:srgbClr val="FFFFFF"/>
                </a:solidFill>
              </a:rPr>
              <a:t>TIME-PERMITTING EXTENSION — this scenario will only be run if Scenarios 1–5 are complete</a:t>
            </a:r>
          </a:p>
        </p:txBody>
      </p:sp>
      <p:sp>
        <p:nvSpPr>
          <p:cNvPr id="9" name="TextBox 8"/>
          <p:cNvSpPr txBox="1"/>
          <p:nvPr/>
        </p:nvSpPr>
        <p:spPr>
          <a:xfrm>
            <a:off x="365760" y="2011680"/>
            <a:ext cx="11430000" cy="274320"/>
          </a:xfrm>
          <a:prstGeom prst="rect">
            <a:avLst/>
          </a:prstGeom>
          <a:noFill/>
        </p:spPr>
        <p:txBody>
          <a:bodyPr wrap="square"/>
          <a:lstStyle/>
          <a:p>
            <a:pPr algn="l"/>
            <a:r>
              <a:rPr sz="1100" b="1" i="0">
                <a:solidFill>
                  <a:srgbClr val="1F5F99"/>
                </a:solidFill>
              </a:rPr>
              <a:t>WHAT HAPPENS IN THE SYSTEM</a:t>
            </a:r>
          </a:p>
        </p:txBody>
      </p:sp>
      <p:sp>
        <p:nvSpPr>
          <p:cNvPr id="10" name="TextBox 9"/>
          <p:cNvSpPr txBox="1"/>
          <p:nvPr/>
        </p:nvSpPr>
        <p:spPr>
          <a:xfrm>
            <a:off x="365760" y="2286000"/>
            <a:ext cx="11430000" cy="640080"/>
          </a:xfrm>
          <a:prstGeom prst="rect">
            <a:avLst/>
          </a:prstGeom>
          <a:noFill/>
        </p:spPr>
        <p:txBody>
          <a:bodyPr wrap="square"/>
          <a:lstStyle/>
          <a:p>
            <a:pPr algn="l"/>
            <a:r>
              <a:rPr sz="1350" b="0" i="0">
                <a:solidFill>
                  <a:srgbClr val="1A1A2E"/>
                </a:solidFill>
              </a:rPr>
              <a:t>A malicious burst-DDoS traffic pattern simulates an attacker attempting to exploit retry amplification. The attack sends short, concentrated bursts designed to push one or more services into ρ &gt; 1 briefly, then relies on retry amplification to sustain the overload longer than the attack itself.</a:t>
            </a:r>
          </a:p>
        </p:txBody>
      </p:sp>
      <p:sp>
        <p:nvSpPr>
          <p:cNvPr id="11" name="Rectangle 10"/>
          <p:cNvSpPr/>
          <p:nvPr/>
        </p:nvSpPr>
        <p:spPr>
          <a:xfrm>
            <a:off x="365760" y="30632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200400"/>
            <a:ext cx="11430000" cy="274320"/>
          </a:xfrm>
          <a:prstGeom prst="rect">
            <a:avLst/>
          </a:prstGeom>
          <a:noFill/>
        </p:spPr>
        <p:txBody>
          <a:bodyPr wrap="square"/>
          <a:lstStyle/>
          <a:p>
            <a:pPr algn="l"/>
            <a:r>
              <a:rPr sz="1100" b="1" i="0">
                <a:solidFill>
                  <a:srgbClr val="1F5F99"/>
                </a:solidFill>
              </a:rPr>
              <a:t>WHAT IT TESTS</a:t>
            </a:r>
          </a:p>
        </p:txBody>
      </p:sp>
      <p:sp>
        <p:nvSpPr>
          <p:cNvPr id="13" name="TextBox 12"/>
          <p:cNvSpPr txBox="1"/>
          <p:nvPr/>
        </p:nvSpPr>
        <p:spPr>
          <a:xfrm>
            <a:off x="365760" y="3474720"/>
            <a:ext cx="11430000" cy="640080"/>
          </a:xfrm>
          <a:prstGeom prst="rect">
            <a:avLst/>
          </a:prstGeom>
          <a:noFill/>
        </p:spPr>
        <p:txBody>
          <a:bodyPr wrap="square"/>
          <a:lstStyle/>
          <a:p>
            <a:pPr algn="l"/>
            <a:r>
              <a:rPr sz="1350" b="0" i="0">
                <a:solidFill>
                  <a:srgbClr val="1A1A2E"/>
                </a:solidFill>
              </a:rPr>
              <a:t>Does hostile load trip RetryGuard at the wrong time — suppressing retries for legitimate requests when the high rejection rate is caused by an attacker, not by genuine service overload? Or does RetryGuard correctly suppress retry storms caused by the attack and blunt the amplification effect without disrupting healthy service flows?</a:t>
            </a:r>
          </a:p>
        </p:txBody>
      </p:sp>
      <p:sp>
        <p:nvSpPr>
          <p:cNvPr id="14" name="Rectangle 13"/>
          <p:cNvSpPr/>
          <p:nvPr/>
        </p:nvSpPr>
        <p:spPr>
          <a:xfrm>
            <a:off x="365760" y="42519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389120"/>
            <a:ext cx="11430000" cy="274320"/>
          </a:xfrm>
          <a:prstGeom prst="rect">
            <a:avLst/>
          </a:prstGeom>
          <a:noFill/>
        </p:spPr>
        <p:txBody>
          <a:bodyPr wrap="square"/>
          <a:lstStyle/>
          <a:p>
            <a:pPr algn="l"/>
            <a:r>
              <a:rPr sz="1100" b="1" i="0">
                <a:solidFill>
                  <a:srgbClr val="1F5F99"/>
                </a:solidFill>
              </a:rPr>
              <a:t>OPEN QUESTION(S) ADDRESSED</a:t>
            </a:r>
          </a:p>
        </p:txBody>
      </p:sp>
      <p:sp>
        <p:nvSpPr>
          <p:cNvPr id="16" name="TextBox 15"/>
          <p:cNvSpPr txBox="1"/>
          <p:nvPr/>
        </p:nvSpPr>
        <p:spPr>
          <a:xfrm>
            <a:off x="365760" y="4663440"/>
            <a:ext cx="11430000" cy="411480"/>
          </a:xfrm>
          <a:prstGeom prst="rect">
            <a:avLst/>
          </a:prstGeom>
          <a:noFill/>
        </p:spPr>
        <p:txBody>
          <a:bodyPr wrap="square"/>
          <a:lstStyle/>
          <a:p>
            <a:pPr algn="l"/>
            <a:r>
              <a:rPr sz="1300" b="0" i="0">
                <a:solidFill>
                  <a:srgbClr val="1A1A2E"/>
                </a:solidFill>
              </a:rPr>
              <a:t>Adversarial resilience — the RetryGuard paper (2025) notes DDoS amplification mitigation as a secondary benefit. This scenario tests that claim in the TopFull+Kubernetes context.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Metrics</a:t>
            </a:r>
          </a:p>
          <a:p>
            <a:r>
              <a:rPr sz="1300" b="0">
                <a:solidFill>
                  <a:srgbClr val="B0C8E8"/>
                </a:solidFill>
              </a:rPr>
              <a:t>§8 — Three layers of measurement (1/2)</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8 OF 9 (1/2)</a:t>
            </a:r>
          </a:p>
        </p:txBody>
      </p:sp>
      <p:sp>
        <p:nvSpPr>
          <p:cNvPr id="7" name="Rectangle 6"/>
          <p:cNvSpPr/>
          <p:nvPr/>
        </p:nvSpPr>
        <p:spPr>
          <a:xfrm>
            <a:off x="365760" y="1508760"/>
            <a:ext cx="73152" cy="137160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11064240" cy="274320"/>
          </a:xfrm>
          <a:prstGeom prst="rect">
            <a:avLst/>
          </a:prstGeom>
          <a:noFill/>
        </p:spPr>
        <p:txBody>
          <a:bodyPr wrap="square"/>
          <a:lstStyle/>
          <a:p>
            <a:pPr algn="l"/>
            <a:r>
              <a:rPr sz="1200" b="1" i="0">
                <a:solidFill>
                  <a:srgbClr val="1F5F99"/>
                </a:solidFill>
              </a:rPr>
              <a:t>LAYER 1 — System &amp; API Performance</a:t>
            </a:r>
          </a:p>
        </p:txBody>
      </p:sp>
      <p:sp>
        <p:nvSpPr>
          <p:cNvPr id="9" name="TextBox 8"/>
          <p:cNvSpPr txBox="1"/>
          <p:nvPr/>
        </p:nvSpPr>
        <p:spPr>
          <a:xfrm>
            <a:off x="548640" y="1737360"/>
            <a:ext cx="5029200" cy="256032"/>
          </a:xfrm>
          <a:prstGeom prst="rect">
            <a:avLst/>
          </a:prstGeom>
          <a:noFill/>
        </p:spPr>
        <p:txBody>
          <a:bodyPr wrap="square"/>
          <a:lstStyle/>
          <a:p>
            <a:pPr algn="l"/>
            <a:r>
              <a:rPr sz="1050" b="0" i="1">
                <a:solidFill>
                  <a:srgbClr val="55556B"/>
                </a:solidFill>
              </a:rPr>
              <a:t>Source: TopFull's metric_collector.py → CSVs in logs/</a:t>
            </a:r>
          </a:p>
        </p:txBody>
      </p:sp>
      <p:sp>
        <p:nvSpPr>
          <p:cNvPr id="10" name="TextBox 9"/>
          <p:cNvSpPr txBox="1"/>
          <p:nvPr/>
        </p:nvSpPr>
        <p:spPr>
          <a:xfrm>
            <a:off x="548640" y="2011680"/>
            <a:ext cx="11064240" cy="914400"/>
          </a:xfrm>
          <a:prstGeom prst="rect">
            <a:avLst/>
          </a:prstGeom>
          <a:noFill/>
        </p:spPr>
        <p:txBody>
          <a:bodyPr wrap="square">
            <a:spAutoFit/>
          </a:bodyPr>
          <a:lstStyle/>
          <a:p>
            <a:pPr algn="l">
              <a:spcBef>
                <a:spcPts val="200"/>
              </a:spcBef>
              <a:spcAft>
                <a:spcPts val="0"/>
              </a:spcAft>
            </a:pPr>
            <a:r>
              <a:rPr sz="1250" b="0">
                <a:solidFill>
                  <a:srgbClr val="1A1A2E"/>
                </a:solidFill>
              </a:rPr>
              <a:t>•  Goodput and latency per API (getcart, getproduct, postcheckout, etc.) — primary outcome metrics. Latency SLO: 1 second (as used in TopFull paper evaluation).</a:t>
            </a:r>
          </a:p>
          <a:p>
            <a:pPr algn="l">
              <a:spcBef>
                <a:spcPts val="200"/>
              </a:spcBef>
              <a:spcAft>
                <a:spcPts val="0"/>
              </a:spcAft>
            </a:pPr>
            <a:r>
              <a:rPr sz="1250" b="0">
                <a:solidFill>
                  <a:srgbClr val="1A1A2E"/>
                </a:solidFill>
              </a:rPr>
              <a:t>•  Rejection rate per API — the signal RetryGuard's controller reads to decide whether to suppress retries.</a:t>
            </a:r>
          </a:p>
          <a:p>
            <a:pPr algn="l">
              <a:spcBef>
                <a:spcPts val="200"/>
              </a:spcBef>
              <a:spcAft>
                <a:spcPts val="0"/>
              </a:spcAft>
            </a:pPr>
            <a:r>
              <a:rPr sz="1250" b="0">
                <a:solidFill>
                  <a:srgbClr val="1A1A2E"/>
                </a:solidFill>
              </a:rPr>
              <a:t>•  Retries per request — the most direct measure of whether RetryGuard is working. Compare against RetryGuard paper Table 1 benchmarks (Istio: 0.31 → 0.01).</a:t>
            </a:r>
          </a:p>
        </p:txBody>
      </p:sp>
      <p:sp>
        <p:nvSpPr>
          <p:cNvPr id="11" name="Rectangle 10"/>
          <p:cNvSpPr/>
          <p:nvPr/>
        </p:nvSpPr>
        <p:spPr>
          <a:xfrm>
            <a:off x="365760" y="315468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291840"/>
            <a:ext cx="73152" cy="141732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291840"/>
            <a:ext cx="11064240" cy="274320"/>
          </a:xfrm>
          <a:prstGeom prst="rect">
            <a:avLst/>
          </a:prstGeom>
          <a:noFill/>
        </p:spPr>
        <p:txBody>
          <a:bodyPr wrap="square"/>
          <a:lstStyle/>
          <a:p>
            <a:pPr algn="l"/>
            <a:r>
              <a:rPr sz="1200" b="1" i="0">
                <a:solidFill>
                  <a:srgbClr val="E86B1F"/>
                </a:solidFill>
              </a:rPr>
              <a:t>LAYER 2 — Infrastructure Resource Usage</a:t>
            </a:r>
          </a:p>
        </p:txBody>
      </p:sp>
      <p:sp>
        <p:nvSpPr>
          <p:cNvPr id="14" name="TextBox 13"/>
          <p:cNvSpPr txBox="1"/>
          <p:nvPr/>
        </p:nvSpPr>
        <p:spPr>
          <a:xfrm>
            <a:off x="548640" y="3520440"/>
            <a:ext cx="5029200" cy="256032"/>
          </a:xfrm>
          <a:prstGeom prst="rect">
            <a:avLst/>
          </a:prstGeom>
          <a:noFill/>
        </p:spPr>
        <p:txBody>
          <a:bodyPr wrap="square"/>
          <a:lstStyle/>
          <a:p>
            <a:pPr algn="l"/>
            <a:r>
              <a:rPr sz="1050" b="0" i="1">
                <a:solidFill>
                  <a:srgbClr val="55556B"/>
                </a:solidFill>
              </a:rPr>
              <a:t>Source: cAdvisor via resource_collector.py</a:t>
            </a:r>
          </a:p>
        </p:txBody>
      </p:sp>
      <p:sp>
        <p:nvSpPr>
          <p:cNvPr id="15" name="TextBox 14"/>
          <p:cNvSpPr txBox="1"/>
          <p:nvPr/>
        </p:nvSpPr>
        <p:spPr>
          <a:xfrm>
            <a:off x="548640" y="3794760"/>
            <a:ext cx="11064240" cy="914400"/>
          </a:xfrm>
          <a:prstGeom prst="rect">
            <a:avLst/>
          </a:prstGeom>
          <a:noFill/>
        </p:spPr>
        <p:txBody>
          <a:bodyPr wrap="square">
            <a:spAutoFit/>
          </a:bodyPr>
          <a:lstStyle/>
          <a:p>
            <a:pPr algn="l">
              <a:spcBef>
                <a:spcPts val="200"/>
              </a:spcBef>
              <a:spcAft>
                <a:spcPts val="0"/>
              </a:spcAft>
            </a:pPr>
            <a:r>
              <a:rPr sz="1250" b="0">
                <a:solidFill>
                  <a:srgbClr val="1A1A2E"/>
                </a:solidFill>
              </a:rPr>
              <a:t>•  CPU consumption and memory limits per pod — tracks whether retry suppression actually frees up resources at the service level.</a:t>
            </a:r>
          </a:p>
          <a:p>
            <a:pPr algn="l">
              <a:spcBef>
                <a:spcPts val="200"/>
              </a:spcBef>
              <a:spcAft>
                <a:spcPts val="0"/>
              </a:spcAft>
            </a:pPr>
            <a:r>
              <a:rPr sz="1250" b="0">
                <a:solidFill>
                  <a:srgbClr val="1A1A2E"/>
                </a:solidFill>
              </a:rPr>
              <a:t>•  Pod instance counts over time (num_instances.csv) — shows how autoscaling responds under each condition and whether over-scaling is prevented. Key finding in RetryGuard paper Sec. 6.2.</a:t>
            </a:r>
          </a:p>
        </p:txBody>
      </p:sp>
      <p:sp>
        <p:nvSpPr>
          <p:cNvPr id="16" name="Rectangle 15"/>
          <p:cNvSpPr/>
          <p:nvPr/>
        </p:nvSpPr>
        <p:spPr>
          <a:xfrm>
            <a:off x="365760" y="489204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029200"/>
            <a:ext cx="11064240" cy="502920"/>
          </a:xfrm>
          <a:prstGeom prst="rect">
            <a:avLst/>
          </a:prstGeom>
          <a:noFill/>
        </p:spPr>
        <p:txBody>
          <a:bodyPr wrap="square"/>
          <a:lstStyle/>
          <a:p>
            <a:pPr algn="l"/>
            <a:r>
              <a:rPr sz="1300" b="0" i="1">
                <a:solidFill>
                  <a:srgbClr val="1A1A2E"/>
                </a:solidFill>
              </a:rPr>
              <a:t>All data synthesized into comparative time-series charts: baseline run vs. RetryGuard run, side by side across the same metrics.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Metrics (continued)</a:t>
            </a:r>
          </a:p>
          <a:p>
            <a:r>
              <a:rPr sz="1300" b="0">
                <a:solidFill>
                  <a:srgbClr val="B0C8E8"/>
                </a:solidFill>
              </a:rPr>
              <a:t>§8 — Three layers of measurement (2/2)</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8 OF 9 (2/2)</a:t>
            </a:r>
          </a:p>
        </p:txBody>
      </p:sp>
      <p:sp>
        <p:nvSpPr>
          <p:cNvPr id="7" name="Rectangle 6"/>
          <p:cNvSpPr/>
          <p:nvPr/>
        </p:nvSpPr>
        <p:spPr>
          <a:xfrm>
            <a:off x="365760" y="1508760"/>
            <a:ext cx="73152" cy="192024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11064240" cy="274320"/>
          </a:xfrm>
          <a:prstGeom prst="rect">
            <a:avLst/>
          </a:prstGeom>
          <a:noFill/>
        </p:spPr>
        <p:txBody>
          <a:bodyPr wrap="square"/>
          <a:lstStyle/>
          <a:p>
            <a:pPr algn="l"/>
            <a:r>
              <a:rPr sz="1200" b="1" i="0">
                <a:solidFill>
                  <a:srgbClr val="1A2E4A"/>
                </a:solidFill>
              </a:rPr>
              <a:t>LAYER 3 — Controller Logic &amp; State</a:t>
            </a:r>
          </a:p>
        </p:txBody>
      </p:sp>
      <p:sp>
        <p:nvSpPr>
          <p:cNvPr id="9" name="TextBox 8"/>
          <p:cNvSpPr txBox="1"/>
          <p:nvPr/>
        </p:nvSpPr>
        <p:spPr>
          <a:xfrm>
            <a:off x="548640" y="1737360"/>
            <a:ext cx="6400800" cy="256032"/>
          </a:xfrm>
          <a:prstGeom prst="rect">
            <a:avLst/>
          </a:prstGeom>
          <a:noFill/>
        </p:spPr>
        <p:txBody>
          <a:bodyPr wrap="square"/>
          <a:lstStyle/>
          <a:p>
            <a:pPr algn="l"/>
            <a:r>
              <a:rPr sz="1050" b="0" i="1">
                <a:solidFill>
                  <a:srgbClr val="55556B"/>
                </a:solidFill>
              </a:rPr>
              <a:t>Source: our RetryGuard script logs  +  TopFull's overload_detection.py</a:t>
            </a:r>
          </a:p>
        </p:txBody>
      </p:sp>
      <p:sp>
        <p:nvSpPr>
          <p:cNvPr id="10" name="TextBox 9"/>
          <p:cNvSpPr txBox="1"/>
          <p:nvPr/>
        </p:nvSpPr>
        <p:spPr>
          <a:xfrm>
            <a:off x="548640" y="2011680"/>
            <a:ext cx="11064240" cy="1554480"/>
          </a:xfrm>
          <a:prstGeom prst="rect">
            <a:avLst/>
          </a:prstGeom>
          <a:noFill/>
        </p:spPr>
        <p:txBody>
          <a:bodyPr wrap="square">
            <a:spAutoFit/>
          </a:bodyPr>
          <a:lstStyle/>
          <a:p>
            <a:pPr algn="l">
              <a:spcBef>
                <a:spcPts val="200"/>
              </a:spcBef>
              <a:spcAft>
                <a:spcPts val="0"/>
              </a:spcAft>
            </a:pPr>
            <a:r>
              <a:rPr sz="1250" b="0">
                <a:solidFill>
                  <a:srgbClr val="1A1A2E"/>
                </a:solidFill>
              </a:rPr>
              <a:t>•  Which services had retries toggled off (and when) — ties controller decisions to the topology beneficiaries question. Each toggle event is logged with timestamp, service name, and the rejection rate that triggered it.</a:t>
            </a:r>
          </a:p>
          <a:p>
            <a:pPr algn="l">
              <a:spcBef>
                <a:spcPts val="200"/>
              </a:spcBef>
              <a:spcAft>
                <a:spcPts val="0"/>
              </a:spcAft>
            </a:pPr>
            <a:r>
              <a:rPr sz="1250" b="0">
                <a:solidFill>
                  <a:srgbClr val="1A1A2E"/>
                </a:solidFill>
              </a:rPr>
              <a:t>•  Time-to-recovery: how long between retry suppression and re-enablement — shows the cool-down cycle in practice and is directly relevant to the interval parameter sensitivity question.</a:t>
            </a:r>
          </a:p>
          <a:p>
            <a:pPr algn="l">
              <a:spcBef>
                <a:spcPts val="200"/>
              </a:spcBef>
              <a:spcAft>
                <a:spcPts val="0"/>
              </a:spcAft>
            </a:pPr>
            <a:r>
              <a:rPr sz="1250" b="0">
                <a:solidFill>
                  <a:srgbClr val="1A1A2E"/>
                </a:solidFill>
              </a:rPr>
              <a:t>•  Business priority context from TopFull's overload_detection.py — which APIs were flagged as overloaded and at what priority level, so RetryGuard decisions can be cross-referenced with TopFull's simultaneous state.</a:t>
            </a:r>
          </a:p>
        </p:txBody>
      </p:sp>
      <p:sp>
        <p:nvSpPr>
          <p:cNvPr id="11" name="Rectangle 10"/>
          <p:cNvSpPr/>
          <p:nvPr/>
        </p:nvSpPr>
        <p:spPr>
          <a:xfrm>
            <a:off x="365760" y="3749039"/>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931920"/>
            <a:ext cx="11430000" cy="274320"/>
          </a:xfrm>
          <a:prstGeom prst="rect">
            <a:avLst/>
          </a:prstGeom>
          <a:noFill/>
        </p:spPr>
        <p:txBody>
          <a:bodyPr wrap="square"/>
          <a:lstStyle/>
          <a:p>
            <a:pPr algn="l"/>
            <a:r>
              <a:rPr sz="1100" b="1" i="0">
                <a:solidFill>
                  <a:srgbClr val="1F5F99"/>
                </a:solidFill>
              </a:rPr>
              <a:t>CROSS-REFERENCING STRATEGY</a:t>
            </a:r>
          </a:p>
        </p:txBody>
      </p:sp>
      <p:sp>
        <p:nvSpPr>
          <p:cNvPr id="13" name="TextBox 12"/>
          <p:cNvSpPr txBox="1"/>
          <p:nvPr/>
        </p:nvSpPr>
        <p:spPr>
          <a:xfrm>
            <a:off x="365760" y="4251960"/>
            <a:ext cx="11430000" cy="1005840"/>
          </a:xfrm>
          <a:prstGeom prst="rect">
            <a:avLst/>
          </a:prstGeom>
          <a:noFill/>
        </p:spPr>
        <p:txBody>
          <a:bodyPr wrap="square"/>
          <a:lstStyle/>
          <a:p>
            <a:pPr algn="l"/>
            <a:r>
              <a:rPr sz="1300" b="0" i="0">
                <a:solidFill>
                  <a:srgbClr val="1A1A2E"/>
                </a:solidFill>
              </a:rPr>
              <a:t>RetryGuard reads Istio/Envoy sidecar metrics (HTTP error rates at each service) — a different measurement point from TopFull's entry-proxy collectors. To understand the combined system behavior, we correlate:
• RetryGuard toggle events (Layer 3) with goodput changes in Layer 1
• Resource drops (Layer 2) with service-specific retry suppression (Layer 3)
• TopFull's overload_detection.py state with RetryGuard's per-service decisions</a:t>
            </a:r>
          </a:p>
        </p:txBody>
      </p:sp>
      <p:sp>
        <p:nvSpPr>
          <p:cNvPr id="14" name="Rectangle 13"/>
          <p:cNvSpPr/>
          <p:nvPr/>
        </p:nvSpPr>
        <p:spPr>
          <a:xfrm>
            <a:off x="365760" y="53949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5532120"/>
            <a:ext cx="11430000" cy="411480"/>
          </a:xfrm>
          <a:prstGeom prst="rect">
            <a:avLst/>
          </a:prstGeom>
          <a:noFill/>
        </p:spPr>
        <p:txBody>
          <a:bodyPr wrap="square"/>
          <a:lstStyle/>
          <a:p>
            <a:pPr algn="l"/>
            <a:r>
              <a:rPr sz="1000" b="0" i="1">
                <a:solidFill>
                  <a:srgbClr val="55556B"/>
                </a:solidFill>
              </a:rPr>
              <a:t>Source: PRESENTATION-GUIDE.md §8, WORKPLAN.md (key metrics tables), PRESENTATION-ACTION-ITEMS.md §8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Timeline &amp; Milestones</a:t>
            </a:r>
          </a:p>
          <a:p>
            <a:r>
              <a:rPr sz="1300" b="0">
                <a:solidFill>
                  <a:srgbClr val="B0C8E8"/>
                </a:solidFill>
              </a:rPr>
              <a:t>§9 — What happens and when</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2011680" cy="274320"/>
          </a:xfrm>
          <a:prstGeom prst="rect">
            <a:avLst/>
          </a:prstGeom>
          <a:solidFill>
            <a:srgbClr val="1F5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68400"/>
            <a:ext cx="1920240" cy="256032"/>
          </a:xfrm>
          <a:prstGeom prst="rect">
            <a:avLst/>
          </a:prstGeom>
          <a:noFill/>
        </p:spPr>
        <p:txBody>
          <a:bodyPr wrap="none">
            <a:spAutoFit/>
          </a:bodyPr>
          <a:lstStyle/>
          <a:p>
            <a:r>
              <a:rPr sz="950" b="1">
                <a:solidFill>
                  <a:srgbClr val="FFFFFF"/>
                </a:solidFill>
              </a:rPr>
              <a:t>SECTION 9 OF 9</a:t>
            </a:r>
          </a:p>
        </p:txBody>
      </p:sp>
      <p:sp>
        <p:nvSpPr>
          <p:cNvPr id="7" name="TextBox 6"/>
          <p:cNvSpPr txBox="1"/>
          <p:nvPr/>
        </p:nvSpPr>
        <p:spPr>
          <a:xfrm>
            <a:off x="365760" y="1508760"/>
            <a:ext cx="11430000" cy="411480"/>
          </a:xfrm>
          <a:prstGeom prst="rect">
            <a:avLst/>
          </a:prstGeom>
          <a:noFill/>
        </p:spPr>
        <p:txBody>
          <a:bodyPr wrap="square"/>
          <a:lstStyle/>
          <a:p>
            <a:pPr algn="l"/>
            <a:r>
              <a:rPr sz="1350" b="0" i="1">
                <a:solidFill>
                  <a:srgbClr val="1A1A2E"/>
                </a:solidFill>
              </a:rPr>
              <a:t>A sequential view of the project phases. Dependencies are implied by the order.</a:t>
            </a:r>
          </a:p>
        </p:txBody>
      </p:sp>
      <p:sp>
        <p:nvSpPr>
          <p:cNvPr id="8" name="Rectangle 7"/>
          <p:cNvSpPr/>
          <p:nvPr/>
        </p:nvSpPr>
        <p:spPr>
          <a:xfrm>
            <a:off x="365760" y="2075688"/>
            <a:ext cx="1234440" cy="38404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2093976"/>
            <a:ext cx="1188720" cy="347472"/>
          </a:xfrm>
          <a:prstGeom prst="rect">
            <a:avLst/>
          </a:prstGeom>
          <a:noFill/>
        </p:spPr>
        <p:txBody>
          <a:bodyPr wrap="square"/>
          <a:lstStyle/>
          <a:p>
            <a:pPr algn="ctr"/>
            <a:r>
              <a:rPr sz="1100" b="1" i="0">
                <a:solidFill>
                  <a:srgbClr val="FFFFFF"/>
                </a:solidFill>
              </a:rPr>
              <a:t>Week 1–2</a:t>
            </a:r>
          </a:p>
        </p:txBody>
      </p:sp>
      <p:sp>
        <p:nvSpPr>
          <p:cNvPr id="10" name="TextBox 9"/>
          <p:cNvSpPr txBox="1"/>
          <p:nvPr/>
        </p:nvSpPr>
        <p:spPr>
          <a:xfrm>
            <a:off x="1737360" y="2057400"/>
            <a:ext cx="2743200" cy="402336"/>
          </a:xfrm>
          <a:prstGeom prst="rect">
            <a:avLst/>
          </a:prstGeom>
          <a:noFill/>
        </p:spPr>
        <p:txBody>
          <a:bodyPr wrap="square"/>
          <a:lstStyle/>
          <a:p>
            <a:pPr algn="l"/>
            <a:r>
              <a:rPr sz="1300" b="1" i="0">
                <a:solidFill>
                  <a:srgbClr val="1A2E4A"/>
                </a:solidFill>
              </a:rPr>
              <a:t>Infrastructure setup</a:t>
            </a:r>
          </a:p>
        </p:txBody>
      </p:sp>
      <p:sp>
        <p:nvSpPr>
          <p:cNvPr id="11" name="TextBox 10"/>
          <p:cNvSpPr txBox="1"/>
          <p:nvPr/>
        </p:nvSpPr>
        <p:spPr>
          <a:xfrm>
            <a:off x="4617720" y="2057400"/>
            <a:ext cx="7223760" cy="457200"/>
          </a:xfrm>
          <a:prstGeom prst="rect">
            <a:avLst/>
          </a:prstGeom>
          <a:noFill/>
        </p:spPr>
        <p:txBody>
          <a:bodyPr wrap="square"/>
          <a:lstStyle/>
          <a:p>
            <a:pPr algn="l"/>
            <a:r>
              <a:rPr sz="1150" b="0" i="0">
                <a:solidFill>
                  <a:srgbClr val="1A1A2E"/>
                </a:solidFill>
              </a:rPr>
              <a:t>Provision GCP VMs; install Kubernetes 1.26, Calico CNI, Istio service mesh; deploy Online Boutique; verify TopFull rate limiter and Locust load generator end-to-end.</a:t>
            </a:r>
          </a:p>
        </p:txBody>
      </p:sp>
      <p:sp>
        <p:nvSpPr>
          <p:cNvPr id="12" name="Rectangle 11"/>
          <p:cNvSpPr/>
          <p:nvPr/>
        </p:nvSpPr>
        <p:spPr>
          <a:xfrm>
            <a:off x="365760" y="2880360"/>
            <a:ext cx="1234440" cy="38404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2898648"/>
            <a:ext cx="1188720" cy="347472"/>
          </a:xfrm>
          <a:prstGeom prst="rect">
            <a:avLst/>
          </a:prstGeom>
          <a:noFill/>
        </p:spPr>
        <p:txBody>
          <a:bodyPr wrap="square"/>
          <a:lstStyle/>
          <a:p>
            <a:pPr algn="ctr"/>
            <a:r>
              <a:rPr sz="1100" b="1" i="0">
                <a:solidFill>
                  <a:srgbClr val="FFFFFF"/>
                </a:solidFill>
              </a:rPr>
              <a:t>Week 2–3</a:t>
            </a:r>
          </a:p>
        </p:txBody>
      </p:sp>
      <p:sp>
        <p:nvSpPr>
          <p:cNvPr id="14" name="TextBox 13"/>
          <p:cNvSpPr txBox="1"/>
          <p:nvPr/>
        </p:nvSpPr>
        <p:spPr>
          <a:xfrm>
            <a:off x="1737360" y="2862072"/>
            <a:ext cx="2743200" cy="402336"/>
          </a:xfrm>
          <a:prstGeom prst="rect">
            <a:avLst/>
          </a:prstGeom>
          <a:noFill/>
        </p:spPr>
        <p:txBody>
          <a:bodyPr wrap="square"/>
          <a:lstStyle/>
          <a:p>
            <a:pPr algn="l"/>
            <a:r>
              <a:rPr sz="1300" b="1" i="0">
                <a:solidFill>
                  <a:srgbClr val="1A2E4A"/>
                </a:solidFill>
              </a:rPr>
              <a:t>Baseline experiment</a:t>
            </a:r>
          </a:p>
        </p:txBody>
      </p:sp>
      <p:sp>
        <p:nvSpPr>
          <p:cNvPr id="15" name="TextBox 14"/>
          <p:cNvSpPr txBox="1"/>
          <p:nvPr/>
        </p:nvSpPr>
        <p:spPr>
          <a:xfrm>
            <a:off x="4617720" y="2862072"/>
            <a:ext cx="7223760" cy="457200"/>
          </a:xfrm>
          <a:prstGeom prst="rect">
            <a:avLst/>
          </a:prstGeom>
          <a:noFill/>
        </p:spPr>
        <p:txBody>
          <a:bodyPr wrap="square"/>
          <a:lstStyle/>
          <a:p>
            <a:pPr algn="l"/>
            <a:r>
              <a:rPr sz="1150" b="0" i="0">
                <a:solidFill>
                  <a:srgbClr val="1A1A2E"/>
                </a:solidFill>
              </a:rPr>
              <a:t>Run TopFull with Istio default retries, RetryGuard OFF. Execute all load scenarios. Collect and archive baseline CSVs and logs from metric_collector.py, resource_collector.py, and overload_detection.py.</a:t>
            </a:r>
          </a:p>
        </p:txBody>
      </p:sp>
      <p:sp>
        <p:nvSpPr>
          <p:cNvPr id="16" name="Rectangle 15"/>
          <p:cNvSpPr/>
          <p:nvPr/>
        </p:nvSpPr>
        <p:spPr>
          <a:xfrm>
            <a:off x="365760" y="3685032"/>
            <a:ext cx="1234440" cy="38404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3703320"/>
            <a:ext cx="1188720" cy="347472"/>
          </a:xfrm>
          <a:prstGeom prst="rect">
            <a:avLst/>
          </a:prstGeom>
          <a:noFill/>
        </p:spPr>
        <p:txBody>
          <a:bodyPr wrap="square"/>
          <a:lstStyle/>
          <a:p>
            <a:pPr algn="ctr"/>
            <a:r>
              <a:rPr sz="1100" b="1" i="0">
                <a:solidFill>
                  <a:srgbClr val="FFFFFF"/>
                </a:solidFill>
              </a:rPr>
              <a:t>Week 3</a:t>
            </a:r>
          </a:p>
        </p:txBody>
      </p:sp>
      <p:sp>
        <p:nvSpPr>
          <p:cNvPr id="18" name="TextBox 17"/>
          <p:cNvSpPr txBox="1"/>
          <p:nvPr/>
        </p:nvSpPr>
        <p:spPr>
          <a:xfrm>
            <a:off x="1737360" y="3666744"/>
            <a:ext cx="2743200" cy="402336"/>
          </a:xfrm>
          <a:prstGeom prst="rect">
            <a:avLst/>
          </a:prstGeom>
          <a:noFill/>
        </p:spPr>
        <p:txBody>
          <a:bodyPr wrap="square"/>
          <a:lstStyle/>
          <a:p>
            <a:pPr algn="l"/>
            <a:r>
              <a:rPr sz="1300" b="1" i="0">
                <a:solidFill>
                  <a:srgbClr val="1A2E4A"/>
                </a:solidFill>
              </a:rPr>
              <a:t>RetryGuard implementation</a:t>
            </a:r>
          </a:p>
        </p:txBody>
      </p:sp>
      <p:sp>
        <p:nvSpPr>
          <p:cNvPr id="19" name="TextBox 18"/>
          <p:cNvSpPr txBox="1"/>
          <p:nvPr/>
        </p:nvSpPr>
        <p:spPr>
          <a:xfrm>
            <a:off x="4617720" y="3666744"/>
            <a:ext cx="7223760" cy="457200"/>
          </a:xfrm>
          <a:prstGeom prst="rect">
            <a:avLst/>
          </a:prstGeom>
          <a:noFill/>
        </p:spPr>
        <p:txBody>
          <a:bodyPr wrap="square"/>
          <a:lstStyle/>
          <a:p>
            <a:pPr algn="l"/>
            <a:r>
              <a:rPr sz="1150" b="0" i="0">
                <a:solidFill>
                  <a:srgbClr val="1A1A2E"/>
                </a:solidFill>
              </a:rPr>
              <a:t>Self-implement Algorithm 1 from RetryGuard paper. Integrate with Istio VirtualService CRDs via Kubernetes Python client (Appendix A method). Validate controller logic against paper Sec. 6.2 parameters.</a:t>
            </a:r>
          </a:p>
        </p:txBody>
      </p:sp>
      <p:sp>
        <p:nvSpPr>
          <p:cNvPr id="20" name="Rectangle 19"/>
          <p:cNvSpPr/>
          <p:nvPr/>
        </p:nvSpPr>
        <p:spPr>
          <a:xfrm>
            <a:off x="365760" y="4489704"/>
            <a:ext cx="1234440" cy="38404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4507992"/>
            <a:ext cx="1188720" cy="347472"/>
          </a:xfrm>
          <a:prstGeom prst="rect">
            <a:avLst/>
          </a:prstGeom>
          <a:noFill/>
        </p:spPr>
        <p:txBody>
          <a:bodyPr wrap="square"/>
          <a:lstStyle/>
          <a:p>
            <a:pPr algn="ctr"/>
            <a:r>
              <a:rPr sz="1100" b="1" i="0">
                <a:solidFill>
                  <a:srgbClr val="FFFFFF"/>
                </a:solidFill>
              </a:rPr>
              <a:t>Week 3–4</a:t>
            </a:r>
          </a:p>
        </p:txBody>
      </p:sp>
      <p:sp>
        <p:nvSpPr>
          <p:cNvPr id="22" name="TextBox 21"/>
          <p:cNvSpPr txBox="1"/>
          <p:nvPr/>
        </p:nvSpPr>
        <p:spPr>
          <a:xfrm>
            <a:off x="1737360" y="4471416"/>
            <a:ext cx="2743200" cy="402336"/>
          </a:xfrm>
          <a:prstGeom prst="rect">
            <a:avLst/>
          </a:prstGeom>
          <a:noFill/>
        </p:spPr>
        <p:txBody>
          <a:bodyPr wrap="square"/>
          <a:lstStyle/>
          <a:p>
            <a:pPr algn="l"/>
            <a:r>
              <a:rPr sz="1300" b="1" i="0">
                <a:solidFill>
                  <a:srgbClr val="1A2E4A"/>
                </a:solidFill>
              </a:rPr>
              <a:t>RetryGuard experiment</a:t>
            </a:r>
          </a:p>
        </p:txBody>
      </p:sp>
      <p:sp>
        <p:nvSpPr>
          <p:cNvPr id="23" name="TextBox 22"/>
          <p:cNvSpPr txBox="1"/>
          <p:nvPr/>
        </p:nvSpPr>
        <p:spPr>
          <a:xfrm>
            <a:off x="4617720" y="4471416"/>
            <a:ext cx="7223760" cy="457200"/>
          </a:xfrm>
          <a:prstGeom prst="rect">
            <a:avLst/>
          </a:prstGeom>
          <a:noFill/>
        </p:spPr>
        <p:txBody>
          <a:bodyPr wrap="square"/>
          <a:lstStyle/>
          <a:p>
            <a:pPr algn="l"/>
            <a:r>
              <a:rPr sz="1150" b="0" i="0">
                <a:solidFill>
                  <a:srgbClr val="1A1A2E"/>
                </a:solidFill>
              </a:rPr>
              <a:t>Run all load scenarios with RetryGuard ON. Collect experiment CSVs and controller decision logs. Repeat each scenario to account for Locust non-determinism.</a:t>
            </a:r>
          </a:p>
        </p:txBody>
      </p:sp>
      <p:sp>
        <p:nvSpPr>
          <p:cNvPr id="24" name="Rectangle 23"/>
          <p:cNvSpPr/>
          <p:nvPr/>
        </p:nvSpPr>
        <p:spPr>
          <a:xfrm>
            <a:off x="365760" y="5294376"/>
            <a:ext cx="1234440" cy="38404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5312664"/>
            <a:ext cx="1188720" cy="347472"/>
          </a:xfrm>
          <a:prstGeom prst="rect">
            <a:avLst/>
          </a:prstGeom>
          <a:noFill/>
        </p:spPr>
        <p:txBody>
          <a:bodyPr wrap="square"/>
          <a:lstStyle/>
          <a:p>
            <a:pPr algn="ctr"/>
            <a:r>
              <a:rPr sz="1100" b="1" i="0">
                <a:solidFill>
                  <a:srgbClr val="FFFFFF"/>
                </a:solidFill>
              </a:rPr>
              <a:t>Week 4</a:t>
            </a:r>
          </a:p>
        </p:txBody>
      </p:sp>
      <p:sp>
        <p:nvSpPr>
          <p:cNvPr id="26" name="TextBox 25"/>
          <p:cNvSpPr txBox="1"/>
          <p:nvPr/>
        </p:nvSpPr>
        <p:spPr>
          <a:xfrm>
            <a:off x="1737360" y="5276088"/>
            <a:ext cx="2743200" cy="402336"/>
          </a:xfrm>
          <a:prstGeom prst="rect">
            <a:avLst/>
          </a:prstGeom>
          <a:noFill/>
        </p:spPr>
        <p:txBody>
          <a:bodyPr wrap="square"/>
          <a:lstStyle/>
          <a:p>
            <a:pPr algn="l"/>
            <a:r>
              <a:rPr sz="1300" b="1" i="0">
                <a:solidFill>
                  <a:srgbClr val="1A2E4A"/>
                </a:solidFill>
              </a:rPr>
              <a:t>Evaluation and final report</a:t>
            </a:r>
          </a:p>
        </p:txBody>
      </p:sp>
      <p:sp>
        <p:nvSpPr>
          <p:cNvPr id="27" name="TextBox 26"/>
          <p:cNvSpPr txBox="1"/>
          <p:nvPr/>
        </p:nvSpPr>
        <p:spPr>
          <a:xfrm>
            <a:off x="4617720" y="5276088"/>
            <a:ext cx="7223760" cy="457200"/>
          </a:xfrm>
          <a:prstGeom prst="rect">
            <a:avLst/>
          </a:prstGeom>
          <a:noFill/>
        </p:spPr>
        <p:txBody>
          <a:bodyPr wrap="square"/>
          <a:lstStyle/>
          <a:p>
            <a:pPr algn="l"/>
            <a:r>
              <a:rPr sz="1150" b="0" i="0">
                <a:solidFill>
                  <a:srgbClr val="1A1A2E"/>
                </a:solidFill>
              </a:rPr>
              <a:t>Compare baseline vs. RetryGuard across all scenarios and all three metric layers. Produce time-series charts. Write evaluation report.</a:t>
            </a:r>
          </a:p>
        </p:txBody>
      </p:sp>
      <p:sp>
        <p:nvSpPr>
          <p:cNvPr id="28" name="TextBox 27"/>
          <p:cNvSpPr txBox="1"/>
          <p:nvPr/>
        </p:nvSpPr>
        <p:spPr>
          <a:xfrm>
            <a:off x="365760" y="6263640"/>
            <a:ext cx="11430000" cy="365760"/>
          </a:xfrm>
          <a:prstGeom prst="rect">
            <a:avLst/>
          </a:prstGeom>
          <a:noFill/>
        </p:spPr>
        <p:txBody>
          <a:bodyPr wrap="square"/>
          <a:lstStyle/>
          <a:p>
            <a:pPr algn="l"/>
            <a:r>
              <a:rPr sz="1000" b="0" i="1">
                <a:solidFill>
                  <a:srgbClr val="55556B"/>
                </a:solidFill>
              </a:rPr>
              <a:t>Source: WORKPLAN.md (all phases), PRESENTATION-ACTION-ITEMS.md §9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none">
            <a:spAutoFit/>
          </a:bodyPr>
          <a:lstStyle/>
          <a:p>
            <a:r>
              <a:rPr sz="2600" b="1">
                <a:solidFill>
                  <a:srgbClr val="FFFFFF"/>
                </a:solidFill>
              </a:rPr>
              <a:t>Summary &amp; Deliverables</a:t>
            </a:r>
          </a:p>
          <a:p>
            <a:r>
              <a:rPr sz="1300" b="0">
                <a:solidFill>
                  <a:srgbClr val="B0C8E8"/>
                </a:solidFill>
              </a:rPr>
              <a:t>What we are building, testing, and delivering</a:t>
            </a:r>
          </a:p>
        </p:txBody>
      </p:sp>
      <p:sp>
        <p:nvSpPr>
          <p:cNvPr id="4" name="Rectangle 3"/>
          <p:cNvSpPr/>
          <p:nvPr/>
        </p:nvSpPr>
        <p:spPr>
          <a:xfrm>
            <a:off x="0" y="1051560"/>
            <a:ext cx="12188952" cy="38100"/>
          </a:xfrm>
          <a:prstGeom prst="rect">
            <a:avLst/>
          </a:prstGeom>
          <a:solidFill>
            <a:srgbClr val="E86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508760"/>
            <a:ext cx="11430000" cy="274320"/>
          </a:xfrm>
          <a:prstGeom prst="rect">
            <a:avLst/>
          </a:prstGeom>
          <a:noFill/>
        </p:spPr>
        <p:txBody>
          <a:bodyPr wrap="square"/>
          <a:lstStyle/>
          <a:p>
            <a:pPr algn="l"/>
            <a:r>
              <a:rPr sz="1100" b="1" i="0">
                <a:solidFill>
                  <a:srgbClr val="1F5F99"/>
                </a:solidFill>
              </a:rPr>
              <a:t>WHAT WE ARE BUILDING</a:t>
            </a:r>
          </a:p>
        </p:txBody>
      </p:sp>
      <p:sp>
        <p:nvSpPr>
          <p:cNvPr id="6" name="TextBox 5"/>
          <p:cNvSpPr txBox="1"/>
          <p:nvPr/>
        </p:nvSpPr>
        <p:spPr>
          <a:xfrm>
            <a:off x="365760" y="1783080"/>
            <a:ext cx="11430000" cy="502920"/>
          </a:xfrm>
          <a:prstGeom prst="rect">
            <a:avLst/>
          </a:prstGeom>
          <a:noFill/>
        </p:spPr>
        <p:txBody>
          <a:bodyPr wrap="square"/>
          <a:lstStyle/>
          <a:p>
            <a:pPr algn="l"/>
            <a:r>
              <a:rPr sz="1350" b="0" i="0">
                <a:solidFill>
                  <a:srgbClr val="1A1A2E"/>
                </a:solidFill>
              </a:rPr>
              <a:t>A full experimental stack: Kubernetes + Istio + TopFull overload controller + self-implemented RetryGuard, running on Google Cloud Platform. The test application is Online Boutique (Google's 11-microservice demo app).</a:t>
            </a:r>
          </a:p>
        </p:txBody>
      </p:sp>
      <p:sp>
        <p:nvSpPr>
          <p:cNvPr id="7" name="Rectangle 6"/>
          <p:cNvSpPr/>
          <p:nvPr/>
        </p:nvSpPr>
        <p:spPr>
          <a:xfrm>
            <a:off x="365760" y="24231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560320"/>
            <a:ext cx="11430000" cy="274320"/>
          </a:xfrm>
          <a:prstGeom prst="rect">
            <a:avLst/>
          </a:prstGeom>
          <a:noFill/>
        </p:spPr>
        <p:txBody>
          <a:bodyPr wrap="square"/>
          <a:lstStyle/>
          <a:p>
            <a:pPr algn="l"/>
            <a:r>
              <a:rPr sz="1100" b="1" i="0">
                <a:solidFill>
                  <a:srgbClr val="1F5F99"/>
                </a:solidFill>
              </a:rPr>
              <a:t>WHAT WE ARE TESTING</a:t>
            </a:r>
          </a:p>
        </p:txBody>
      </p:sp>
      <p:sp>
        <p:nvSpPr>
          <p:cNvPr id="9" name="TextBox 8"/>
          <p:cNvSpPr txBox="1"/>
          <p:nvPr/>
        </p:nvSpPr>
        <p:spPr>
          <a:xfrm>
            <a:off x="365760" y="2834640"/>
            <a:ext cx="11430000" cy="502920"/>
          </a:xfrm>
          <a:prstGeom prst="rect">
            <a:avLst/>
          </a:prstGeom>
          <a:noFill/>
        </p:spPr>
        <p:txBody>
          <a:bodyPr wrap="square"/>
          <a:lstStyle/>
          <a:p>
            <a:pPr algn="l"/>
            <a:r>
              <a:rPr sz="1350" b="0" i="0">
                <a:solidFill>
                  <a:srgbClr val="1A1A2E"/>
                </a:solidFill>
              </a:rPr>
              <a:t>Whether RetryGuard (Algorithm 1, self-implemented from the RetryGuard paper) produces measurable improvement in goodput, latency, retry rate, and resource usage when layered on top of TopFull — across six load scenarios designed to answer eight open questions.</a:t>
            </a:r>
          </a:p>
        </p:txBody>
      </p:sp>
      <p:sp>
        <p:nvSpPr>
          <p:cNvPr id="10" name="Rectangle 9"/>
          <p:cNvSpPr/>
          <p:nvPr/>
        </p:nvSpPr>
        <p:spPr>
          <a:xfrm>
            <a:off x="365760" y="347472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611880"/>
            <a:ext cx="11430000" cy="274320"/>
          </a:xfrm>
          <a:prstGeom prst="rect">
            <a:avLst/>
          </a:prstGeom>
          <a:noFill/>
        </p:spPr>
        <p:txBody>
          <a:bodyPr wrap="square"/>
          <a:lstStyle/>
          <a:p>
            <a:pPr algn="l"/>
            <a:r>
              <a:rPr sz="1100" b="1" i="0">
                <a:solidFill>
                  <a:srgbClr val="1F5F99"/>
                </a:solidFill>
              </a:rPr>
              <a:t>DELIVERABLES</a:t>
            </a:r>
          </a:p>
        </p:txBody>
      </p:sp>
      <p:sp>
        <p:nvSpPr>
          <p:cNvPr id="12" name="TextBox 11"/>
          <p:cNvSpPr txBox="1"/>
          <p:nvPr/>
        </p:nvSpPr>
        <p:spPr>
          <a:xfrm>
            <a:off x="365760" y="3931920"/>
            <a:ext cx="11430000" cy="1554480"/>
          </a:xfrm>
          <a:prstGeom prst="rect">
            <a:avLst/>
          </a:prstGeom>
          <a:noFill/>
        </p:spPr>
        <p:txBody>
          <a:bodyPr wrap="square">
            <a:spAutoFit/>
          </a:bodyPr>
          <a:lstStyle/>
          <a:p>
            <a:pPr algn="l">
              <a:spcBef>
                <a:spcPts val="200"/>
              </a:spcBef>
              <a:spcAft>
                <a:spcPts val="0"/>
              </a:spcAft>
            </a:pPr>
            <a:r>
              <a:rPr sz="1350" b="0">
                <a:solidFill>
                  <a:srgbClr val="1A1A2E"/>
                </a:solidFill>
              </a:rPr>
              <a:t>•  Working Kubernetes + Istio + TopFull + RetryGuard experimental setup (reproducible, on GCP).</a:t>
            </a:r>
          </a:p>
          <a:p>
            <a:pPr algn="l">
              <a:spcBef>
                <a:spcPts val="200"/>
              </a:spcBef>
              <a:spcAft>
                <a:spcPts val="0"/>
              </a:spcAft>
            </a:pPr>
            <a:r>
              <a:rPr sz="1350" b="0">
                <a:solidFill>
                  <a:srgbClr val="1A1A2E"/>
                </a:solidFill>
              </a:rPr>
              <a:t>•  Baseline vs. RetryGuard experiment data across all load scenarios — CSVs, logs, controller decision records.</a:t>
            </a:r>
          </a:p>
          <a:p>
            <a:pPr algn="l">
              <a:spcBef>
                <a:spcPts val="200"/>
              </a:spcBef>
              <a:spcAft>
                <a:spcPts val="0"/>
              </a:spcAft>
            </a:pPr>
            <a:r>
              <a:rPr sz="1350" b="0">
                <a:solidFill>
                  <a:srgbClr val="1A1A2E"/>
                </a:solidFill>
              </a:rPr>
              <a:t>•  Evaluation report with time-series charts comparing goodput, latency, retries per request, resource usage, and autoscaler behavior — baseline run vs. RetryGuard run, side by side.</a:t>
            </a:r>
          </a:p>
        </p:txBody>
      </p:sp>
      <p:sp>
        <p:nvSpPr>
          <p:cNvPr id="13" name="Rectangle 12"/>
          <p:cNvSpPr/>
          <p:nvPr/>
        </p:nvSpPr>
        <p:spPr>
          <a:xfrm>
            <a:off x="365760" y="5623560"/>
            <a:ext cx="11430000" cy="12700"/>
          </a:xfrm>
          <a:prstGeom prst="rect">
            <a:avLst/>
          </a:prstGeom>
          <a:solidFill>
            <a:srgbClr val="D0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5760720"/>
            <a:ext cx="11430000" cy="365760"/>
          </a:xfrm>
          <a:prstGeom prst="rect">
            <a:avLst/>
          </a:prstGeom>
          <a:noFill/>
        </p:spPr>
        <p:txBody>
          <a:bodyPr wrap="square"/>
          <a:lstStyle/>
          <a:p>
            <a:pPr algn="l"/>
            <a:r>
              <a:rPr sz="1300" b="1" i="0">
                <a:solidFill>
                  <a:srgbClr val="1A2E4A"/>
                </a:solidFill>
              </a:rPr>
              <a:t>The outcome — whether RetryGuard helps significantly, helps only specific services, or barely moves the needle — is the point of the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