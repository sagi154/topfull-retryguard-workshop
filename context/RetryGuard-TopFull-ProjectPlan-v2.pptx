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Project plan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the professor's requirement: 'I want to understand what you are going to do and what the deliverables will be.'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starvation problem is the core motivation for TopFull. The diagram shows why per-microservice controls fail when APIs share downstream services.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validate TopFull. The experiment question is: does RetryGuard add further value on top of this already-effective system?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retry storm is a positive feedback loop. The key insight of RetryGuard is that prolonged overload (ρ &gt; 1 sustained) is analytically distinguishable from transient failures.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state machine is exactly Algorithm 1. Each service has its own independent instance. The Consecutive_high and Consecutive_low counters prevent oscillation.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RetryGuard on master: reads Istio sidecar metrics (separate from TopFull's entry-proxy collectors), patches VirtualService CRDs.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is the control condition: TopFull doing its best without RetryGuard. All improvements are measured as deltas from this.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variable changes. This is why we can attribute differences in goodput, latency, and resource usage to RetryGuard's presence.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Non-determinism in Locust is expected and accounted for by design.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insight: both TopFull and RetryGuard are feedback loops on overlapping signals. Whether they cooperate or interfere is one of the core open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question maps to one or more load scenarios. The questions motivate the scenarios — not the other way around.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interval sensitivity and combined equilibrium questions are unique to the TopFull+RetryGuard combination.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scenarios follow from the questions — not the other way around. This is the key structural argument for scientific credibility.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Validates non-intrusiveness. The paper claims ρ &lt; 1 is analytically distinguishable — this is the empirical check in our setup.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experiment. Only prolonged overload (ρ &gt; 1 sustained for N intervals of ~30s) activates RetryGuard. Brief spikes do not.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Bookinfo analogy in Sec. 6.2: Reviews service (slow HPA) vs. Product service (fast HPA). Checkout in Online Boutique is the analogous hub service.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hub position (Checkout) creates bidirectional amplification — suppressing retries at Checkout simultaneously relieves all six downstream callers.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 sensitivity study. The hypothesis: TopFull's faster feedback loop changes the optimal Interval value.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PRESENTATION-GUIDE.md §7, RetryGuard.pdf (DDoS discussion). Mark clearly as time-permitting.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Layers 1 and 2 use TopFull's existing collection infrastructure — metric_collector.py, resource_collector.py.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3 is the novel instrumentation we add. Layers 1 and 2 use existing TopFull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phase numbers on slides — internal planning references. No blocker callouts — address them verbally if a mentor asks.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The final sentence is from PRESENTATION-GUIDE.md — it captures the scientific stance.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411480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88952" cy="635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22960"/>
            <a:ext cx="10881360" cy="1463040"/>
          </a:xfrm>
          <a:prstGeom prst="rect">
            <a:avLst/>
          </a:prstGeom>
          <a:noFill/>
        </p:spPr>
        <p:txBody>
          <a:bodyPr wrap="square">
            <a:spAutoFit/>
          </a:bodyPr>
          <a:lstStyle/>
          <a:p>
            <a:r>
              <a:rPr sz="4400" b="1">
                <a:solidFill>
                  <a:srgbClr val="FFFFFF"/>
                </a:solidFill>
              </a:rPr>
              <a:t>RetryGuard on TopFull</a:t>
            </a:r>
          </a:p>
        </p:txBody>
      </p:sp>
      <p:sp>
        <p:nvSpPr>
          <p:cNvPr id="5" name="TextBox 4"/>
          <p:cNvSpPr txBox="1"/>
          <p:nvPr/>
        </p:nvSpPr>
        <p:spPr>
          <a:xfrm>
            <a:off x="640080" y="1920240"/>
            <a:ext cx="10881360" cy="685800"/>
          </a:xfrm>
          <a:prstGeom prst="rect">
            <a:avLst/>
          </a:prstGeom>
          <a:noFill/>
        </p:spPr>
        <p:txBody>
          <a:bodyPr wrap="square">
            <a:spAutoFit/>
          </a:bodyPr>
          <a:lstStyle/>
          <a:p>
            <a:pPr algn="l"/>
            <a:r>
              <a:rPr sz="2100" b="0" i="0">
                <a:solidFill>
                  <a:srgbClr val="B0C8E8"/>
                </a:solidFill>
              </a:rPr>
              <a:t>A Project Plan: Evaluating Dynamic Retry Control on a Kubernetes Microservice Stack</a:t>
            </a:r>
          </a:p>
        </p:txBody>
      </p:sp>
      <p:sp>
        <p:nvSpPr>
          <p:cNvPr id="6" name="TextBox 5"/>
          <p:cNvSpPr txBox="1"/>
          <p:nvPr/>
        </p:nvSpPr>
        <p:spPr>
          <a:xfrm>
            <a:off x="640080" y="2743200"/>
            <a:ext cx="10881360" cy="548640"/>
          </a:xfrm>
          <a:prstGeom prst="rect">
            <a:avLst/>
          </a:prstGeom>
          <a:noFill/>
        </p:spPr>
        <p:txBody>
          <a:bodyPr wrap="square">
            <a:spAutoFit/>
          </a:bodyPr>
          <a:lstStyle/>
          <a:p>
            <a:pPr algn="l"/>
            <a:r>
              <a:rPr sz="1600" b="0" i="0">
                <a:solidFill>
                  <a:srgbClr val="90B8D8"/>
                </a:solidFill>
              </a:rPr>
              <a:t>TAU Workshop in Communication Networks and Information Security</a:t>
            </a:r>
          </a:p>
        </p:txBody>
      </p:sp>
      <p:sp>
        <p:nvSpPr>
          <p:cNvPr id="7" name="Rounded Rectangle 6"/>
          <p:cNvSpPr/>
          <p:nvPr/>
        </p:nvSpPr>
        <p:spPr>
          <a:xfrm>
            <a:off x="502920" y="4654296"/>
            <a:ext cx="1737360" cy="475488"/>
          </a:xfrm>
          <a:prstGeom prst="roundRect">
            <a:avLst/>
          </a:prstGeom>
          <a:solidFill>
            <a:srgbClr val="1F5F99"/>
          </a:solidFill>
          <a:ln w="12700">
            <a:solidFill>
              <a:srgbClr val="1F5F9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rPr>
              <a:t>Locust</a:t>
            </a:r>
          </a:p>
        </p:txBody>
      </p:sp>
      <p:cxnSp>
        <p:nvCxnSpPr>
          <p:cNvPr id="8" name="Connector 7"/>
          <p:cNvCxnSpPr/>
          <p:nvPr/>
        </p:nvCxnSpPr>
        <p:spPr>
          <a:xfrm>
            <a:off x="2240280" y="4892040"/>
            <a:ext cx="320040" cy="0"/>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560320" y="4654296"/>
            <a:ext cx="1737360" cy="475488"/>
          </a:xfrm>
          <a:prstGeom prst="roundRect">
            <a:avLst/>
          </a:prstGeom>
          <a:solidFill>
            <a:srgbClr val="1A2E4A"/>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rPr>
              <a:t>TopFull</a:t>
            </a:r>
          </a:p>
        </p:txBody>
      </p:sp>
      <p:cxnSp>
        <p:nvCxnSpPr>
          <p:cNvPr id="10" name="Connector 9"/>
          <p:cNvCxnSpPr/>
          <p:nvPr/>
        </p:nvCxnSpPr>
        <p:spPr>
          <a:xfrm>
            <a:off x="4297680" y="4892040"/>
            <a:ext cx="320040" cy="0"/>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617720" y="4654296"/>
            <a:ext cx="1737360" cy="475488"/>
          </a:xfrm>
          <a:prstGeom prst="roundRect">
            <a:avLst/>
          </a:prstGeom>
          <a:solidFill>
            <a:srgbClr val="E86B1F"/>
          </a:solidFill>
          <a:ln w="12700">
            <a:solidFill>
              <a:srgbClr val="E86B1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rPr>
              <a:t>RetryGuard</a:t>
            </a:r>
          </a:p>
        </p:txBody>
      </p:sp>
      <p:cxnSp>
        <p:nvCxnSpPr>
          <p:cNvPr id="12" name="Connector 11"/>
          <p:cNvCxnSpPr/>
          <p:nvPr/>
        </p:nvCxnSpPr>
        <p:spPr>
          <a:xfrm>
            <a:off x="6355080" y="4892040"/>
            <a:ext cx="320040" cy="0"/>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675120" y="4654296"/>
            <a:ext cx="1737360" cy="475488"/>
          </a:xfrm>
          <a:prstGeom prst="roundRect">
            <a:avLst/>
          </a:prstGeom>
          <a:solidFill>
            <a:srgbClr val="1F5F99"/>
          </a:solidFill>
          <a:ln w="12700">
            <a:solidFill>
              <a:srgbClr val="1F5F9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rPr>
              <a:t>Istio / Kubernetes</a:t>
            </a:r>
          </a:p>
        </p:txBody>
      </p:sp>
      <p:cxnSp>
        <p:nvCxnSpPr>
          <p:cNvPr id="14" name="Connector 13"/>
          <p:cNvCxnSpPr/>
          <p:nvPr/>
        </p:nvCxnSpPr>
        <p:spPr>
          <a:xfrm>
            <a:off x="8412480" y="4892040"/>
            <a:ext cx="320040" cy="0"/>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732520" y="4654296"/>
            <a:ext cx="1737360" cy="475488"/>
          </a:xfrm>
          <a:prstGeom prst="roundRect">
            <a:avLst/>
          </a:prstGeom>
          <a:solidFill>
            <a:srgbClr val="1A2E4A"/>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rPr>
              <a:t>Online Boutique</a:t>
            </a:r>
          </a:p>
        </p:txBody>
      </p:sp>
      <p:sp>
        <p:nvSpPr>
          <p:cNvPr id="16" name="TextBox 15"/>
          <p:cNvSpPr txBox="1"/>
          <p:nvPr/>
        </p:nvSpPr>
        <p:spPr>
          <a:xfrm>
            <a:off x="640080" y="5577840"/>
            <a:ext cx="10972800" cy="411480"/>
          </a:xfrm>
          <a:prstGeom prst="rect">
            <a:avLst/>
          </a:prstGeom>
          <a:noFill/>
        </p:spPr>
        <p:txBody>
          <a:bodyPr wrap="square">
            <a:spAutoFit/>
          </a:bodyPr>
          <a:lstStyle/>
          <a:p>
            <a:pPr algn="l"/>
            <a:r>
              <a:rPr sz="1200" b="0" i="0">
                <a:solidFill>
                  <a:srgbClr val="55556B"/>
                </a:solidFill>
              </a:rPr>
              <a:t>Self-implementation of Algorithm 1 (TAU Deepness Lab, arXiv:2511.23278, 2025)  ·  TopFull SIGCOMM 2024  ·  GCP / Kubernetes 1.26 / Istio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Goal and Hypothesis</a:t>
            </a:r>
          </a:p>
          <a:p>
            <a:r>
              <a:rPr sz="1300">
                <a:solidFill>
                  <a:srgbClr val="B0C8E8"/>
                </a:solidFill>
              </a:rPr>
              <a:t>§1 — What this project is about</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1 OF 9</a:t>
            </a:r>
          </a:p>
        </p:txBody>
      </p:sp>
      <p:sp>
        <p:nvSpPr>
          <p:cNvPr id="6" name="TextBox 5"/>
          <p:cNvSpPr txBox="1"/>
          <p:nvPr/>
        </p:nvSpPr>
        <p:spPr>
          <a:xfrm>
            <a:off x="365760" y="1508760"/>
            <a:ext cx="11430000" cy="274320"/>
          </a:xfrm>
          <a:prstGeom prst="rect">
            <a:avLst/>
          </a:prstGeom>
          <a:noFill/>
        </p:spPr>
        <p:txBody>
          <a:bodyPr wrap="square">
            <a:spAutoFit/>
          </a:bodyPr>
          <a:lstStyle/>
          <a:p>
            <a:pPr algn="l"/>
            <a:r>
              <a:rPr sz="1100" b="1" i="0">
                <a:solidFill>
                  <a:srgbClr val="1F5F99"/>
                </a:solidFill>
              </a:rPr>
              <a:t>GOAL</a:t>
            </a:r>
          </a:p>
        </p:txBody>
      </p:sp>
      <p:sp>
        <p:nvSpPr>
          <p:cNvPr id="7" name="TextBox 6"/>
          <p:cNvSpPr txBox="1"/>
          <p:nvPr/>
        </p:nvSpPr>
        <p:spPr>
          <a:xfrm>
            <a:off x="365760" y="1783080"/>
            <a:ext cx="11430000" cy="640080"/>
          </a:xfrm>
          <a:prstGeom prst="rect">
            <a:avLst/>
          </a:prstGeom>
          <a:noFill/>
        </p:spPr>
        <p:txBody>
          <a:bodyPr wrap="square">
            <a:spAutoFit/>
          </a:bodyPr>
          <a:lstStyle/>
          <a:p>
            <a:pPr algn="l"/>
            <a:r>
              <a:rPr sz="1350" b="0" i="0">
                <a:solidFill>
                  <a:srgbClr val="1A1A2E"/>
                </a:solidFill>
              </a:rPr>
              <a:t>Self-implement RetryGuard (Algorithm 1, TAU Deepness Lab 2025) and measure its impact when layered on top of TopFull overload control running Online Boutique under overload. We want to know where it helps, where it doesn't, and what trade-offs emerge.</a:t>
            </a:r>
          </a:p>
        </p:txBody>
      </p:sp>
      <p:sp>
        <p:nvSpPr>
          <p:cNvPr id="8" name="Rectangle 7"/>
          <p:cNvSpPr/>
          <p:nvPr/>
        </p:nvSpPr>
        <p:spPr>
          <a:xfrm>
            <a:off x="365760" y="256032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697480"/>
            <a:ext cx="11430000" cy="274320"/>
          </a:xfrm>
          <a:prstGeom prst="rect">
            <a:avLst/>
          </a:prstGeom>
          <a:noFill/>
        </p:spPr>
        <p:txBody>
          <a:bodyPr wrap="square">
            <a:spAutoFit/>
          </a:bodyPr>
          <a:lstStyle/>
          <a:p>
            <a:pPr algn="l"/>
            <a:r>
              <a:rPr sz="1100" b="1" i="0">
                <a:solidFill>
                  <a:srgbClr val="1F5F99"/>
                </a:solidFill>
              </a:rPr>
              <a:t>HYPOTHESIS</a:t>
            </a:r>
          </a:p>
        </p:txBody>
      </p:sp>
      <p:sp>
        <p:nvSpPr>
          <p:cNvPr id="10" name="TextBox 9"/>
          <p:cNvSpPr txBox="1"/>
          <p:nvPr/>
        </p:nvSpPr>
        <p:spPr>
          <a:xfrm>
            <a:off x="365760" y="2971800"/>
            <a:ext cx="11430000" cy="640080"/>
          </a:xfrm>
          <a:prstGeom prst="rect">
            <a:avLst/>
          </a:prstGeom>
          <a:noFill/>
        </p:spPr>
        <p:txBody>
          <a:bodyPr wrap="square">
            <a:spAutoFit/>
          </a:bodyPr>
          <a:lstStyle/>
          <a:p>
            <a:pPr algn="l"/>
            <a:r>
              <a:rPr sz="1350" b="0" i="0">
                <a:solidFill>
                  <a:srgbClr val="1A1A2E"/>
                </a:solidFill>
              </a:rPr>
              <a:t>Dynamic retry control reduces retry storms and protects goodput compared to default retries. System-wide gain may be modest while specific microservices show large improvement — the experiment is designed to surface both.</a:t>
            </a:r>
          </a:p>
        </p:txBody>
      </p:sp>
      <p:sp>
        <p:nvSpPr>
          <p:cNvPr id="11" name="Rectangle 10"/>
          <p:cNvSpPr/>
          <p:nvPr/>
        </p:nvSpPr>
        <p:spPr>
          <a:xfrm>
            <a:off x="365760" y="3749039"/>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3886200"/>
            <a:ext cx="11430000" cy="274320"/>
          </a:xfrm>
          <a:prstGeom prst="rect">
            <a:avLst/>
          </a:prstGeom>
          <a:noFill/>
        </p:spPr>
        <p:txBody>
          <a:bodyPr wrap="square">
            <a:spAutoFit/>
          </a:bodyPr>
          <a:lstStyle/>
          <a:p>
            <a:pPr algn="l"/>
            <a:r>
              <a:rPr sz="1100" b="1" i="0">
                <a:solidFill>
                  <a:srgbClr val="1F5F99"/>
                </a:solidFill>
              </a:rPr>
              <a:t>DELIVERABLES</a:t>
            </a:r>
          </a:p>
        </p:txBody>
      </p:sp>
      <p:sp>
        <p:nvSpPr>
          <p:cNvPr id="13" name="TextBox 12"/>
          <p:cNvSpPr txBox="1"/>
          <p:nvPr/>
        </p:nvSpPr>
        <p:spPr>
          <a:xfrm>
            <a:off x="365760" y="4206240"/>
            <a:ext cx="11430000" cy="1828800"/>
          </a:xfrm>
          <a:prstGeom prst="rect">
            <a:avLst/>
          </a:prstGeom>
          <a:noFill/>
        </p:spPr>
        <p:txBody>
          <a:bodyPr wrap="square">
            <a:spAutoFit/>
          </a:bodyPr>
          <a:lstStyle/>
          <a:p>
            <a:pPr algn="l">
              <a:spcBef>
                <a:spcPts val="200"/>
              </a:spcBef>
            </a:pPr>
            <a:r>
              <a:rPr sz="1300">
                <a:solidFill>
                  <a:srgbClr val="1A1A2E"/>
                </a:solidFill>
              </a:rPr>
              <a:t>•  Working Kubernetes + Istio + TopFull + RetryGuard experimental setup.</a:t>
            </a:r>
          </a:p>
          <a:p>
            <a:pPr algn="l">
              <a:spcBef>
                <a:spcPts val="200"/>
              </a:spcBef>
            </a:pPr>
            <a:r>
              <a:rPr sz="1300">
                <a:solidFill>
                  <a:srgbClr val="1A1A2E"/>
                </a:solidFill>
              </a:rPr>
              <a:t>•  Baseline vs. RetryGuard experiment data across all load scenarios.</a:t>
            </a:r>
          </a:p>
          <a:p>
            <a:pPr algn="l">
              <a:spcBef>
                <a:spcPts val="200"/>
              </a:spcBef>
            </a:pPr>
            <a:r>
              <a:rPr sz="1300">
                <a:solidFill>
                  <a:srgbClr val="1A1A2E"/>
                </a:solidFill>
              </a:rPr>
              <a:t>•  Evaluation report with time-series charts comparing goodput, latency, retries per request, resource usage, and autoscaler behavior.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What is TopFull?</a:t>
            </a:r>
          </a:p>
          <a:p>
            <a:r>
              <a:rPr sz="1300">
                <a:solidFill>
                  <a:srgbClr val="B0C8E8"/>
                </a:solidFill>
              </a:rPr>
              <a:t>§2 — Problem it solves  ·  SIGCOMM 2024, KAIST</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2 OF 9 (1/2)</a:t>
            </a:r>
          </a:p>
        </p:txBody>
      </p:sp>
      <p:sp>
        <p:nvSpPr>
          <p:cNvPr id="6" name="TextBox 5"/>
          <p:cNvSpPr txBox="1"/>
          <p:nvPr/>
        </p:nvSpPr>
        <p:spPr>
          <a:xfrm>
            <a:off x="365760" y="1508760"/>
            <a:ext cx="5486400" cy="274320"/>
          </a:xfrm>
          <a:prstGeom prst="rect">
            <a:avLst/>
          </a:prstGeom>
          <a:noFill/>
        </p:spPr>
        <p:txBody>
          <a:bodyPr wrap="square">
            <a:spAutoFit/>
          </a:bodyPr>
          <a:lstStyle/>
          <a:p>
            <a:pPr algn="l"/>
            <a:r>
              <a:rPr sz="1100" b="1" i="0">
                <a:solidFill>
                  <a:srgbClr val="1F5F99"/>
                </a:solidFill>
              </a:rPr>
              <a:t>THE PROBLEM</a:t>
            </a:r>
          </a:p>
        </p:txBody>
      </p:sp>
      <p:sp>
        <p:nvSpPr>
          <p:cNvPr id="7" name="TextBox 6"/>
          <p:cNvSpPr txBox="1"/>
          <p:nvPr/>
        </p:nvSpPr>
        <p:spPr>
          <a:xfrm>
            <a:off x="365760" y="1783080"/>
            <a:ext cx="5486400" cy="1645920"/>
          </a:xfrm>
          <a:prstGeom prst="rect">
            <a:avLst/>
          </a:prstGeom>
          <a:noFill/>
        </p:spPr>
        <p:txBody>
          <a:bodyPr wrap="square">
            <a:spAutoFit/>
          </a:bodyPr>
          <a:lstStyle/>
          <a:p>
            <a:pPr algn="l"/>
            <a:r>
              <a:rPr sz="1250" b="0" i="0">
                <a:solidFill>
                  <a:srgbClr val="1A1A2E"/>
                </a:solidFill>
              </a:rPr>
              <a:t>Existing overload controls (DAGOR, Breakwater) manage individual microservices in isolation. When multiple APIs share an overloaded downstream microservice, this causes starvation.
Some API requests are partially processed then rejected downstream, wasting all resources spent on the upstream path.</a:t>
            </a:r>
          </a:p>
        </p:txBody>
      </p:sp>
      <p:sp>
        <p:nvSpPr>
          <p:cNvPr id="8" name="TextBox 7"/>
          <p:cNvSpPr txBox="1"/>
          <p:nvPr/>
        </p:nvSpPr>
        <p:spPr>
          <a:xfrm>
            <a:off x="365760" y="3566160"/>
            <a:ext cx="5486400" cy="274320"/>
          </a:xfrm>
          <a:prstGeom prst="rect">
            <a:avLst/>
          </a:prstGeom>
          <a:noFill/>
        </p:spPr>
        <p:txBody>
          <a:bodyPr wrap="square">
            <a:spAutoFit/>
          </a:bodyPr>
          <a:lstStyle/>
          <a:p>
            <a:pPr algn="l"/>
            <a:r>
              <a:rPr sz="1100" b="1" i="0">
                <a:solidFill>
                  <a:srgbClr val="1F5F99"/>
                </a:solidFill>
              </a:rPr>
              <a:t>HOW TOPFULL SOLVES IT</a:t>
            </a:r>
          </a:p>
        </p:txBody>
      </p:sp>
      <p:sp>
        <p:nvSpPr>
          <p:cNvPr id="9" name="TextBox 8"/>
          <p:cNvSpPr txBox="1"/>
          <p:nvPr/>
        </p:nvSpPr>
        <p:spPr>
          <a:xfrm>
            <a:off x="365760" y="3886200"/>
            <a:ext cx="5486400" cy="2377440"/>
          </a:xfrm>
          <a:prstGeom prst="rect">
            <a:avLst/>
          </a:prstGeom>
          <a:noFill/>
        </p:spPr>
        <p:txBody>
          <a:bodyPr wrap="square">
            <a:spAutoFit/>
          </a:bodyPr>
          <a:lstStyle/>
          <a:p>
            <a:pPr algn="l">
              <a:spcBef>
                <a:spcPts val="200"/>
              </a:spcBef>
            </a:pPr>
            <a:r>
              <a:rPr sz="1200">
                <a:solidFill>
                  <a:srgbClr val="1A1A2E"/>
                </a:solidFill>
              </a:rPr>
              <a:t>•  Top-down, API-wise control at the entry point — not per-microservice.</a:t>
            </a:r>
          </a:p>
          <a:p>
            <a:pPr algn="l">
              <a:spcBef>
                <a:spcPts val="200"/>
              </a:spcBef>
            </a:pPr>
            <a:r>
              <a:rPr sz="1200">
                <a:solidFill>
                  <a:srgbClr val="1A1A2E"/>
                </a:solidFill>
              </a:rPr>
              <a:t>•  Clusters interdependent APIs and solves each cluster independently.</a:t>
            </a:r>
          </a:p>
          <a:p>
            <a:pPr algn="l">
              <a:spcBef>
                <a:spcPts val="200"/>
              </a:spcBef>
            </a:pPr>
            <a:r>
              <a:rPr sz="1200">
                <a:solidFill>
                  <a:srgbClr val="1A1A2E"/>
                </a:solidFill>
              </a:rPr>
              <a:t>•  RL-based rate controller (PPO, Sim2Real) — decisions every 1 second.</a:t>
            </a:r>
          </a:p>
          <a:p>
            <a:pPr algn="l">
              <a:spcBef>
                <a:spcPts val="200"/>
              </a:spcBef>
            </a:pPr>
            <a:r>
              <a:rPr sz="1200">
                <a:solidFill>
                  <a:srgbClr val="1A1A2E"/>
                </a:solidFill>
              </a:rPr>
              <a:t>•  Respects business priority when throttling and recovering.</a:t>
            </a:r>
          </a:p>
        </p:txBody>
      </p:sp>
      <p:sp>
        <p:nvSpPr>
          <p:cNvPr id="10" name="Rectangle 9"/>
          <p:cNvSpPr/>
          <p:nvPr/>
        </p:nvSpPr>
        <p:spPr>
          <a:xfrm>
            <a:off x="6080760" y="1143000"/>
            <a:ext cx="19050" cy="54864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371600"/>
            <a:ext cx="5806440" cy="5120640"/>
          </a:xfrm>
          <a:prstGeom prst="rect">
            <a:avLst/>
          </a:prstGeom>
          <a:solidFill>
            <a:srgbClr val="D0E4F7"/>
          </a:solidFill>
          <a:ln w="12700">
            <a:solidFill>
              <a:srgbClr val="D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17320"/>
            <a:ext cx="5669280" cy="274320"/>
          </a:xfrm>
          <a:prstGeom prst="rect">
            <a:avLst/>
          </a:prstGeom>
          <a:noFill/>
        </p:spPr>
        <p:txBody>
          <a:bodyPr wrap="square">
            <a:spAutoFit/>
          </a:bodyPr>
          <a:lstStyle/>
          <a:p>
            <a:pPr algn="l"/>
            <a:r>
              <a:rPr sz="950" b="1" i="0">
                <a:solidFill>
                  <a:srgbClr val="1F5F99"/>
                </a:solidFill>
              </a:rPr>
              <a:t>  STARVATION: THE CORE PROBLEM</a:t>
            </a:r>
          </a:p>
        </p:txBody>
      </p:sp>
      <p:sp>
        <p:nvSpPr>
          <p:cNvPr id="13" name="Rounded Rectangle 12"/>
          <p:cNvSpPr/>
          <p:nvPr/>
        </p:nvSpPr>
        <p:spPr>
          <a:xfrm>
            <a:off x="6766560" y="1728216"/>
            <a:ext cx="4572000" cy="475488"/>
          </a:xfrm>
          <a:prstGeom prst="roundRect">
            <a:avLst/>
          </a:prstGeom>
          <a:solidFill>
            <a:srgbClr val="1A2E4A"/>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rPr>
              <a:t>TopFull Entry Proxy  (throttles API-wise)</a:t>
            </a:r>
          </a:p>
        </p:txBody>
      </p:sp>
      <p:sp>
        <p:nvSpPr>
          <p:cNvPr id="14" name="Rounded Rectangle 13"/>
          <p:cNvSpPr/>
          <p:nvPr/>
        </p:nvSpPr>
        <p:spPr>
          <a:xfrm>
            <a:off x="6675120" y="2628900"/>
            <a:ext cx="1645920" cy="411480"/>
          </a:xfrm>
          <a:prstGeom prst="roundRect">
            <a:avLst/>
          </a:prstGeom>
          <a:solidFill>
            <a:srgbClr val="1F5F99"/>
          </a:solidFill>
          <a:ln w="12700">
            <a:solidFill>
              <a:srgbClr val="1F5F9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rPr>
              <a:t>API 1</a:t>
            </a:r>
          </a:p>
        </p:txBody>
      </p:sp>
      <p:sp>
        <p:nvSpPr>
          <p:cNvPr id="15" name="Rounded Rectangle 14"/>
          <p:cNvSpPr/>
          <p:nvPr/>
        </p:nvSpPr>
        <p:spPr>
          <a:xfrm>
            <a:off x="9784080" y="2628900"/>
            <a:ext cx="1645920" cy="411480"/>
          </a:xfrm>
          <a:prstGeom prst="roundRect">
            <a:avLst/>
          </a:prstGeom>
          <a:solidFill>
            <a:srgbClr val="1F5F99"/>
          </a:solidFill>
          <a:ln w="12700">
            <a:solidFill>
              <a:srgbClr val="1F5F9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rPr>
              <a:t>API 2</a:t>
            </a:r>
          </a:p>
        </p:txBody>
      </p:sp>
      <p:cxnSp>
        <p:nvCxnSpPr>
          <p:cNvPr id="16" name="Connector 15"/>
          <p:cNvCxnSpPr/>
          <p:nvPr/>
        </p:nvCxnSpPr>
        <p:spPr>
          <a:xfrm>
            <a:off x="7498080" y="2203704"/>
            <a:ext cx="0" cy="420624"/>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7424928" y="2551176"/>
            <a:ext cx="73152"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498080" y="2551176"/>
            <a:ext cx="73152"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607040" y="2203704"/>
            <a:ext cx="0" cy="420624"/>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10533888" y="2551176"/>
            <a:ext cx="73152"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0607040" y="2551176"/>
            <a:ext cx="73152"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766560" y="3282696"/>
            <a:ext cx="4572000" cy="475488"/>
          </a:xfrm>
          <a:prstGeom prst="roundRect">
            <a:avLst/>
          </a:prstGeom>
          <a:solidFill>
            <a:srgbClr val="1A2E4A"/>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rPr>
              <a:t>Microservice A  (capacity: 10k rps)</a:t>
            </a:r>
          </a:p>
        </p:txBody>
      </p:sp>
      <p:cxnSp>
        <p:nvCxnSpPr>
          <p:cNvPr id="23" name="Connector 22"/>
          <p:cNvCxnSpPr/>
          <p:nvPr/>
        </p:nvCxnSpPr>
        <p:spPr>
          <a:xfrm>
            <a:off x="7498080" y="3035808"/>
            <a:ext cx="0" cy="246888"/>
          </a:xfrm>
          <a:prstGeom prst="line">
            <a:avLst/>
          </a:prstGeom>
          <a:ln w="25400">
            <a:solidFill>
              <a:srgbClr val="1A2E4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7424928" y="3209544"/>
            <a:ext cx="73152" cy="73152"/>
          </a:xfrm>
          <a:prstGeom prst="line">
            <a:avLst/>
          </a:prstGeom>
          <a:ln w="19050">
            <a:solidFill>
              <a:srgbClr val="1A2E4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498080" y="3209544"/>
            <a:ext cx="73152" cy="73152"/>
          </a:xfrm>
          <a:prstGeom prst="line">
            <a:avLst/>
          </a:prstGeom>
          <a:ln w="19050">
            <a:solidFill>
              <a:srgbClr val="1A2E4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607040" y="3035808"/>
            <a:ext cx="0" cy="246888"/>
          </a:xfrm>
          <a:prstGeom prst="line">
            <a:avLst/>
          </a:prstGeom>
          <a:ln w="25400">
            <a:solidFill>
              <a:srgbClr val="1A2E4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10533888" y="3209544"/>
            <a:ext cx="73152" cy="73152"/>
          </a:xfrm>
          <a:prstGeom prst="line">
            <a:avLst/>
          </a:prstGeom>
          <a:ln w="19050">
            <a:solidFill>
              <a:srgbClr val="1A2E4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0607040" y="3209544"/>
            <a:ext cx="73152" cy="73152"/>
          </a:xfrm>
          <a:prstGeom prst="line">
            <a:avLst/>
          </a:prstGeom>
          <a:ln w="19050">
            <a:solidFill>
              <a:srgbClr val="1A2E4A"/>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309360" y="4059936"/>
            <a:ext cx="2377440" cy="475488"/>
          </a:xfrm>
          <a:prstGeom prst="roundRect">
            <a:avLst/>
          </a:prstGeom>
          <a:solidFill>
            <a:srgbClr val="E86B1F"/>
          </a:solidFill>
          <a:ln w="12700">
            <a:solidFill>
              <a:srgbClr val="E86B1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rPr>
              <a:t>Microservice B
(capacity: 3k rps)</a:t>
            </a:r>
          </a:p>
        </p:txBody>
      </p:sp>
      <p:cxnSp>
        <p:nvCxnSpPr>
          <p:cNvPr id="30" name="Connector 29"/>
          <p:cNvCxnSpPr/>
          <p:nvPr/>
        </p:nvCxnSpPr>
        <p:spPr>
          <a:xfrm>
            <a:off x="7498080" y="3758184"/>
            <a:ext cx="0" cy="301752"/>
          </a:xfrm>
          <a:prstGeom prst="line">
            <a:avLst/>
          </a:prstGeom>
          <a:ln w="25400">
            <a:solidFill>
              <a:srgbClr val="E86B1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7424928" y="3986784"/>
            <a:ext cx="73152" cy="73152"/>
          </a:xfrm>
          <a:prstGeom prst="line">
            <a:avLst/>
          </a:prstGeom>
          <a:ln w="19050">
            <a:solidFill>
              <a:srgbClr val="E86B1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498080" y="3986784"/>
            <a:ext cx="73152" cy="73152"/>
          </a:xfrm>
          <a:prstGeom prst="line">
            <a:avLst/>
          </a:prstGeom>
          <a:ln w="19050">
            <a:solidFill>
              <a:srgbClr val="E86B1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321040" y="3931920"/>
            <a:ext cx="2011680" cy="292608"/>
          </a:xfrm>
          <a:prstGeom prst="rect">
            <a:avLst/>
          </a:prstGeom>
          <a:noFill/>
        </p:spPr>
        <p:txBody>
          <a:bodyPr wrap="square">
            <a:spAutoFit/>
          </a:bodyPr>
          <a:lstStyle/>
          <a:p>
            <a:pPr algn="l"/>
            <a:r>
              <a:rPr sz="900" b="0" i="0">
                <a:solidFill>
                  <a:srgbClr val="E86B1F"/>
                </a:solidFill>
              </a:rPr>
              <a:t>API 1 path only →</a:t>
            </a:r>
          </a:p>
        </p:txBody>
      </p:sp>
      <p:sp>
        <p:nvSpPr>
          <p:cNvPr id="34" name="Rectangle 33"/>
          <p:cNvSpPr/>
          <p:nvPr/>
        </p:nvSpPr>
        <p:spPr>
          <a:xfrm>
            <a:off x="6309360" y="4983480"/>
            <a:ext cx="5715000" cy="1280160"/>
          </a:xfrm>
          <a:prstGeom prst="rect">
            <a:avLst/>
          </a:prstGeom>
          <a:solidFill>
            <a:srgbClr val="FFF0E0"/>
          </a:solidFill>
          <a:ln w="12700">
            <a:solidFill>
              <a:srgbClr val="E86B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5029200"/>
            <a:ext cx="5532120" cy="1188720"/>
          </a:xfrm>
          <a:prstGeom prst="rect">
            <a:avLst/>
          </a:prstGeom>
          <a:noFill/>
        </p:spPr>
        <p:txBody>
          <a:bodyPr wrap="square">
            <a:spAutoFit/>
          </a:bodyPr>
          <a:lstStyle/>
          <a:p>
            <a:pPr algn="l"/>
            <a:r>
              <a:rPr sz="1050" b="0" i="0">
                <a:solidFill>
                  <a:srgbClr val="1A1A2E"/>
                </a:solidFill>
              </a:rPr>
              <a:t>Problem: MA wastes capacity on API 1 requests
that will be rejected at MB anyway.
→ API 2 gets less than its fair share of MA: starvation.
TopFull fixes this by clustering APIs and controlling
admission API-wise from the top.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What is TopFull? — Validation</a:t>
            </a:r>
          </a:p>
          <a:p>
            <a:r>
              <a:rPr sz="1300">
                <a:solidFill>
                  <a:srgbClr val="B0C8E8"/>
                </a:solidFill>
              </a:rPr>
              <a:t>§2 — Key results (supporting context)  ·  SIGCOMM 2024</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2 OF 9 (2/2)</a:t>
            </a:r>
          </a:p>
        </p:txBody>
      </p:sp>
      <p:sp>
        <p:nvSpPr>
          <p:cNvPr id="6" name="TextBox 5"/>
          <p:cNvSpPr txBox="1"/>
          <p:nvPr/>
        </p:nvSpPr>
        <p:spPr>
          <a:xfrm>
            <a:off x="365760" y="1508760"/>
            <a:ext cx="11430000" cy="411480"/>
          </a:xfrm>
          <a:prstGeom prst="rect">
            <a:avLst/>
          </a:prstGeom>
          <a:noFill/>
        </p:spPr>
        <p:txBody>
          <a:bodyPr wrap="square">
            <a:spAutoFit/>
          </a:bodyPr>
          <a:lstStyle/>
          <a:p>
            <a:pPr algn="l"/>
            <a:r>
              <a:rPr sz="1300" b="0" i="1">
                <a:solidFill>
                  <a:srgbClr val="55556B"/>
                </a:solidFill>
              </a:rPr>
              <a:t>The following results validate that TopFull works and is worth building on. They establish the baseline system we run RetryGuard on top of.</a:t>
            </a:r>
          </a:p>
        </p:txBody>
      </p:sp>
      <p:sp>
        <p:nvSpPr>
          <p:cNvPr id="7" name="Rectangle 6"/>
          <p:cNvSpPr/>
          <p:nvPr/>
        </p:nvSpPr>
        <p:spPr>
          <a:xfrm>
            <a:off x="365760" y="205740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194560"/>
            <a:ext cx="11430000" cy="274320"/>
          </a:xfrm>
          <a:prstGeom prst="rect">
            <a:avLst/>
          </a:prstGeom>
          <a:noFill/>
        </p:spPr>
        <p:txBody>
          <a:bodyPr wrap="square">
            <a:spAutoFit/>
          </a:bodyPr>
          <a:lstStyle/>
          <a:p>
            <a:pPr algn="l"/>
            <a:r>
              <a:rPr sz="1100" b="1" i="0">
                <a:solidFill>
                  <a:srgbClr val="1F5F99"/>
                </a:solidFill>
              </a:rPr>
              <a:t>SIGCOMM 2024 RESULTS (compact, supporting context only)</a:t>
            </a:r>
          </a:p>
        </p:txBody>
      </p:sp>
      <p:sp>
        <p:nvSpPr>
          <p:cNvPr id="9" name="TextBox 8"/>
          <p:cNvSpPr txBox="1"/>
          <p:nvPr/>
        </p:nvSpPr>
        <p:spPr>
          <a:xfrm>
            <a:off x="365760" y="2514600"/>
            <a:ext cx="6583680" cy="3200400"/>
          </a:xfrm>
          <a:prstGeom prst="rect">
            <a:avLst/>
          </a:prstGeom>
          <a:noFill/>
        </p:spPr>
        <p:txBody>
          <a:bodyPr wrap="square">
            <a:spAutoFit/>
          </a:bodyPr>
          <a:lstStyle/>
          <a:p>
            <a:pPr algn="l">
              <a:spcBef>
                <a:spcPts val="200"/>
              </a:spcBef>
            </a:pPr>
            <a:r>
              <a:rPr sz="1350">
                <a:solidFill>
                  <a:srgbClr val="1A1A2E"/>
                </a:solidFill>
              </a:rPr>
              <a:t>•  1.82× more goodput than DAGOR, 2.26× more than Breakwater during overload.</a:t>
            </a:r>
          </a:p>
          <a:p>
            <a:pPr algn="l">
              <a:spcBef>
                <a:spcPts val="200"/>
              </a:spcBef>
            </a:pPr>
            <a:r>
              <a:rPr sz="1350">
                <a:solidFill>
                  <a:srgbClr val="1A1A2E"/>
                </a:solidFill>
              </a:rPr>
              <a:t>•  With autoscaler: up to 3.91× more goodput under traffic surge vs. standalone autoscaler.</a:t>
            </a:r>
          </a:p>
          <a:p>
            <a:pPr algn="l">
              <a:spcBef>
                <a:spcPts val="200"/>
              </a:spcBef>
            </a:pPr>
            <a:r>
              <a:rPr sz="1350">
                <a:solidFill>
                  <a:srgbClr val="1A1A2E"/>
                </a:solidFill>
              </a:rPr>
              <a:t>•  Tolerates traffic spikes with up to 57% fewer infrastructure resources.</a:t>
            </a:r>
          </a:p>
          <a:p>
            <a:pPr algn="l">
              <a:spcBef>
                <a:spcPts val="200"/>
              </a:spcBef>
            </a:pPr>
            <a:r>
              <a:rPr sz="1350">
                <a:solidFill>
                  <a:srgbClr val="1A1A2E"/>
                </a:solidFill>
              </a:rPr>
              <a:t>•  Converges to optimal rate in 5 seconds vs. 27 seconds for DAGOR.</a:t>
            </a:r>
          </a:p>
        </p:txBody>
      </p:sp>
      <p:sp>
        <p:nvSpPr>
          <p:cNvPr id="10" name="Rectangle 9"/>
          <p:cNvSpPr/>
          <p:nvPr/>
        </p:nvSpPr>
        <p:spPr>
          <a:xfrm>
            <a:off x="6949440" y="1143000"/>
            <a:ext cx="19050" cy="54864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0" y="1920240"/>
            <a:ext cx="4663440" cy="3657600"/>
          </a:xfrm>
          <a:prstGeom prst="rect">
            <a:avLst/>
          </a:prstGeom>
          <a:solidFill>
            <a:srgbClr val="D0E4F7"/>
          </a:solidFill>
          <a:ln w="12700">
            <a:solidFill>
              <a:srgbClr val="D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0" y="1965960"/>
            <a:ext cx="4480560" cy="274320"/>
          </a:xfrm>
          <a:prstGeom prst="rect">
            <a:avLst/>
          </a:prstGeom>
          <a:noFill/>
        </p:spPr>
        <p:txBody>
          <a:bodyPr wrap="square">
            <a:spAutoFit/>
          </a:bodyPr>
          <a:lstStyle/>
          <a:p>
            <a:pPr algn="l"/>
            <a:r>
              <a:rPr sz="950" b="1" i="0">
                <a:solidFill>
                  <a:srgbClr val="1F5F99"/>
                </a:solidFill>
              </a:rPr>
              <a:t>  GOODPUT DURING OVERLOAD (illustrative, from TopFull.pdf)</a:t>
            </a:r>
          </a:p>
        </p:txBody>
      </p:sp>
      <p:sp>
        <p:nvSpPr>
          <p:cNvPr id="13" name="Rectangle 12"/>
          <p:cNvSpPr/>
          <p:nvPr/>
        </p:nvSpPr>
        <p:spPr>
          <a:xfrm>
            <a:off x="7406640" y="2468880"/>
            <a:ext cx="3474720" cy="411480"/>
          </a:xfrm>
          <a:prstGeom prst="rect">
            <a:avLst/>
          </a:prstGeom>
          <a:solidFill>
            <a:srgbClr val="D8D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2542032"/>
            <a:ext cx="914400" cy="320040"/>
          </a:xfrm>
          <a:prstGeom prst="rect">
            <a:avLst/>
          </a:prstGeom>
          <a:noFill/>
        </p:spPr>
        <p:txBody>
          <a:bodyPr wrap="square">
            <a:spAutoFit/>
          </a:bodyPr>
          <a:lstStyle/>
          <a:p>
            <a:pPr algn="r"/>
            <a:r>
              <a:rPr sz="1000" b="0" i="0">
                <a:solidFill>
                  <a:srgbClr val="1A1A2E"/>
                </a:solidFill>
              </a:rPr>
              <a:t>DAGOR</a:t>
            </a:r>
          </a:p>
        </p:txBody>
      </p:sp>
      <p:sp>
        <p:nvSpPr>
          <p:cNvPr id="15" name="TextBox 14"/>
          <p:cNvSpPr txBox="1"/>
          <p:nvPr/>
        </p:nvSpPr>
        <p:spPr>
          <a:xfrm>
            <a:off x="10945368" y="2542032"/>
            <a:ext cx="731520" cy="320040"/>
          </a:xfrm>
          <a:prstGeom prst="rect">
            <a:avLst/>
          </a:prstGeom>
          <a:noFill/>
        </p:spPr>
        <p:txBody>
          <a:bodyPr wrap="square">
            <a:spAutoFit/>
          </a:bodyPr>
          <a:lstStyle/>
          <a:p>
            <a:pPr algn="l"/>
            <a:r>
              <a:rPr sz="1000" b="1" i="0">
                <a:solidFill>
                  <a:srgbClr val="D8DCE8"/>
                </a:solidFill>
              </a:rPr>
              <a:t>1.00×</a:t>
            </a:r>
          </a:p>
        </p:txBody>
      </p:sp>
      <p:sp>
        <p:nvSpPr>
          <p:cNvPr id="16" name="Rectangle 15"/>
          <p:cNvSpPr/>
          <p:nvPr/>
        </p:nvSpPr>
        <p:spPr>
          <a:xfrm>
            <a:off x="7406640" y="3246120"/>
            <a:ext cx="2814523" cy="411480"/>
          </a:xfrm>
          <a:prstGeom prst="rect">
            <a:avLst/>
          </a:prstGeom>
          <a:solidFill>
            <a:srgbClr val="D8D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3319272"/>
            <a:ext cx="914400" cy="320040"/>
          </a:xfrm>
          <a:prstGeom prst="rect">
            <a:avLst/>
          </a:prstGeom>
          <a:noFill/>
        </p:spPr>
        <p:txBody>
          <a:bodyPr wrap="square">
            <a:spAutoFit/>
          </a:bodyPr>
          <a:lstStyle/>
          <a:p>
            <a:pPr algn="r"/>
            <a:r>
              <a:rPr sz="1000" b="0" i="0">
                <a:solidFill>
                  <a:srgbClr val="1A1A2E"/>
                </a:solidFill>
              </a:rPr>
              <a:t>Breakwater</a:t>
            </a:r>
          </a:p>
        </p:txBody>
      </p:sp>
      <p:sp>
        <p:nvSpPr>
          <p:cNvPr id="18" name="TextBox 17"/>
          <p:cNvSpPr txBox="1"/>
          <p:nvPr/>
        </p:nvSpPr>
        <p:spPr>
          <a:xfrm>
            <a:off x="10285171" y="3319272"/>
            <a:ext cx="731520" cy="320040"/>
          </a:xfrm>
          <a:prstGeom prst="rect">
            <a:avLst/>
          </a:prstGeom>
          <a:noFill/>
        </p:spPr>
        <p:txBody>
          <a:bodyPr wrap="square">
            <a:spAutoFit/>
          </a:bodyPr>
          <a:lstStyle/>
          <a:p>
            <a:pPr algn="l"/>
            <a:r>
              <a:rPr sz="1000" b="1" i="0">
                <a:solidFill>
                  <a:srgbClr val="D8DCE8"/>
                </a:solidFill>
              </a:rPr>
              <a:t>0.81×</a:t>
            </a:r>
          </a:p>
        </p:txBody>
      </p:sp>
      <p:sp>
        <p:nvSpPr>
          <p:cNvPr id="19" name="Rectangle 18"/>
          <p:cNvSpPr/>
          <p:nvPr/>
        </p:nvSpPr>
        <p:spPr>
          <a:xfrm>
            <a:off x="7406640" y="4023360"/>
            <a:ext cx="6323990" cy="41148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096512"/>
            <a:ext cx="914400" cy="320040"/>
          </a:xfrm>
          <a:prstGeom prst="rect">
            <a:avLst/>
          </a:prstGeom>
          <a:noFill/>
        </p:spPr>
        <p:txBody>
          <a:bodyPr wrap="square">
            <a:spAutoFit/>
          </a:bodyPr>
          <a:lstStyle/>
          <a:p>
            <a:pPr algn="r"/>
            <a:r>
              <a:rPr sz="1000" b="0" i="0">
                <a:solidFill>
                  <a:srgbClr val="1A1A2E"/>
                </a:solidFill>
              </a:rPr>
              <a:t>TopFull</a:t>
            </a:r>
          </a:p>
        </p:txBody>
      </p:sp>
      <p:sp>
        <p:nvSpPr>
          <p:cNvPr id="21" name="TextBox 20"/>
          <p:cNvSpPr txBox="1"/>
          <p:nvPr/>
        </p:nvSpPr>
        <p:spPr>
          <a:xfrm>
            <a:off x="13794638" y="4096512"/>
            <a:ext cx="731520" cy="320040"/>
          </a:xfrm>
          <a:prstGeom prst="rect">
            <a:avLst/>
          </a:prstGeom>
          <a:noFill/>
        </p:spPr>
        <p:txBody>
          <a:bodyPr wrap="square">
            <a:spAutoFit/>
          </a:bodyPr>
          <a:lstStyle/>
          <a:p>
            <a:pPr algn="l"/>
            <a:r>
              <a:rPr sz="1000" b="1" i="0">
                <a:solidFill>
                  <a:srgbClr val="1F5F99"/>
                </a:solidFill>
              </a:rPr>
              <a:t>1.82×</a:t>
            </a:r>
          </a:p>
        </p:txBody>
      </p:sp>
      <p:sp>
        <p:nvSpPr>
          <p:cNvPr id="22" name="TextBox 21"/>
          <p:cNvSpPr txBox="1"/>
          <p:nvPr/>
        </p:nvSpPr>
        <p:spPr>
          <a:xfrm>
            <a:off x="7223760" y="4892040"/>
            <a:ext cx="4480560" cy="457200"/>
          </a:xfrm>
          <a:prstGeom prst="rect">
            <a:avLst/>
          </a:prstGeom>
          <a:noFill/>
        </p:spPr>
        <p:txBody>
          <a:bodyPr wrap="square">
            <a:spAutoFit/>
          </a:bodyPr>
          <a:lstStyle/>
          <a:p>
            <a:pPr algn="l"/>
            <a:r>
              <a:rPr sz="900" b="0" i="1">
                <a:solidFill>
                  <a:srgbClr val="55556B"/>
                </a:solidFill>
              </a:rPr>
              <a:t>Normalised to DAGOR goodput = 1.0
Source: TopFull.pdf (Fig. 8)</a:t>
            </a:r>
          </a:p>
        </p:txBody>
      </p:sp>
      <p:sp>
        <p:nvSpPr>
          <p:cNvPr id="23" name="TextBox 22"/>
          <p:cNvSpPr txBox="1"/>
          <p:nvPr/>
        </p:nvSpPr>
        <p:spPr>
          <a:xfrm>
            <a:off x="365760" y="6263640"/>
            <a:ext cx="11430000" cy="320040"/>
          </a:xfrm>
          <a:prstGeom prst="rect">
            <a:avLst/>
          </a:prstGeom>
          <a:noFill/>
        </p:spPr>
        <p:txBody>
          <a:bodyPr wrap="square">
            <a:spAutoFit/>
          </a:bodyPr>
          <a:lstStyle/>
          <a:p>
            <a:pPr algn="l"/>
            <a:r>
              <a:rPr sz="1000" b="0" i="1">
                <a:solidFill>
                  <a:srgbClr val="55556B"/>
                </a:solidFill>
              </a:rPr>
              <a:t>Source: TopFull.pdf, PRESENTATION-GUIDE.md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What is RetryGuard?</a:t>
            </a:r>
          </a:p>
          <a:p>
            <a:r>
              <a:rPr sz="1300">
                <a:solidFill>
                  <a:srgbClr val="B0C8E8"/>
                </a:solidFill>
              </a:rPr>
              <a:t>§3 — Problem it solves  ·  TAU Deepness Lab, arXiv:2511.23278, 2025</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3 OF 9 (1/2)</a:t>
            </a:r>
          </a:p>
        </p:txBody>
      </p:sp>
      <p:sp>
        <p:nvSpPr>
          <p:cNvPr id="6" name="TextBox 5"/>
          <p:cNvSpPr txBox="1"/>
          <p:nvPr/>
        </p:nvSpPr>
        <p:spPr>
          <a:xfrm>
            <a:off x="365760" y="1508760"/>
            <a:ext cx="5486400" cy="274320"/>
          </a:xfrm>
          <a:prstGeom prst="rect">
            <a:avLst/>
          </a:prstGeom>
          <a:noFill/>
        </p:spPr>
        <p:txBody>
          <a:bodyPr wrap="square">
            <a:spAutoFit/>
          </a:bodyPr>
          <a:lstStyle/>
          <a:p>
            <a:pPr algn="l"/>
            <a:r>
              <a:rPr sz="1100" b="1" i="0">
                <a:solidFill>
                  <a:srgbClr val="1F5F99"/>
                </a:solidFill>
              </a:rPr>
              <a:t>THE PROBLEM</a:t>
            </a:r>
          </a:p>
        </p:txBody>
      </p:sp>
      <p:sp>
        <p:nvSpPr>
          <p:cNvPr id="7" name="TextBox 6"/>
          <p:cNvSpPr txBox="1"/>
          <p:nvPr/>
        </p:nvSpPr>
        <p:spPr>
          <a:xfrm>
            <a:off x="365760" y="1783080"/>
            <a:ext cx="5486400" cy="1645920"/>
          </a:xfrm>
          <a:prstGeom prst="rect">
            <a:avLst/>
          </a:prstGeom>
          <a:noFill/>
        </p:spPr>
        <p:txBody>
          <a:bodyPr wrap="square">
            <a:spAutoFit/>
          </a:bodyPr>
          <a:lstStyle/>
          <a:p>
            <a:pPr algn="l"/>
            <a:r>
              <a:rPr sz="1250" b="0" i="0">
                <a:solidFill>
                  <a:srgbClr val="1A1A2E"/>
                </a:solidFill>
              </a:rPr>
              <a:t>Default retry mechanisms (exponential backoff, jitter, retry budgets) are designed for instantaneous failures.
During prolonged miscoordination — when services scale at different rates — retries become counterproductive. Each failed retry multiplies load on an already-overloaded service.</a:t>
            </a:r>
          </a:p>
        </p:txBody>
      </p:sp>
      <p:sp>
        <p:nvSpPr>
          <p:cNvPr id="8" name="TextBox 7"/>
          <p:cNvSpPr txBox="1"/>
          <p:nvPr/>
        </p:nvSpPr>
        <p:spPr>
          <a:xfrm>
            <a:off x="365760" y="3520440"/>
            <a:ext cx="5486400" cy="274320"/>
          </a:xfrm>
          <a:prstGeom prst="rect">
            <a:avLst/>
          </a:prstGeom>
          <a:noFill/>
        </p:spPr>
        <p:txBody>
          <a:bodyPr wrap="square">
            <a:spAutoFit/>
          </a:bodyPr>
          <a:lstStyle/>
          <a:p>
            <a:pPr algn="l"/>
            <a:r>
              <a:rPr sz="1100" b="1" i="0">
                <a:solidFill>
                  <a:srgbClr val="1F5F99"/>
                </a:solidFill>
              </a:rPr>
              <a:t>THE CONSEQUENCE</a:t>
            </a:r>
          </a:p>
        </p:txBody>
      </p:sp>
      <p:sp>
        <p:nvSpPr>
          <p:cNvPr id="9" name="TextBox 8"/>
          <p:cNvSpPr txBox="1"/>
          <p:nvPr/>
        </p:nvSpPr>
        <p:spPr>
          <a:xfrm>
            <a:off x="365760" y="3840480"/>
            <a:ext cx="5486400" cy="2194560"/>
          </a:xfrm>
          <a:prstGeom prst="rect">
            <a:avLst/>
          </a:prstGeom>
          <a:noFill/>
        </p:spPr>
        <p:txBody>
          <a:bodyPr wrap="square">
            <a:spAutoFit/>
          </a:bodyPr>
          <a:lstStyle/>
          <a:p>
            <a:pPr algn="l">
              <a:spcBef>
                <a:spcPts val="200"/>
              </a:spcBef>
            </a:pPr>
            <a:r>
              <a:rPr sz="1200">
                <a:solidFill>
                  <a:srgbClr val="1A1A2E"/>
                </a:solidFill>
              </a:rPr>
              <a:t>•  Rejection rate rises sharply when ρ &gt; 1 (shown analytically, paper Sec. 5).</a:t>
            </a:r>
          </a:p>
          <a:p>
            <a:pPr algn="l">
              <a:spcBef>
                <a:spcPts val="200"/>
              </a:spcBef>
            </a:pPr>
            <a:r>
              <a:rPr sz="1200">
                <a:solidFill>
                  <a:srgbClr val="1A1A2E"/>
                </a:solidFill>
              </a:rPr>
              <a:t>•  Each retry multiplies load further — a snowball effect.</a:t>
            </a:r>
          </a:p>
          <a:p>
            <a:pPr algn="l">
              <a:spcBef>
                <a:spcPts val="200"/>
              </a:spcBef>
            </a:pPr>
            <a:r>
              <a:rPr sz="1200">
                <a:solidFill>
                  <a:srgbClr val="1A1A2E"/>
                </a:solidFill>
              </a:rPr>
              <a:t>•  Result: self-inflicted Denial-of-Wallet (DoW) — inflated costs, over-scaling, degraded performance.</a:t>
            </a:r>
          </a:p>
          <a:p>
            <a:pPr algn="l">
              <a:spcBef>
                <a:spcPts val="200"/>
              </a:spcBef>
            </a:pPr>
            <a:r>
              <a:rPr sz="1200">
                <a:solidFill>
                  <a:srgbClr val="1A1A2E"/>
                </a:solidFill>
              </a:rPr>
              <a:t>•  Effect persists as long as the miscoordination lasts — brief spikes do not trigger it.</a:t>
            </a:r>
          </a:p>
        </p:txBody>
      </p:sp>
      <p:sp>
        <p:nvSpPr>
          <p:cNvPr id="10" name="Rectangle 9"/>
          <p:cNvSpPr/>
          <p:nvPr/>
        </p:nvSpPr>
        <p:spPr>
          <a:xfrm>
            <a:off x="6080760" y="1143000"/>
            <a:ext cx="19050" cy="54864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371600"/>
            <a:ext cx="5806440" cy="5120640"/>
          </a:xfrm>
          <a:prstGeom prst="rect">
            <a:avLst/>
          </a:prstGeom>
          <a:solidFill>
            <a:srgbClr val="D0E4F7"/>
          </a:solidFill>
          <a:ln w="12700">
            <a:solidFill>
              <a:srgbClr val="D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17320"/>
            <a:ext cx="5669280" cy="274320"/>
          </a:xfrm>
          <a:prstGeom prst="rect">
            <a:avLst/>
          </a:prstGeom>
          <a:noFill/>
        </p:spPr>
        <p:txBody>
          <a:bodyPr wrap="square">
            <a:spAutoFit/>
          </a:bodyPr>
          <a:lstStyle/>
          <a:p>
            <a:pPr algn="l"/>
            <a:r>
              <a:rPr sz="950" b="1" i="0">
                <a:solidFill>
                  <a:srgbClr val="1F5F99"/>
                </a:solidFill>
              </a:rPr>
              <a:t>  THE RETRY STORM FEEDBACK LOOP</a:t>
            </a:r>
          </a:p>
        </p:txBody>
      </p:sp>
      <p:sp>
        <p:nvSpPr>
          <p:cNvPr id="13" name="Rounded Rectangle 12"/>
          <p:cNvSpPr/>
          <p:nvPr/>
        </p:nvSpPr>
        <p:spPr>
          <a:xfrm>
            <a:off x="7452360" y="1773936"/>
            <a:ext cx="3200400" cy="475488"/>
          </a:xfrm>
          <a:prstGeom prst="roundRect">
            <a:avLst/>
          </a:prstGeom>
          <a:solidFill>
            <a:srgbClr val="1F5F99"/>
          </a:solidFill>
          <a:ln w="12700">
            <a:solidFill>
              <a:srgbClr val="1F5F9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rPr>
              <a:t>Upstream Service</a:t>
            </a:r>
          </a:p>
        </p:txBody>
      </p:sp>
      <p:sp>
        <p:nvSpPr>
          <p:cNvPr id="14" name="Rounded Rectangle 13"/>
          <p:cNvSpPr/>
          <p:nvPr/>
        </p:nvSpPr>
        <p:spPr>
          <a:xfrm>
            <a:off x="7452360" y="3008376"/>
            <a:ext cx="3200400" cy="475488"/>
          </a:xfrm>
          <a:prstGeom prst="roundRect">
            <a:avLst/>
          </a:prstGeom>
          <a:solidFill>
            <a:srgbClr val="E86B1F"/>
          </a:solidFill>
          <a:ln w="12700">
            <a:solidFill>
              <a:srgbClr val="E86B1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rPr>
              <a:t>Overloaded Service  (ρ &gt; 1)</a:t>
            </a:r>
          </a:p>
        </p:txBody>
      </p:sp>
      <p:cxnSp>
        <p:nvCxnSpPr>
          <p:cNvPr id="15" name="Connector 14"/>
          <p:cNvCxnSpPr/>
          <p:nvPr/>
        </p:nvCxnSpPr>
        <p:spPr>
          <a:xfrm>
            <a:off x="9052560" y="2249424"/>
            <a:ext cx="0" cy="758952"/>
          </a:xfrm>
          <a:prstGeom prst="line">
            <a:avLst/>
          </a:prstGeom>
          <a:ln w="25400">
            <a:solidFill>
              <a:srgbClr val="1A2E4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8979408" y="2935224"/>
            <a:ext cx="73152" cy="73152"/>
          </a:xfrm>
          <a:prstGeom prst="line">
            <a:avLst/>
          </a:prstGeom>
          <a:ln w="19050">
            <a:solidFill>
              <a:srgbClr val="1A2E4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9052560" y="2935224"/>
            <a:ext cx="73152" cy="73152"/>
          </a:xfrm>
          <a:prstGeom prst="line">
            <a:avLst/>
          </a:prstGeom>
          <a:ln w="19050">
            <a:solidFill>
              <a:srgbClr val="1A2E4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253728" y="2423160"/>
            <a:ext cx="1371600" cy="274320"/>
          </a:xfrm>
          <a:prstGeom prst="rect">
            <a:avLst/>
          </a:prstGeom>
          <a:noFill/>
        </p:spPr>
        <p:txBody>
          <a:bodyPr wrap="square">
            <a:spAutoFit/>
          </a:bodyPr>
          <a:lstStyle/>
          <a:p>
            <a:pPr algn="l"/>
            <a:r>
              <a:rPr sz="1000" b="0" i="0">
                <a:solidFill>
                  <a:srgbClr val="1A2E4A"/>
                </a:solidFill>
              </a:rPr>
              <a:t>request</a:t>
            </a:r>
          </a:p>
        </p:txBody>
      </p:sp>
      <p:cxnSp>
        <p:nvCxnSpPr>
          <p:cNvPr id="19" name="Connector 18"/>
          <p:cNvCxnSpPr/>
          <p:nvPr/>
        </p:nvCxnSpPr>
        <p:spPr>
          <a:xfrm flipV="1">
            <a:off x="10332720" y="2487168"/>
            <a:ext cx="0" cy="758952"/>
          </a:xfrm>
          <a:prstGeom prst="line">
            <a:avLst/>
          </a:prstGeom>
          <a:ln w="25400">
            <a:solidFill>
              <a:srgbClr val="C02A2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9857232" y="2487168"/>
            <a:ext cx="475488" cy="0"/>
          </a:xfrm>
          <a:prstGeom prst="line">
            <a:avLst/>
          </a:prstGeom>
          <a:ln w="25400">
            <a:solidFill>
              <a:srgbClr val="C02A2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424160" y="2743200"/>
            <a:ext cx="1188720" cy="274320"/>
          </a:xfrm>
          <a:prstGeom prst="rect">
            <a:avLst/>
          </a:prstGeom>
          <a:noFill/>
        </p:spPr>
        <p:txBody>
          <a:bodyPr wrap="square">
            <a:spAutoFit/>
          </a:bodyPr>
          <a:lstStyle/>
          <a:p>
            <a:pPr algn="l"/>
            <a:r>
              <a:rPr sz="1000" b="1" i="0">
                <a:solidFill>
                  <a:srgbClr val="C02A2A"/>
                </a:solidFill>
              </a:rPr>
              <a:t>rejected!</a:t>
            </a:r>
          </a:p>
        </p:txBody>
      </p:sp>
      <p:cxnSp>
        <p:nvCxnSpPr>
          <p:cNvPr id="22" name="Connector 21"/>
          <p:cNvCxnSpPr/>
          <p:nvPr/>
        </p:nvCxnSpPr>
        <p:spPr>
          <a:xfrm>
            <a:off x="7452360" y="2249424"/>
            <a:ext cx="0" cy="758952"/>
          </a:xfrm>
          <a:prstGeom prst="line">
            <a:avLst/>
          </a:prstGeom>
          <a:ln w="19050">
            <a:solidFill>
              <a:srgbClr val="E89B4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12280" y="1993392"/>
            <a:ext cx="594360" cy="274320"/>
          </a:xfrm>
          <a:prstGeom prst="rect">
            <a:avLst/>
          </a:prstGeom>
          <a:noFill/>
        </p:spPr>
        <p:txBody>
          <a:bodyPr wrap="square">
            <a:spAutoFit/>
          </a:bodyPr>
          <a:lstStyle/>
          <a:p>
            <a:pPr algn="l"/>
            <a:r>
              <a:rPr sz="900" b="0" i="0">
                <a:solidFill>
                  <a:srgbClr val="E89B4F"/>
                </a:solidFill>
              </a:rPr>
              <a:t>retry 1</a:t>
            </a:r>
          </a:p>
        </p:txBody>
      </p:sp>
      <p:cxnSp>
        <p:nvCxnSpPr>
          <p:cNvPr id="24" name="Connector 23"/>
          <p:cNvCxnSpPr/>
          <p:nvPr/>
        </p:nvCxnSpPr>
        <p:spPr>
          <a:xfrm>
            <a:off x="7955280" y="2249424"/>
            <a:ext cx="0" cy="758952"/>
          </a:xfrm>
          <a:prstGeom prst="line">
            <a:avLst/>
          </a:prstGeom>
          <a:ln w="29209">
            <a:solidFill>
              <a:srgbClr val="E86B1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315200" y="1993392"/>
            <a:ext cx="594360" cy="274320"/>
          </a:xfrm>
          <a:prstGeom prst="rect">
            <a:avLst/>
          </a:prstGeom>
          <a:noFill/>
        </p:spPr>
        <p:txBody>
          <a:bodyPr wrap="square">
            <a:spAutoFit/>
          </a:bodyPr>
          <a:lstStyle/>
          <a:p>
            <a:pPr algn="l"/>
            <a:r>
              <a:rPr sz="900" b="0" i="0">
                <a:solidFill>
                  <a:srgbClr val="E86B1F"/>
                </a:solidFill>
              </a:rPr>
              <a:t>retry 2</a:t>
            </a:r>
          </a:p>
        </p:txBody>
      </p:sp>
      <p:cxnSp>
        <p:nvCxnSpPr>
          <p:cNvPr id="26" name="Connector 25"/>
          <p:cNvCxnSpPr/>
          <p:nvPr/>
        </p:nvCxnSpPr>
        <p:spPr>
          <a:xfrm>
            <a:off x="8458200" y="2249424"/>
            <a:ext cx="0" cy="758952"/>
          </a:xfrm>
          <a:prstGeom prst="line">
            <a:avLst/>
          </a:prstGeom>
          <a:ln w="39370">
            <a:solidFill>
              <a:srgbClr val="C02A2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818120" y="1993392"/>
            <a:ext cx="594360" cy="274320"/>
          </a:xfrm>
          <a:prstGeom prst="rect">
            <a:avLst/>
          </a:prstGeom>
          <a:noFill/>
        </p:spPr>
        <p:txBody>
          <a:bodyPr wrap="square">
            <a:spAutoFit/>
          </a:bodyPr>
          <a:lstStyle/>
          <a:p>
            <a:pPr algn="l"/>
            <a:r>
              <a:rPr sz="900" b="0" i="0">
                <a:solidFill>
                  <a:srgbClr val="C02A2A"/>
                </a:solidFill>
              </a:rPr>
              <a:t>retry 3</a:t>
            </a:r>
          </a:p>
        </p:txBody>
      </p:sp>
      <p:sp>
        <p:nvSpPr>
          <p:cNvPr id="28" name="Rectangle 27"/>
          <p:cNvSpPr/>
          <p:nvPr/>
        </p:nvSpPr>
        <p:spPr>
          <a:xfrm>
            <a:off x="6309360" y="3977639"/>
            <a:ext cx="5715000" cy="411480"/>
          </a:xfrm>
          <a:prstGeom prst="rect">
            <a:avLst/>
          </a:prstGeom>
          <a:solidFill>
            <a:srgbClr val="FFF0E0"/>
          </a:solidFill>
          <a:ln w="12700">
            <a:solidFill>
              <a:srgbClr val="E86B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4005072"/>
            <a:ext cx="5532120" cy="347472"/>
          </a:xfrm>
          <a:prstGeom prst="rect">
            <a:avLst/>
          </a:prstGeom>
          <a:noFill/>
        </p:spPr>
        <p:txBody>
          <a:bodyPr wrap="square">
            <a:spAutoFit/>
          </a:bodyPr>
          <a:lstStyle/>
          <a:p>
            <a:pPr algn="l"/>
            <a:r>
              <a:rPr sz="1100" b="1" i="0">
                <a:solidFill>
                  <a:srgbClr val="E86B1F"/>
                </a:solidFill>
              </a:rPr>
              <a:t>Each retry adds to ρ  →  more rejections  →  more retries  →  ρ rises further</a:t>
            </a:r>
          </a:p>
        </p:txBody>
      </p:sp>
      <p:sp>
        <p:nvSpPr>
          <p:cNvPr id="30" name="Rounded Rectangle 29"/>
          <p:cNvSpPr/>
          <p:nvPr/>
        </p:nvSpPr>
        <p:spPr>
          <a:xfrm>
            <a:off x="6537960" y="4471416"/>
            <a:ext cx="5029200" cy="566928"/>
          </a:xfrm>
          <a:prstGeom prst="roundRect">
            <a:avLst/>
          </a:prstGeom>
          <a:solidFill>
            <a:srgbClr val="C02A2A"/>
          </a:solidFill>
          <a:ln w="12700">
            <a:solidFill>
              <a:srgbClr val="C02A2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rPr>
              <a:t>Denial-of-Wallet: over-scaling, inflated billing, degraded SLO</a:t>
            </a:r>
          </a:p>
        </p:txBody>
      </p:sp>
      <p:cxnSp>
        <p:nvCxnSpPr>
          <p:cNvPr id="31" name="Connector 30"/>
          <p:cNvCxnSpPr/>
          <p:nvPr/>
        </p:nvCxnSpPr>
        <p:spPr>
          <a:xfrm>
            <a:off x="9052560" y="3721608"/>
            <a:ext cx="0" cy="749808"/>
          </a:xfrm>
          <a:prstGeom prst="line">
            <a:avLst/>
          </a:prstGeom>
          <a:ln w="25400">
            <a:solidFill>
              <a:srgbClr val="C02A2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8979408" y="4398264"/>
            <a:ext cx="73152" cy="73152"/>
          </a:xfrm>
          <a:prstGeom prst="line">
            <a:avLst/>
          </a:prstGeom>
          <a:ln w="19050">
            <a:solidFill>
              <a:srgbClr val="C02A2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052560" y="4398264"/>
            <a:ext cx="73152" cy="73152"/>
          </a:xfrm>
          <a:prstGeom prst="line">
            <a:avLst/>
          </a:prstGeom>
          <a:ln w="19050">
            <a:solidFill>
              <a:srgbClr val="C02A2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What is RetryGuard? — Algorithm 1 &amp; Integration</a:t>
            </a:r>
          </a:p>
          <a:p>
            <a:r>
              <a:rPr sz="1300">
                <a:solidFill>
                  <a:srgbClr val="B0C8E8"/>
                </a:solidFill>
              </a:rPr>
              <a:t>§3 — How it works and how we run it</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3 OF 9 (2/2)</a:t>
            </a:r>
          </a:p>
        </p:txBody>
      </p:sp>
      <p:sp>
        <p:nvSpPr>
          <p:cNvPr id="6" name="TextBox 5"/>
          <p:cNvSpPr txBox="1"/>
          <p:nvPr/>
        </p:nvSpPr>
        <p:spPr>
          <a:xfrm>
            <a:off x="365760" y="1508760"/>
            <a:ext cx="5303520" cy="274320"/>
          </a:xfrm>
          <a:prstGeom prst="rect">
            <a:avLst/>
          </a:prstGeom>
          <a:noFill/>
        </p:spPr>
        <p:txBody>
          <a:bodyPr wrap="square">
            <a:spAutoFit/>
          </a:bodyPr>
          <a:lstStyle/>
          <a:p>
            <a:pPr algn="l"/>
            <a:r>
              <a:rPr sz="1100" b="1" i="0">
                <a:solidFill>
                  <a:srgbClr val="1F5F99"/>
                </a:solidFill>
              </a:rPr>
              <a:t>ALGORITHM 1 — PER-SERVICE RETRY CONTROLLER</a:t>
            </a:r>
          </a:p>
        </p:txBody>
      </p:sp>
      <p:sp>
        <p:nvSpPr>
          <p:cNvPr id="7" name="TextBox 6"/>
          <p:cNvSpPr txBox="1"/>
          <p:nvPr/>
        </p:nvSpPr>
        <p:spPr>
          <a:xfrm>
            <a:off x="365760" y="1828800"/>
            <a:ext cx="5303520" cy="2468880"/>
          </a:xfrm>
          <a:prstGeom prst="rect">
            <a:avLst/>
          </a:prstGeom>
          <a:noFill/>
        </p:spPr>
        <p:txBody>
          <a:bodyPr wrap="square">
            <a:spAutoFit/>
          </a:bodyPr>
          <a:lstStyle/>
          <a:p>
            <a:pPr algn="l">
              <a:spcBef>
                <a:spcPts val="200"/>
              </a:spcBef>
            </a:pPr>
            <a:r>
              <a:rPr sz="1200">
                <a:solidFill>
                  <a:srgbClr val="1A1A2E"/>
                </a:solidFill>
              </a:rPr>
              <a:t>•  Monitors rejection rate per service continuously.</a:t>
            </a:r>
          </a:p>
          <a:p>
            <a:pPr algn="l">
              <a:spcBef>
                <a:spcPts val="200"/>
              </a:spcBef>
            </a:pPr>
            <a:r>
              <a:rPr sz="1200">
                <a:solidFill>
                  <a:srgbClr val="1A1A2E"/>
                </a:solidFill>
              </a:rPr>
              <a:t>•  If rejection rate &gt; ~20% threshold for Interval consecutive periods (~30s each) → Consecutive_high ≥ Interval: DISABLE retries for that service.</a:t>
            </a:r>
          </a:p>
          <a:p>
            <a:pPr algn="l">
              <a:spcBef>
                <a:spcPts val="200"/>
              </a:spcBef>
            </a:pPr>
            <a:r>
              <a:rPr sz="1200">
                <a:solidFill>
                  <a:srgbClr val="1A1A2E"/>
                </a:solidFill>
              </a:rPr>
              <a:t>•  If rejection rate &lt; threshold for Interval consecutive periods → Consecutive_low ≥ Interval: RE-ENABLE retries.</a:t>
            </a:r>
          </a:p>
          <a:p>
            <a:pPr algn="l">
              <a:spcBef>
                <a:spcPts val="200"/>
              </a:spcBef>
            </a:pPr>
            <a:r>
              <a:rPr sz="1200">
                <a:solidFill>
                  <a:srgbClr val="1A1A2E"/>
                </a:solidFill>
              </a:rPr>
              <a:t>•  Distributed — each service runs its own instance. No central orchestrator.</a:t>
            </a:r>
          </a:p>
          <a:p>
            <a:pPr algn="l">
              <a:spcBef>
                <a:spcPts val="200"/>
              </a:spcBef>
            </a:pPr>
            <a:r>
              <a:rPr sz="1200">
                <a:solidFill>
                  <a:srgbClr val="1A1A2E"/>
                </a:solidFill>
              </a:rPr>
              <a:t>•  Non-intrusive under normal load (ρ &lt; 1) — false positives are negligible (paper Fig. 7).</a:t>
            </a:r>
          </a:p>
        </p:txBody>
      </p:sp>
      <p:sp>
        <p:nvSpPr>
          <p:cNvPr id="8" name="Rectangle 7"/>
          <p:cNvSpPr/>
          <p:nvPr/>
        </p:nvSpPr>
        <p:spPr>
          <a:xfrm>
            <a:off x="365760" y="448056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617720"/>
            <a:ext cx="5303520" cy="274320"/>
          </a:xfrm>
          <a:prstGeom prst="rect">
            <a:avLst/>
          </a:prstGeom>
          <a:noFill/>
        </p:spPr>
        <p:txBody>
          <a:bodyPr wrap="square">
            <a:spAutoFit/>
          </a:bodyPr>
          <a:lstStyle/>
          <a:p>
            <a:pPr algn="l"/>
            <a:r>
              <a:rPr sz="1100" b="1" i="0">
                <a:solidFill>
                  <a:srgbClr val="1F5F99"/>
                </a:solidFill>
              </a:rPr>
              <a:t>ISTIO INTEGRATION (Appendix A + Sec. 4)</a:t>
            </a:r>
          </a:p>
        </p:txBody>
      </p:sp>
      <p:sp>
        <p:nvSpPr>
          <p:cNvPr id="10" name="TextBox 9"/>
          <p:cNvSpPr txBox="1"/>
          <p:nvPr/>
        </p:nvSpPr>
        <p:spPr>
          <a:xfrm>
            <a:off x="365760" y="4937760"/>
            <a:ext cx="5303520" cy="1554480"/>
          </a:xfrm>
          <a:prstGeom prst="rect">
            <a:avLst/>
          </a:prstGeom>
          <a:noFill/>
        </p:spPr>
        <p:txBody>
          <a:bodyPr wrap="square">
            <a:spAutoFit/>
          </a:bodyPr>
          <a:lstStyle/>
          <a:p>
            <a:pPr algn="l">
              <a:spcBef>
                <a:spcPts val="200"/>
              </a:spcBef>
            </a:pPr>
            <a:r>
              <a:rPr sz="1200">
                <a:solidFill>
                  <a:srgbClr val="1A1A2E"/>
                </a:solidFill>
              </a:rPr>
              <a:t>•  Python script on master node samples Istio/Envoy sidecar HTTP error rates.</a:t>
            </a:r>
          </a:p>
          <a:p>
            <a:pPr algn="l">
              <a:spcBef>
                <a:spcPts val="200"/>
              </a:spcBef>
            </a:pPr>
            <a:r>
              <a:rPr sz="1200">
                <a:solidFill>
                  <a:srgbClr val="1A1A2E"/>
                </a:solidFill>
              </a:rPr>
              <a:t>•  Patches Istio VirtualService retry policy per service via Kubernetes Python client.</a:t>
            </a:r>
          </a:p>
          <a:p>
            <a:pPr algn="l">
              <a:spcBef>
                <a:spcPts val="200"/>
              </a:spcBef>
            </a:pPr>
            <a:r>
              <a:rPr sz="1200">
                <a:solidFill>
                  <a:srgbClr val="1A1A2E"/>
                </a:solidFill>
              </a:rPr>
              <a:t>•  No per-request overhead — 30s polling cycle. No application code changes.</a:t>
            </a:r>
          </a:p>
        </p:txBody>
      </p:sp>
      <p:sp>
        <p:nvSpPr>
          <p:cNvPr id="11" name="Rectangle 10"/>
          <p:cNvSpPr/>
          <p:nvPr/>
        </p:nvSpPr>
        <p:spPr>
          <a:xfrm>
            <a:off x="5897880" y="1143000"/>
            <a:ext cx="19050" cy="54864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35040" y="1371600"/>
            <a:ext cx="6035040" cy="5120640"/>
          </a:xfrm>
          <a:prstGeom prst="rect">
            <a:avLst/>
          </a:prstGeom>
          <a:solidFill>
            <a:srgbClr val="D0E4F7"/>
          </a:solidFill>
          <a:ln w="12700">
            <a:solidFill>
              <a:srgbClr val="D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0760" y="1417320"/>
            <a:ext cx="5852160" cy="274320"/>
          </a:xfrm>
          <a:prstGeom prst="rect">
            <a:avLst/>
          </a:prstGeom>
          <a:noFill/>
        </p:spPr>
        <p:txBody>
          <a:bodyPr wrap="square">
            <a:spAutoFit/>
          </a:bodyPr>
          <a:lstStyle/>
          <a:p>
            <a:pPr algn="l"/>
            <a:r>
              <a:rPr sz="950" b="1" i="0">
                <a:solidFill>
                  <a:srgbClr val="1F5F99"/>
                </a:solidFill>
              </a:rPr>
              <a:t>  ALGORITHM 1 STATE MACHINE  (per service, independently)</a:t>
            </a:r>
          </a:p>
        </p:txBody>
      </p:sp>
      <p:sp>
        <p:nvSpPr>
          <p:cNvPr id="14" name="Rounded Rectangle 13"/>
          <p:cNvSpPr/>
          <p:nvPr/>
        </p:nvSpPr>
        <p:spPr>
          <a:xfrm>
            <a:off x="7726680" y="2217420"/>
            <a:ext cx="2743200" cy="685800"/>
          </a:xfrm>
          <a:prstGeom prst="roundRect">
            <a:avLst/>
          </a:prstGeom>
          <a:solidFill>
            <a:srgbClr val="1A7A45"/>
          </a:solidFill>
          <a:ln w="12700">
            <a:solidFill>
              <a:srgbClr val="1A7A45"/>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FFFFFF"/>
                </a:solidFill>
              </a:rPr>
              <a:t>RETRIES ON</a:t>
            </a:r>
          </a:p>
        </p:txBody>
      </p:sp>
      <p:sp>
        <p:nvSpPr>
          <p:cNvPr id="15" name="Rounded Rectangle 14"/>
          <p:cNvSpPr/>
          <p:nvPr/>
        </p:nvSpPr>
        <p:spPr>
          <a:xfrm>
            <a:off x="7726680" y="4411980"/>
            <a:ext cx="2743200" cy="685800"/>
          </a:xfrm>
          <a:prstGeom prst="roundRect">
            <a:avLst/>
          </a:prstGeom>
          <a:solidFill>
            <a:srgbClr val="C02A2A"/>
          </a:solidFill>
          <a:ln w="12700">
            <a:solidFill>
              <a:srgbClr val="C02A2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FFFFFF"/>
                </a:solidFill>
              </a:rPr>
              <a:t>RETRIES OFF</a:t>
            </a:r>
          </a:p>
        </p:txBody>
      </p:sp>
      <p:sp>
        <p:nvSpPr>
          <p:cNvPr id="16" name="TextBox 15"/>
          <p:cNvSpPr txBox="1"/>
          <p:nvPr/>
        </p:nvSpPr>
        <p:spPr>
          <a:xfrm>
            <a:off x="7818120" y="2578608"/>
            <a:ext cx="2560320" cy="256032"/>
          </a:xfrm>
          <a:prstGeom prst="rect">
            <a:avLst/>
          </a:prstGeom>
          <a:noFill/>
        </p:spPr>
        <p:txBody>
          <a:bodyPr wrap="square">
            <a:spAutoFit/>
          </a:bodyPr>
          <a:lstStyle/>
          <a:p>
            <a:pPr algn="ctr"/>
            <a:r>
              <a:rPr sz="850" b="0" i="0">
                <a:solidFill>
                  <a:srgbClr val="C8EED8"/>
                </a:solidFill>
              </a:rPr>
              <a:t>normal operation — no intervention</a:t>
            </a:r>
          </a:p>
        </p:txBody>
      </p:sp>
      <p:sp>
        <p:nvSpPr>
          <p:cNvPr id="17" name="TextBox 16"/>
          <p:cNvSpPr txBox="1"/>
          <p:nvPr/>
        </p:nvSpPr>
        <p:spPr>
          <a:xfrm>
            <a:off x="7818120" y="4773168"/>
            <a:ext cx="2560320" cy="256032"/>
          </a:xfrm>
          <a:prstGeom prst="rect">
            <a:avLst/>
          </a:prstGeom>
          <a:noFill/>
        </p:spPr>
        <p:txBody>
          <a:bodyPr wrap="square">
            <a:spAutoFit/>
          </a:bodyPr>
          <a:lstStyle/>
          <a:p>
            <a:pPr algn="ctr"/>
            <a:r>
              <a:rPr sz="850" b="0" i="0">
                <a:solidFill>
                  <a:srgbClr val="F5D0D0"/>
                </a:solidFill>
              </a:rPr>
              <a:t>VirtualService CRD: retries disabled</a:t>
            </a:r>
          </a:p>
        </p:txBody>
      </p:sp>
      <p:cxnSp>
        <p:nvCxnSpPr>
          <p:cNvPr id="18" name="Connector 17"/>
          <p:cNvCxnSpPr/>
          <p:nvPr/>
        </p:nvCxnSpPr>
        <p:spPr>
          <a:xfrm>
            <a:off x="10469880.0" y="2903220.0"/>
            <a:ext cx="457200.0" cy="0.0"/>
          </a:xfrm>
          <a:prstGeom prst="line">
            <a:avLst/>
          </a:prstGeom>
          <a:ln w="25400">
            <a:solidFill>
              <a:srgbClr val="E86B1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927080" y="2903220.0"/>
            <a:ext cx="0" cy="2194560.0"/>
          </a:xfrm>
          <a:prstGeom prst="line">
            <a:avLst/>
          </a:prstGeom>
          <a:ln w="25400">
            <a:solidFill>
              <a:srgbClr val="E86B1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469880.0" y="5097780.0"/>
            <a:ext cx="457200.0" cy="0.0"/>
          </a:xfrm>
          <a:prstGeom prst="line">
            <a:avLst/>
          </a:prstGeom>
          <a:ln w="25400">
            <a:solidFill>
              <a:srgbClr val="E86B1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0469880.0" y="5024628.0"/>
            <a:ext cx="91440.0" cy="73152.0"/>
          </a:xfrm>
          <a:prstGeom prst="line">
            <a:avLst/>
          </a:prstGeom>
          <a:ln w="19050">
            <a:solidFill>
              <a:srgbClr val="E86B1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469880.0" y="5097780.0"/>
            <a:ext cx="91440.0" cy="73152.0"/>
          </a:xfrm>
          <a:prstGeom prst="line">
            <a:avLst/>
          </a:prstGeom>
          <a:ln w="19050">
            <a:solidFill>
              <a:srgbClr val="E86B1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1000232" y="3246120"/>
            <a:ext cx="1371600" cy="822960"/>
          </a:xfrm>
          <a:prstGeom prst="rect">
            <a:avLst/>
          </a:prstGeom>
          <a:noFill/>
        </p:spPr>
        <p:txBody>
          <a:bodyPr wrap="square">
            <a:spAutoFit/>
          </a:bodyPr>
          <a:lstStyle/>
          <a:p>
            <a:pPr algn="l"/>
            <a:r>
              <a:rPr sz="900" b="0" i="0">
                <a:solidFill>
                  <a:srgbClr val="E86B1F"/>
                </a:solidFill>
              </a:rPr>
              <a:t>Consecutive_high
≥ Interval
(rejection &gt; 20%
for N × 30s)</a:t>
            </a:r>
          </a:p>
        </p:txBody>
      </p:sp>
      <p:cxnSp>
        <p:nvCxnSpPr>
          <p:cNvPr id="24" name="Connector 23"/>
          <p:cNvCxnSpPr/>
          <p:nvPr/>
        </p:nvCxnSpPr>
        <p:spPr>
          <a:xfrm flipH="1">
            <a:off x="7269480" y="5097780.0"/>
            <a:ext cx="457200.0" cy="0.0"/>
          </a:xfrm>
          <a:prstGeom prst="line">
            <a:avLst/>
          </a:prstGeom>
          <a:ln w="25400">
            <a:solidFill>
              <a:srgbClr val="1A7A4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269480" y="2903220.0"/>
            <a:ext cx="0" cy="2194560.0"/>
          </a:xfrm>
          <a:prstGeom prst="line">
            <a:avLst/>
          </a:prstGeom>
          <a:ln w="25400">
            <a:solidFill>
              <a:srgbClr val="1A7A4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269480" y="2903220.0"/>
            <a:ext cx="457200.0" cy="0.0"/>
          </a:xfrm>
          <a:prstGeom prst="line">
            <a:avLst/>
          </a:prstGeom>
          <a:ln w="25400">
            <a:solidFill>
              <a:srgbClr val="1A7A4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7635240.0" y="2830068.0"/>
            <a:ext cx="91440.0" cy="73152.0"/>
          </a:xfrm>
          <a:prstGeom prst="line">
            <a:avLst/>
          </a:prstGeom>
          <a:ln w="19050">
            <a:solidFill>
              <a:srgbClr val="1A7A4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7635240.0" y="2903220.0"/>
            <a:ext cx="91440.0" cy="73152.0"/>
          </a:xfrm>
          <a:prstGeom prst="line">
            <a:avLst/>
          </a:prstGeom>
          <a:ln w="19050">
            <a:solidFill>
              <a:srgbClr val="1A7A4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852160" y="3246120"/>
            <a:ext cx="1371600" cy="822960"/>
          </a:xfrm>
          <a:prstGeom prst="rect">
            <a:avLst/>
          </a:prstGeom>
          <a:noFill/>
        </p:spPr>
        <p:txBody>
          <a:bodyPr wrap="square">
            <a:spAutoFit/>
          </a:bodyPr>
          <a:lstStyle/>
          <a:p>
            <a:pPr algn="l"/>
            <a:r>
              <a:rPr sz="900" b="0" i="0">
                <a:solidFill>
                  <a:srgbClr val="1A7A45"/>
                </a:solidFill>
              </a:rPr>
              <a:t>Consecutive_low
≥ Interval
(rejection &lt; 20%
for N × 30s)</a:t>
            </a:r>
          </a:p>
        </p:txBody>
      </p:sp>
      <p:sp>
        <p:nvSpPr>
          <p:cNvPr id="30" name="TextBox 29"/>
          <p:cNvSpPr txBox="1"/>
          <p:nvPr/>
        </p:nvSpPr>
        <p:spPr>
          <a:xfrm>
            <a:off x="6720840" y="3611880"/>
            <a:ext cx="4754880" cy="347472"/>
          </a:xfrm>
          <a:prstGeom prst="rect">
            <a:avLst/>
          </a:prstGeom>
          <a:noFill/>
        </p:spPr>
        <p:txBody>
          <a:bodyPr wrap="square">
            <a:spAutoFit/>
          </a:bodyPr>
          <a:lstStyle/>
          <a:p>
            <a:pPr algn="ctr"/>
            <a:r>
              <a:rPr sz="950" b="0" i="1">
                <a:solidFill>
                  <a:srgbClr val="55556B"/>
                </a:solidFill>
              </a:rPr>
              <a:t>Sample Istio/Envoy sidecar metrics  ·  ~every 30 s</a:t>
            </a:r>
          </a:p>
        </p:txBody>
      </p:sp>
      <p:sp>
        <p:nvSpPr>
          <p:cNvPr id="31" name="Rectangle 30"/>
          <p:cNvSpPr/>
          <p:nvPr/>
        </p:nvSpPr>
        <p:spPr>
          <a:xfrm>
            <a:off x="6080760" y="5806440"/>
            <a:ext cx="6035040" cy="685800"/>
          </a:xfrm>
          <a:prstGeom prst="rect">
            <a:avLst/>
          </a:prstGeom>
          <a:solidFill>
            <a:srgbClr val="D0E4F7"/>
          </a:solidFill>
          <a:ln w="12700">
            <a:solidFill>
              <a:srgbClr val="D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72200" y="5852160"/>
            <a:ext cx="5852160" cy="594360"/>
          </a:xfrm>
          <a:prstGeom prst="rect">
            <a:avLst/>
          </a:prstGeom>
          <a:noFill/>
        </p:spPr>
        <p:txBody>
          <a:bodyPr wrap="square">
            <a:spAutoFit/>
          </a:bodyPr>
          <a:lstStyle/>
          <a:p>
            <a:pPr algn="l"/>
            <a:r>
              <a:rPr sz="950" b="0" i="0">
                <a:solidFill>
                  <a:srgbClr val="1A1A2E"/>
                </a:solidFill>
              </a:rPr>
              <a:t>Results (TAU 2025): AWS retries 2.09→0.05/req (−98%), billing 1029%→100%  ·  Istio/K8s retries 0.31→0.01/req, billing 224%→100%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Stack &amp; Topology</a:t>
            </a:r>
          </a:p>
          <a:p>
            <a:r>
              <a:rPr sz="1300">
                <a:solidFill>
                  <a:srgbClr val="B0C8E8"/>
                </a:solidFill>
              </a:rPr>
              <a:t>§4 — Infrastructure and component layout</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4 OF 9</a:t>
            </a:r>
          </a:p>
        </p:txBody>
      </p:sp>
      <p:sp>
        <p:nvSpPr>
          <p:cNvPr id="6" name="Rectangle 5"/>
          <p:cNvSpPr/>
          <p:nvPr/>
        </p:nvSpPr>
        <p:spPr>
          <a:xfrm>
            <a:off x="274320" y="1371600"/>
            <a:ext cx="5760720" cy="5212080"/>
          </a:xfrm>
          <a:prstGeom prst="rect">
            <a:avLst/>
          </a:prstGeom>
          <a:solidFill>
            <a:srgbClr val="D0E4F7"/>
          </a:solidFill>
          <a:ln w="12700">
            <a:solidFill>
              <a:srgbClr val="D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417320"/>
            <a:ext cx="5577840" cy="274320"/>
          </a:xfrm>
          <a:prstGeom prst="rect">
            <a:avLst/>
          </a:prstGeom>
          <a:noFill/>
        </p:spPr>
        <p:txBody>
          <a:bodyPr wrap="square">
            <a:spAutoFit/>
          </a:bodyPr>
          <a:lstStyle/>
          <a:p>
            <a:pPr algn="l"/>
            <a:r>
              <a:rPr sz="950" b="1" i="0">
                <a:solidFill>
                  <a:srgbClr val="1F5F99"/>
                </a:solidFill>
              </a:rPr>
              <a:t>  REQUEST PATH &amp; CONTROL LOOPS</a:t>
            </a:r>
          </a:p>
        </p:txBody>
      </p:sp>
      <p:sp>
        <p:nvSpPr>
          <p:cNvPr id="8" name="Rounded Rectangle 7"/>
          <p:cNvSpPr/>
          <p:nvPr/>
        </p:nvSpPr>
        <p:spPr>
          <a:xfrm>
            <a:off x="1508760" y="1668780"/>
            <a:ext cx="3200400" cy="502920"/>
          </a:xfrm>
          <a:prstGeom prst="roundRect">
            <a:avLst/>
          </a:prstGeom>
          <a:solidFill>
            <a:srgbClr val="55556B"/>
          </a:solidFill>
          <a:ln w="12700">
            <a:solidFill>
              <a:srgbClr val="5555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rPr>
              <a:t>Locust  (load-gen VM)</a:t>
            </a:r>
          </a:p>
        </p:txBody>
      </p:sp>
      <p:sp>
        <p:nvSpPr>
          <p:cNvPr id="9" name="Rounded Rectangle 8"/>
          <p:cNvSpPr/>
          <p:nvPr/>
        </p:nvSpPr>
        <p:spPr>
          <a:xfrm>
            <a:off x="1508760" y="2491740"/>
            <a:ext cx="3200400" cy="502920"/>
          </a:xfrm>
          <a:prstGeom prst="roundRect">
            <a:avLst/>
          </a:prstGeom>
          <a:solidFill>
            <a:srgbClr val="1A2E4A"/>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rPr>
              <a:t>TopFull Rate Limiter
(master)</a:t>
            </a:r>
          </a:p>
        </p:txBody>
      </p:sp>
      <p:sp>
        <p:nvSpPr>
          <p:cNvPr id="10" name="Rounded Rectangle 9"/>
          <p:cNvSpPr/>
          <p:nvPr/>
        </p:nvSpPr>
        <p:spPr>
          <a:xfrm>
            <a:off x="1508760" y="3360420"/>
            <a:ext cx="3200400" cy="502920"/>
          </a:xfrm>
          <a:prstGeom prst="roundRect">
            <a:avLst/>
          </a:prstGeom>
          <a:solidFill>
            <a:srgbClr val="1F5F99"/>
          </a:solidFill>
          <a:ln w="12700">
            <a:solidFill>
              <a:srgbClr val="1F5F9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rPr>
              <a:t>Istio / Envoy sidecars</a:t>
            </a:r>
          </a:p>
        </p:txBody>
      </p:sp>
      <p:sp>
        <p:nvSpPr>
          <p:cNvPr id="11" name="Rounded Rectangle 10"/>
          <p:cNvSpPr/>
          <p:nvPr/>
        </p:nvSpPr>
        <p:spPr>
          <a:xfrm>
            <a:off x="1508760" y="4229100"/>
            <a:ext cx="3200400" cy="502920"/>
          </a:xfrm>
          <a:prstGeom prst="roundRect">
            <a:avLst/>
          </a:prstGeom>
          <a:solidFill>
            <a:srgbClr val="1A2E4A"/>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rPr>
              <a:t>Online Boutique
microservices</a:t>
            </a:r>
          </a:p>
        </p:txBody>
      </p:sp>
      <p:cxnSp>
        <p:nvCxnSpPr>
          <p:cNvPr id="12" name="Connector 11"/>
          <p:cNvCxnSpPr/>
          <p:nvPr/>
        </p:nvCxnSpPr>
        <p:spPr>
          <a:xfrm>
            <a:off x="3108960" y="2167128"/>
            <a:ext cx="0" cy="329184"/>
          </a:xfrm>
          <a:prstGeom prst="line">
            <a:avLst/>
          </a:prstGeom>
          <a:ln w="2540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3035808" y="2423160"/>
            <a:ext cx="73152"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108960" y="2423160"/>
            <a:ext cx="73152"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108960" y="2990088"/>
            <a:ext cx="0" cy="374904"/>
          </a:xfrm>
          <a:prstGeom prst="line">
            <a:avLst/>
          </a:prstGeom>
          <a:ln w="2540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3035808" y="3291840"/>
            <a:ext cx="73152"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108960" y="3291840"/>
            <a:ext cx="73152"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108960" y="3858768"/>
            <a:ext cx="0" cy="374904"/>
          </a:xfrm>
          <a:prstGeom prst="line">
            <a:avLst/>
          </a:prstGeom>
          <a:ln w="2540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3035808" y="4160520"/>
            <a:ext cx="73152"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108960" y="4160520"/>
            <a:ext cx="73152"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11480" y="3291840"/>
            <a:ext cx="1554480" cy="640080"/>
          </a:xfrm>
          <a:prstGeom prst="roundRect">
            <a:avLst/>
          </a:prstGeom>
          <a:solidFill>
            <a:srgbClr val="E86B1F"/>
          </a:solidFill>
          <a:ln w="12700">
            <a:solidFill>
              <a:srgbClr val="E86B1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rPr>
              <a:t>Retry-
Guard</a:t>
            </a:r>
          </a:p>
        </p:txBody>
      </p:sp>
      <p:cxnSp>
        <p:nvCxnSpPr>
          <p:cNvPr id="22" name="Connector 21"/>
          <p:cNvCxnSpPr/>
          <p:nvPr/>
        </p:nvCxnSpPr>
        <p:spPr>
          <a:xfrm>
            <a:off x="1965960" y="3611880"/>
            <a:ext cx="228600" cy="0"/>
          </a:xfrm>
          <a:prstGeom prst="line">
            <a:avLst/>
          </a:prstGeom>
          <a:ln w="19050">
            <a:solidFill>
              <a:srgbClr val="E86B1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20040" y="4251960"/>
            <a:ext cx="2286000" cy="320040"/>
          </a:xfrm>
          <a:prstGeom prst="rect">
            <a:avLst/>
          </a:prstGeom>
          <a:noFill/>
        </p:spPr>
        <p:txBody>
          <a:bodyPr wrap="square">
            <a:spAutoFit/>
          </a:bodyPr>
          <a:lstStyle/>
          <a:p>
            <a:pPr algn="l"/>
            <a:r>
              <a:rPr sz="850" b="0" i="0">
                <a:solidFill>
                  <a:srgbClr val="E86B1F"/>
                </a:solidFill>
              </a:rPr>
              <a:t>patches VirtualService
CRDs (Kubernetes API)</a:t>
            </a:r>
          </a:p>
        </p:txBody>
      </p:sp>
      <p:cxnSp>
        <p:nvCxnSpPr>
          <p:cNvPr id="24" name="Connector 23"/>
          <p:cNvCxnSpPr/>
          <p:nvPr/>
        </p:nvCxnSpPr>
        <p:spPr>
          <a:xfrm>
            <a:off x="4709160" y="2743200"/>
            <a:ext cx="365760" cy="0"/>
          </a:xfrm>
          <a:prstGeom prst="line">
            <a:avLst/>
          </a:prstGeom>
          <a:ln w="19050">
            <a:solidFill>
              <a:srgbClr val="1F5F9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074920" y="2743200"/>
            <a:ext cx="0" cy="1737360"/>
          </a:xfrm>
          <a:prstGeom prst="line">
            <a:avLst/>
          </a:prstGeom>
          <a:ln w="19050">
            <a:solidFill>
              <a:srgbClr val="1F5F9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4709160" y="4480560"/>
            <a:ext cx="365760" cy="0"/>
          </a:xfrm>
          <a:prstGeom prst="line">
            <a:avLst/>
          </a:prstGeom>
          <a:ln w="19050">
            <a:solidFill>
              <a:srgbClr val="1F5F9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120640" y="3383280"/>
            <a:ext cx="914400" cy="731520"/>
          </a:xfrm>
          <a:prstGeom prst="rect">
            <a:avLst/>
          </a:prstGeom>
          <a:noFill/>
        </p:spPr>
        <p:txBody>
          <a:bodyPr wrap="square">
            <a:spAutoFit/>
          </a:bodyPr>
          <a:lstStyle/>
          <a:p>
            <a:pPr algn="l"/>
            <a:r>
              <a:rPr sz="850" b="0" i="0">
                <a:solidFill>
                  <a:srgbClr val="1F5F99"/>
                </a:solidFill>
              </a:rPr>
              <a:t>RL
feed-
back
(1 s)</a:t>
            </a:r>
          </a:p>
        </p:txBody>
      </p:sp>
      <p:sp>
        <p:nvSpPr>
          <p:cNvPr id="28" name="Rectangle 27"/>
          <p:cNvSpPr/>
          <p:nvPr/>
        </p:nvSpPr>
        <p:spPr>
          <a:xfrm>
            <a:off x="320040" y="5806440"/>
            <a:ext cx="5669280" cy="594360"/>
          </a:xfrm>
          <a:prstGeom prst="rect">
            <a:avLst/>
          </a:prstGeom>
          <a:solidFill>
            <a:srgbClr val="D0E4F7"/>
          </a:solidFill>
          <a:ln w="12700">
            <a:solidFill>
              <a:srgbClr val="D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5852160"/>
            <a:ext cx="5486400" cy="502920"/>
          </a:xfrm>
          <a:prstGeom prst="rect">
            <a:avLst/>
          </a:prstGeom>
          <a:noFill/>
        </p:spPr>
        <p:txBody>
          <a:bodyPr wrap="square">
            <a:spAutoFit/>
          </a:bodyPr>
          <a:lstStyle/>
          <a:p>
            <a:pPr algn="l"/>
            <a:r>
              <a:rPr sz="950" b="0" i="0">
                <a:solidFill>
                  <a:srgbClr val="1A1A2E"/>
                </a:solidFill>
              </a:rPr>
              <a:t>Master: 8+ vCPU, 16GB — K8s ctrl, Istio, TopFull, RetryGuard  ·  Workers: pods, cAdvisor  ·  Load-gen: Locust only  ·  GCP (~$300 credits)</a:t>
            </a:r>
          </a:p>
        </p:txBody>
      </p:sp>
      <p:pic>
        <p:nvPicPr>
          <p:cNvPr id="30" name="Picture 29" descr="Online-Boutique-architecture.png"/>
          <p:cNvPicPr>
            <a:picLocks noChangeAspect="1"/>
          </p:cNvPicPr>
          <p:nvPr/>
        </p:nvPicPr>
        <p:blipFill>
          <a:blip r:embed="rId2"/>
          <a:stretch>
            <a:fillRect/>
          </a:stretch>
        </p:blipFill>
        <p:spPr>
          <a:xfrm>
            <a:off x="6217920" y="1234440"/>
            <a:ext cx="5577840" cy="5029200"/>
          </a:xfrm>
          <a:prstGeom prst="rect">
            <a:avLst/>
          </a:prstGeom>
        </p:spPr>
      </p:pic>
      <p:sp>
        <p:nvSpPr>
          <p:cNvPr id="31" name="TextBox 30"/>
          <p:cNvSpPr txBox="1"/>
          <p:nvPr/>
        </p:nvSpPr>
        <p:spPr>
          <a:xfrm>
            <a:off x="6217920" y="6309360"/>
            <a:ext cx="5577840" cy="320040"/>
          </a:xfrm>
          <a:prstGeom prst="rect">
            <a:avLst/>
          </a:prstGeom>
          <a:noFill/>
        </p:spPr>
        <p:txBody>
          <a:bodyPr wrap="square">
            <a:spAutoFit/>
          </a:bodyPr>
          <a:lstStyle/>
          <a:p>
            <a:pPr algn="l"/>
            <a:r>
              <a:rPr sz="950" b="0" i="1">
                <a:solidFill>
                  <a:srgbClr val="55556B"/>
                </a:solidFill>
              </a:rPr>
              <a:t>Online Boutique call graph — 11 microservices. Representative test app, not the subject of study.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How We Test — The Baseline</a:t>
            </a:r>
          </a:p>
          <a:p>
            <a:r>
              <a:rPr sz="1300">
                <a:solidFill>
                  <a:srgbClr val="B0C8E8"/>
                </a:solidFill>
              </a:rPr>
              <a:t>§5 — Controlled experimental methodology (1/3)</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5 OF 9 (1/3)</a:t>
            </a:r>
          </a:p>
        </p:txBody>
      </p:sp>
      <p:sp>
        <p:nvSpPr>
          <p:cNvPr id="6" name="TextBox 5"/>
          <p:cNvSpPr txBox="1"/>
          <p:nvPr/>
        </p:nvSpPr>
        <p:spPr>
          <a:xfrm>
            <a:off x="365760" y="1508760"/>
            <a:ext cx="11430000" cy="502920"/>
          </a:xfrm>
          <a:prstGeom prst="rect">
            <a:avLst/>
          </a:prstGeom>
          <a:noFill/>
        </p:spPr>
        <p:txBody>
          <a:bodyPr wrap="square">
            <a:spAutoFit/>
          </a:bodyPr>
          <a:lstStyle/>
          <a:p>
            <a:pPr algn="l"/>
            <a:r>
              <a:rPr sz="1350" b="0" i="0">
                <a:solidFill>
                  <a:srgbClr val="1A1A2E"/>
                </a:solidFill>
              </a:rPr>
              <a:t>To isolate RetryGuard's effect, we need a baseline that captures the system's behavior without it. Everything except the retry policy must be identical between the baseline run and the RetryGuard run.</a:t>
            </a:r>
          </a:p>
        </p:txBody>
      </p:sp>
      <p:sp>
        <p:nvSpPr>
          <p:cNvPr id="7" name="Rectangle 6"/>
          <p:cNvSpPr/>
          <p:nvPr/>
        </p:nvSpPr>
        <p:spPr>
          <a:xfrm>
            <a:off x="365760" y="214884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286000"/>
            <a:ext cx="6583680" cy="274320"/>
          </a:xfrm>
          <a:prstGeom prst="rect">
            <a:avLst/>
          </a:prstGeom>
          <a:noFill/>
        </p:spPr>
        <p:txBody>
          <a:bodyPr wrap="square">
            <a:spAutoFit/>
          </a:bodyPr>
          <a:lstStyle/>
          <a:p>
            <a:pPr algn="l"/>
            <a:r>
              <a:rPr sz="1100" b="1" i="0">
                <a:solidFill>
                  <a:srgbClr val="1F5F99"/>
                </a:solidFill>
              </a:rPr>
              <a:t>BASELINE CONFIGURATION</a:t>
            </a:r>
          </a:p>
        </p:txBody>
      </p:sp>
      <p:sp>
        <p:nvSpPr>
          <p:cNvPr id="9" name="TextBox 8"/>
          <p:cNvSpPr txBox="1"/>
          <p:nvPr/>
        </p:nvSpPr>
        <p:spPr>
          <a:xfrm>
            <a:off x="365760" y="2606040"/>
            <a:ext cx="6583680" cy="3474720"/>
          </a:xfrm>
          <a:prstGeom prst="rect">
            <a:avLst/>
          </a:prstGeom>
          <a:noFill/>
        </p:spPr>
        <p:txBody>
          <a:bodyPr wrap="square">
            <a:spAutoFit/>
          </a:bodyPr>
          <a:lstStyle/>
          <a:p>
            <a:pPr algn="l">
              <a:spcBef>
                <a:spcPts val="200"/>
              </a:spcBef>
            </a:pPr>
            <a:r>
              <a:rPr sz="1300">
                <a:solidFill>
                  <a:srgbClr val="1A1A2E"/>
                </a:solidFill>
              </a:rPr>
              <a:t>•  TopFull overload controller: ON.</a:t>
            </a:r>
          </a:p>
          <a:p>
            <a:pPr algn="l">
              <a:spcBef>
                <a:spcPts val="200"/>
              </a:spcBef>
            </a:pPr>
            <a:r>
              <a:rPr sz="1300">
                <a:solidFill>
                  <a:srgbClr val="1A1A2E"/>
                </a:solidFill>
              </a:rPr>
              <a:t>•  Istio default retry policy: ON. Retries fire per default VirtualService config.</a:t>
            </a:r>
          </a:p>
          <a:p>
            <a:pPr algn="l">
              <a:spcBef>
                <a:spcPts val="200"/>
              </a:spcBef>
            </a:pPr>
            <a:r>
              <a:rPr sz="1300">
                <a:solidFill>
                  <a:srgbClr val="1A1A2E"/>
                </a:solidFill>
              </a:rPr>
              <a:t>•  RetryGuard: OFF. Controller script not running.</a:t>
            </a:r>
          </a:p>
          <a:p>
            <a:pPr algn="l">
              <a:spcBef>
                <a:spcPts val="200"/>
              </a:spcBef>
            </a:pPr>
            <a:r>
              <a:rPr sz="1300">
                <a:solidFill>
                  <a:srgbClr val="1A1A2E"/>
                </a:solidFill>
              </a:rPr>
              <a:t>•  Fixed workload scenario — same load shape, duration, replica counts every run.</a:t>
            </a:r>
          </a:p>
          <a:p>
            <a:pPr algn="l">
              <a:spcBef>
                <a:spcPts val="200"/>
              </a:spcBef>
            </a:pPr>
            <a:r>
              <a:rPr sz="1300">
                <a:solidFill>
                  <a:srgbClr val="1A1A2E"/>
                </a:solidFill>
              </a:rPr>
              <a:t>•  Output → named baseline artifact dir: CSVs from metric_collector.py, resource_collector.py, overload_detection.py.</a:t>
            </a:r>
          </a:p>
          <a:p>
            <a:pPr algn="l">
              <a:spcBef>
                <a:spcPts val="200"/>
              </a:spcBef>
            </a:pPr>
            <a:r>
              <a:rPr sz="1300">
                <a:solidFill>
                  <a:srgbClr val="1A1A2E"/>
                </a:solidFill>
              </a:rPr>
              <a:t>•  Repeated multiple times to account for Locust non-determinism.</a:t>
            </a:r>
          </a:p>
        </p:txBody>
      </p:sp>
      <p:sp>
        <p:nvSpPr>
          <p:cNvPr id="10" name="Rectangle 9"/>
          <p:cNvSpPr/>
          <p:nvPr/>
        </p:nvSpPr>
        <p:spPr>
          <a:xfrm>
            <a:off x="7132320" y="2148840"/>
            <a:ext cx="4663440" cy="4297680"/>
          </a:xfrm>
          <a:prstGeom prst="rect">
            <a:avLst/>
          </a:prstGeom>
          <a:solidFill>
            <a:srgbClr val="D0E4F7"/>
          </a:solidFill>
          <a:ln w="12700">
            <a:solidFill>
              <a:srgbClr val="D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0" y="2194560"/>
            <a:ext cx="4480560" cy="274320"/>
          </a:xfrm>
          <a:prstGeom prst="rect">
            <a:avLst/>
          </a:prstGeom>
          <a:noFill/>
        </p:spPr>
        <p:txBody>
          <a:bodyPr wrap="square">
            <a:spAutoFit/>
          </a:bodyPr>
          <a:lstStyle/>
          <a:p>
            <a:pPr algn="l"/>
            <a:r>
              <a:rPr sz="950" b="1" i="0">
                <a:solidFill>
                  <a:srgbClr val="1F5F99"/>
                </a:solidFill>
              </a:rPr>
              <a:t>  BASELINE — COMPONENT STATES</a:t>
            </a:r>
          </a:p>
        </p:txBody>
      </p:sp>
      <p:sp>
        <p:nvSpPr>
          <p:cNvPr id="12" name="Rounded Rectangle 11"/>
          <p:cNvSpPr/>
          <p:nvPr/>
        </p:nvSpPr>
        <p:spPr>
          <a:xfrm>
            <a:off x="6903720" y="2505456"/>
            <a:ext cx="3291840" cy="475488"/>
          </a:xfrm>
          <a:prstGeom prst="roundRect">
            <a:avLst/>
          </a:prstGeom>
          <a:solidFill>
            <a:srgbClr val="1A2E4A"/>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rPr>
              <a:t>TopFull</a:t>
            </a:r>
          </a:p>
        </p:txBody>
      </p:sp>
      <p:sp>
        <p:nvSpPr>
          <p:cNvPr id="13" name="Rounded Rectangle 12"/>
          <p:cNvSpPr/>
          <p:nvPr/>
        </p:nvSpPr>
        <p:spPr>
          <a:xfrm>
            <a:off x="10058400" y="2505456"/>
            <a:ext cx="1005840" cy="475488"/>
          </a:xfrm>
          <a:prstGeom prst="roundRect">
            <a:avLst/>
          </a:prstGeom>
          <a:solidFill>
            <a:srgbClr val="1A7A45"/>
          </a:solidFill>
          <a:ln w="12700">
            <a:solidFill>
              <a:srgbClr val="1A7A45"/>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rPr>
              <a:t>ON</a:t>
            </a:r>
          </a:p>
        </p:txBody>
      </p:sp>
      <p:sp>
        <p:nvSpPr>
          <p:cNvPr id="14" name="Rounded Rectangle 13"/>
          <p:cNvSpPr/>
          <p:nvPr/>
        </p:nvSpPr>
        <p:spPr>
          <a:xfrm>
            <a:off x="6903720" y="3236976"/>
            <a:ext cx="3291840" cy="475488"/>
          </a:xfrm>
          <a:prstGeom prst="roundRect">
            <a:avLst/>
          </a:prstGeom>
          <a:solidFill>
            <a:srgbClr val="1A2E4A"/>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rPr>
              <a:t>Locust workload</a:t>
            </a:r>
          </a:p>
        </p:txBody>
      </p:sp>
      <p:sp>
        <p:nvSpPr>
          <p:cNvPr id="15" name="Rounded Rectangle 14"/>
          <p:cNvSpPr/>
          <p:nvPr/>
        </p:nvSpPr>
        <p:spPr>
          <a:xfrm>
            <a:off x="10058400" y="3236976"/>
            <a:ext cx="1005840" cy="475488"/>
          </a:xfrm>
          <a:prstGeom prst="roundRect">
            <a:avLst/>
          </a:prstGeom>
          <a:solidFill>
            <a:srgbClr val="1A7A45"/>
          </a:solidFill>
          <a:ln w="12700">
            <a:solidFill>
              <a:srgbClr val="1A7A45"/>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rPr>
              <a:t>ON</a:t>
            </a:r>
          </a:p>
        </p:txBody>
      </p:sp>
      <p:sp>
        <p:nvSpPr>
          <p:cNvPr id="16" name="Rounded Rectangle 15"/>
          <p:cNvSpPr/>
          <p:nvPr/>
        </p:nvSpPr>
        <p:spPr>
          <a:xfrm>
            <a:off x="6903720" y="3968496"/>
            <a:ext cx="3291840" cy="475488"/>
          </a:xfrm>
          <a:prstGeom prst="roundRect">
            <a:avLst/>
          </a:prstGeom>
          <a:solidFill>
            <a:srgbClr val="1A2E4A"/>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rPr>
              <a:t>Istio retries</a:t>
            </a:r>
          </a:p>
        </p:txBody>
      </p:sp>
      <p:sp>
        <p:nvSpPr>
          <p:cNvPr id="17" name="Rounded Rectangle 16"/>
          <p:cNvSpPr/>
          <p:nvPr/>
        </p:nvSpPr>
        <p:spPr>
          <a:xfrm>
            <a:off x="10058400" y="3968496"/>
            <a:ext cx="1005840" cy="475488"/>
          </a:xfrm>
          <a:prstGeom prst="roundRect">
            <a:avLst/>
          </a:prstGeom>
          <a:solidFill>
            <a:srgbClr val="1A7A45"/>
          </a:solidFill>
          <a:ln w="12700">
            <a:solidFill>
              <a:srgbClr val="1A7A45"/>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rPr>
              <a:t>ON (default)</a:t>
            </a:r>
          </a:p>
        </p:txBody>
      </p:sp>
      <p:sp>
        <p:nvSpPr>
          <p:cNvPr id="18" name="Rounded Rectangle 17"/>
          <p:cNvSpPr/>
          <p:nvPr/>
        </p:nvSpPr>
        <p:spPr>
          <a:xfrm>
            <a:off x="6903720" y="4700016"/>
            <a:ext cx="3291840" cy="475488"/>
          </a:xfrm>
          <a:prstGeom prst="roundRect">
            <a:avLst/>
          </a:prstGeom>
          <a:solidFill>
            <a:srgbClr val="1A2E4A"/>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rPr>
              <a:t>RetryGuard</a:t>
            </a:r>
          </a:p>
        </p:txBody>
      </p:sp>
      <p:sp>
        <p:nvSpPr>
          <p:cNvPr id="19" name="Rounded Rectangle 18"/>
          <p:cNvSpPr/>
          <p:nvPr/>
        </p:nvSpPr>
        <p:spPr>
          <a:xfrm>
            <a:off x="10058400" y="4700016"/>
            <a:ext cx="1005840" cy="475488"/>
          </a:xfrm>
          <a:prstGeom prst="roundRect">
            <a:avLst/>
          </a:prstGeom>
          <a:solidFill>
            <a:srgbClr val="C02A2A"/>
          </a:solidFill>
          <a:ln w="12700">
            <a:solidFill>
              <a:srgbClr val="C02A2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rPr>
              <a:t>OFF</a:t>
            </a:r>
          </a:p>
        </p:txBody>
      </p:sp>
      <p:sp>
        <p:nvSpPr>
          <p:cNvPr id="20" name="TextBox 19"/>
          <p:cNvSpPr txBox="1"/>
          <p:nvPr/>
        </p:nvSpPr>
        <p:spPr>
          <a:xfrm>
            <a:off x="7223760" y="5486400"/>
            <a:ext cx="4480560" cy="502920"/>
          </a:xfrm>
          <a:prstGeom prst="rect">
            <a:avLst/>
          </a:prstGeom>
          <a:noFill/>
        </p:spPr>
        <p:txBody>
          <a:bodyPr wrap="square">
            <a:spAutoFit/>
          </a:bodyPr>
          <a:lstStyle/>
          <a:p>
            <a:pPr algn="l"/>
            <a:r>
              <a:rPr sz="1050" b="1" i="0">
                <a:solidFill>
                  <a:srgbClr val="1A2E4A"/>
                </a:solidFill>
              </a:rPr>
              <a:t>Single variable changes between baseline
and experiment: RetryGuard ON vs. OFF.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How We Test — The Experiment</a:t>
            </a:r>
          </a:p>
          <a:p>
            <a:r>
              <a:rPr sz="1300">
                <a:solidFill>
                  <a:srgbClr val="B0C8E8"/>
                </a:solidFill>
              </a:rPr>
              <a:t>§5 — Controlled experimental methodology (2/3)</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5 OF 9 (2/3)</a:t>
            </a:r>
          </a:p>
        </p:txBody>
      </p:sp>
      <p:sp>
        <p:nvSpPr>
          <p:cNvPr id="6" name="TextBox 5"/>
          <p:cNvSpPr txBox="1"/>
          <p:nvPr/>
        </p:nvSpPr>
        <p:spPr>
          <a:xfrm>
            <a:off x="365760" y="1508760"/>
            <a:ext cx="11430000" cy="502920"/>
          </a:xfrm>
          <a:prstGeom prst="rect">
            <a:avLst/>
          </a:prstGeom>
          <a:noFill/>
        </p:spPr>
        <p:txBody>
          <a:bodyPr wrap="square">
            <a:spAutoFit/>
          </a:bodyPr>
          <a:lstStyle/>
          <a:p>
            <a:pPr algn="l"/>
            <a:r>
              <a:rPr sz="1350" b="0" i="0">
                <a:solidFill>
                  <a:srgbClr val="1A1A2E"/>
                </a:solidFill>
              </a:rPr>
              <a:t>The RetryGuard experiment is identical to the baseline in every respect except one: RetryGuard is running. This single-variable change lets us attribute any outcome difference directly to RetryGuard.</a:t>
            </a:r>
          </a:p>
        </p:txBody>
      </p:sp>
      <p:sp>
        <p:nvSpPr>
          <p:cNvPr id="7" name="Rectangle 6"/>
          <p:cNvSpPr/>
          <p:nvPr/>
        </p:nvSpPr>
        <p:spPr>
          <a:xfrm>
            <a:off x="365760" y="214884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286000"/>
            <a:ext cx="6583680" cy="274320"/>
          </a:xfrm>
          <a:prstGeom prst="rect">
            <a:avLst/>
          </a:prstGeom>
          <a:noFill/>
        </p:spPr>
        <p:txBody>
          <a:bodyPr wrap="square">
            <a:spAutoFit/>
          </a:bodyPr>
          <a:lstStyle/>
          <a:p>
            <a:pPr algn="l"/>
            <a:r>
              <a:rPr sz="1100" b="1" i="0">
                <a:solidFill>
                  <a:srgbClr val="1F5F99"/>
                </a:solidFill>
              </a:rPr>
              <a:t>EXPERIMENT CONFIGURATION</a:t>
            </a:r>
          </a:p>
        </p:txBody>
      </p:sp>
      <p:sp>
        <p:nvSpPr>
          <p:cNvPr id="9" name="TextBox 8"/>
          <p:cNvSpPr txBox="1"/>
          <p:nvPr/>
        </p:nvSpPr>
        <p:spPr>
          <a:xfrm>
            <a:off x="365760" y="2606040"/>
            <a:ext cx="6583680" cy="3474720"/>
          </a:xfrm>
          <a:prstGeom prst="rect">
            <a:avLst/>
          </a:prstGeom>
          <a:noFill/>
        </p:spPr>
        <p:txBody>
          <a:bodyPr wrap="square">
            <a:spAutoFit/>
          </a:bodyPr>
          <a:lstStyle/>
          <a:p>
            <a:pPr algn="l">
              <a:spcBef>
                <a:spcPts val="200"/>
              </a:spcBef>
            </a:pPr>
            <a:r>
              <a:rPr sz="1300">
                <a:solidFill>
                  <a:srgbClr val="1A1A2E"/>
                </a:solidFill>
              </a:rPr>
              <a:t>•  Same load, topology, replica counts as baseline — no other changes.</a:t>
            </a:r>
          </a:p>
          <a:p>
            <a:pPr algn="l">
              <a:spcBef>
                <a:spcPts val="200"/>
              </a:spcBef>
            </a:pPr>
            <a:r>
              <a:rPr sz="1300">
                <a:solidFill>
                  <a:srgbClr val="1A1A2E"/>
                </a:solidFill>
              </a:rPr>
              <a:t>•  RetryGuard: ON. Python script on master node, monitoring Istio/Envoy metrics.</a:t>
            </a:r>
          </a:p>
          <a:p>
            <a:pPr algn="l">
              <a:spcBef>
                <a:spcPts val="200"/>
              </a:spcBef>
            </a:pPr>
            <a:r>
              <a:rPr sz="1300">
                <a:solidFill>
                  <a:srgbClr val="1A1A2E"/>
                </a:solidFill>
              </a:rPr>
              <a:t>•  Controller parameters from Sec. 6.2: ~20% rejection threshold, ~30s interval.</a:t>
            </a:r>
          </a:p>
          <a:p>
            <a:pPr algn="l">
              <a:spcBef>
                <a:spcPts val="200"/>
              </a:spcBef>
            </a:pPr>
            <a:r>
              <a:rPr sz="1300">
                <a:solidFill>
                  <a:srgbClr val="1A1A2E"/>
                </a:solidFill>
              </a:rPr>
              <a:t>•  Patches Istio VirtualService CRDs via Kubernetes Python client when overload detected.</a:t>
            </a:r>
          </a:p>
          <a:p>
            <a:pPr algn="l">
              <a:spcBef>
                <a:spcPts val="200"/>
              </a:spcBef>
            </a:pPr>
            <a:r>
              <a:rPr sz="1300">
                <a:solidFill>
                  <a:srgbClr val="1A1A2E"/>
                </a:solidFill>
              </a:rPr>
              <a:t>•  Output → named experiment artifact dir mirroring baseline structure.</a:t>
            </a:r>
          </a:p>
          <a:p>
            <a:pPr algn="l">
              <a:spcBef>
                <a:spcPts val="200"/>
              </a:spcBef>
            </a:pPr>
            <a:r>
              <a:rPr sz="1300">
                <a:solidFill>
                  <a:srgbClr val="1A1A2E"/>
                </a:solidFill>
              </a:rPr>
              <a:t>•  Controller decisions logged: service name, toggle direction, time, rejection rate reading.</a:t>
            </a:r>
          </a:p>
        </p:txBody>
      </p:sp>
      <p:sp>
        <p:nvSpPr>
          <p:cNvPr id="10" name="Rectangle 9"/>
          <p:cNvSpPr/>
          <p:nvPr/>
        </p:nvSpPr>
        <p:spPr>
          <a:xfrm>
            <a:off x="7132320" y="2148840"/>
            <a:ext cx="4663440" cy="4297680"/>
          </a:xfrm>
          <a:prstGeom prst="rect">
            <a:avLst/>
          </a:prstGeom>
          <a:solidFill>
            <a:srgbClr val="D0E4F7"/>
          </a:solidFill>
          <a:ln w="12700">
            <a:solidFill>
              <a:srgbClr val="D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0" y="2194560"/>
            <a:ext cx="4480560" cy="274320"/>
          </a:xfrm>
          <a:prstGeom prst="rect">
            <a:avLst/>
          </a:prstGeom>
          <a:noFill/>
        </p:spPr>
        <p:txBody>
          <a:bodyPr wrap="square">
            <a:spAutoFit/>
          </a:bodyPr>
          <a:lstStyle/>
          <a:p>
            <a:pPr algn="l"/>
            <a:r>
              <a:rPr sz="950" b="1" i="0">
                <a:solidFill>
                  <a:srgbClr val="1F5F99"/>
                </a:solidFill>
              </a:rPr>
              <a:t>  EXPERIMENT — COMPONENT STATES</a:t>
            </a:r>
          </a:p>
        </p:txBody>
      </p:sp>
      <p:sp>
        <p:nvSpPr>
          <p:cNvPr id="12" name="Rounded Rectangle 11"/>
          <p:cNvSpPr/>
          <p:nvPr/>
        </p:nvSpPr>
        <p:spPr>
          <a:xfrm>
            <a:off x="6903720" y="2505456"/>
            <a:ext cx="3291840" cy="475488"/>
          </a:xfrm>
          <a:prstGeom prst="roundRect">
            <a:avLst/>
          </a:prstGeom>
          <a:solidFill>
            <a:srgbClr val="1A2E4A"/>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rPr>
              <a:t>TopFull</a:t>
            </a:r>
          </a:p>
        </p:txBody>
      </p:sp>
      <p:sp>
        <p:nvSpPr>
          <p:cNvPr id="13" name="Rounded Rectangle 12"/>
          <p:cNvSpPr/>
          <p:nvPr/>
        </p:nvSpPr>
        <p:spPr>
          <a:xfrm>
            <a:off x="10058400" y="2505456"/>
            <a:ext cx="1005840" cy="475488"/>
          </a:xfrm>
          <a:prstGeom prst="roundRect">
            <a:avLst/>
          </a:prstGeom>
          <a:solidFill>
            <a:srgbClr val="1A7A45"/>
          </a:solidFill>
          <a:ln w="12700">
            <a:solidFill>
              <a:srgbClr val="1A7A45"/>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rPr>
              <a:t>ON</a:t>
            </a:r>
          </a:p>
        </p:txBody>
      </p:sp>
      <p:sp>
        <p:nvSpPr>
          <p:cNvPr id="14" name="Rounded Rectangle 13"/>
          <p:cNvSpPr/>
          <p:nvPr/>
        </p:nvSpPr>
        <p:spPr>
          <a:xfrm>
            <a:off x="6903720" y="3236976"/>
            <a:ext cx="3291840" cy="475488"/>
          </a:xfrm>
          <a:prstGeom prst="roundRect">
            <a:avLst/>
          </a:prstGeom>
          <a:solidFill>
            <a:srgbClr val="1A2E4A"/>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rPr>
              <a:t>Locust workload</a:t>
            </a:r>
          </a:p>
        </p:txBody>
      </p:sp>
      <p:sp>
        <p:nvSpPr>
          <p:cNvPr id="15" name="Rounded Rectangle 14"/>
          <p:cNvSpPr/>
          <p:nvPr/>
        </p:nvSpPr>
        <p:spPr>
          <a:xfrm>
            <a:off x="10058400" y="3236976"/>
            <a:ext cx="1005840" cy="475488"/>
          </a:xfrm>
          <a:prstGeom prst="roundRect">
            <a:avLst/>
          </a:prstGeom>
          <a:solidFill>
            <a:srgbClr val="1A7A45"/>
          </a:solidFill>
          <a:ln w="12700">
            <a:solidFill>
              <a:srgbClr val="1A7A45"/>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rPr>
              <a:t>ON</a:t>
            </a:r>
          </a:p>
        </p:txBody>
      </p:sp>
      <p:sp>
        <p:nvSpPr>
          <p:cNvPr id="16" name="Rounded Rectangle 15"/>
          <p:cNvSpPr/>
          <p:nvPr/>
        </p:nvSpPr>
        <p:spPr>
          <a:xfrm>
            <a:off x="6903720" y="3968496"/>
            <a:ext cx="3291840" cy="475488"/>
          </a:xfrm>
          <a:prstGeom prst="roundRect">
            <a:avLst/>
          </a:prstGeom>
          <a:solidFill>
            <a:srgbClr val="1A2E4A"/>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rPr>
              <a:t>Istio retries</a:t>
            </a:r>
          </a:p>
        </p:txBody>
      </p:sp>
      <p:sp>
        <p:nvSpPr>
          <p:cNvPr id="17" name="Rounded Rectangle 16"/>
          <p:cNvSpPr/>
          <p:nvPr/>
        </p:nvSpPr>
        <p:spPr>
          <a:xfrm>
            <a:off x="10058400" y="3968496"/>
            <a:ext cx="1005840" cy="475488"/>
          </a:xfrm>
          <a:prstGeom prst="roundRect">
            <a:avLst/>
          </a:prstGeom>
          <a:solidFill>
            <a:srgbClr val="1F5F99"/>
          </a:solidFill>
          <a:ln w="12700">
            <a:solidFill>
              <a:srgbClr val="1F5F9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rPr>
              <a:t>managed</a:t>
            </a:r>
          </a:p>
        </p:txBody>
      </p:sp>
      <p:sp>
        <p:nvSpPr>
          <p:cNvPr id="18" name="Rounded Rectangle 17"/>
          <p:cNvSpPr/>
          <p:nvPr/>
        </p:nvSpPr>
        <p:spPr>
          <a:xfrm>
            <a:off x="6903720" y="4700016"/>
            <a:ext cx="3291840" cy="475488"/>
          </a:xfrm>
          <a:prstGeom prst="roundRect">
            <a:avLst/>
          </a:prstGeom>
          <a:solidFill>
            <a:srgbClr val="1A2E4A"/>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rPr>
              <a:t>RetryGuard</a:t>
            </a:r>
          </a:p>
        </p:txBody>
      </p:sp>
      <p:sp>
        <p:nvSpPr>
          <p:cNvPr id="19" name="Rounded Rectangle 18"/>
          <p:cNvSpPr/>
          <p:nvPr/>
        </p:nvSpPr>
        <p:spPr>
          <a:xfrm>
            <a:off x="10058400" y="4700016"/>
            <a:ext cx="1005840" cy="475488"/>
          </a:xfrm>
          <a:prstGeom prst="roundRect">
            <a:avLst/>
          </a:prstGeom>
          <a:solidFill>
            <a:srgbClr val="1A7A45"/>
          </a:solidFill>
          <a:ln w="12700">
            <a:solidFill>
              <a:srgbClr val="1A7A45"/>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rPr>
              <a:t>ON</a:t>
            </a:r>
          </a:p>
        </p:txBody>
      </p:sp>
      <p:sp>
        <p:nvSpPr>
          <p:cNvPr id="20" name="Rectangle 19"/>
          <p:cNvSpPr/>
          <p:nvPr/>
        </p:nvSpPr>
        <p:spPr>
          <a:xfrm>
            <a:off x="7223760" y="5440680"/>
            <a:ext cx="4480560" cy="640080"/>
          </a:xfrm>
          <a:prstGeom prst="rect">
            <a:avLst/>
          </a:prstGeom>
          <a:solidFill>
            <a:srgbClr val="FFF0E0"/>
          </a:solidFill>
          <a:ln w="12700">
            <a:solidFill>
              <a:srgbClr val="E86B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5486400"/>
            <a:ext cx="4297680" cy="548640"/>
          </a:xfrm>
          <a:prstGeom prst="rect">
            <a:avLst/>
          </a:prstGeom>
          <a:noFill/>
        </p:spPr>
        <p:txBody>
          <a:bodyPr wrap="square">
            <a:spAutoFit/>
          </a:bodyPr>
          <a:lstStyle/>
          <a:p>
            <a:pPr algn="l"/>
            <a:r>
              <a:rPr sz="1100" b="1" i="0">
                <a:solidFill>
                  <a:srgbClr val="E86B1F"/>
                </a:solidFill>
              </a:rPr>
              <a:t>Only change from baseline: RetryGuard ON.
All other variables identical.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How We Test — Repeated Runs</a:t>
            </a:r>
          </a:p>
          <a:p>
            <a:r>
              <a:rPr sz="1300">
                <a:solidFill>
                  <a:srgbClr val="B0C8E8"/>
                </a:solidFill>
              </a:rPr>
              <a:t>§5 — Controlled experimental methodology (3/3)</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5 OF 9 (3/3)</a:t>
            </a:r>
          </a:p>
        </p:txBody>
      </p:sp>
      <p:sp>
        <p:nvSpPr>
          <p:cNvPr id="6" name="TextBox 5"/>
          <p:cNvSpPr txBox="1"/>
          <p:nvPr/>
        </p:nvSpPr>
        <p:spPr>
          <a:xfrm>
            <a:off x="365760" y="1508760"/>
            <a:ext cx="11430000" cy="502920"/>
          </a:xfrm>
          <a:prstGeom prst="rect">
            <a:avLst/>
          </a:prstGeom>
          <a:noFill/>
        </p:spPr>
        <p:txBody>
          <a:bodyPr wrap="square">
            <a:spAutoFit/>
          </a:bodyPr>
          <a:lstStyle/>
          <a:p>
            <a:pPr algn="l"/>
            <a:r>
              <a:rPr sz="1350" b="0" i="0">
                <a:solidFill>
                  <a:srgbClr val="1A1A2E"/>
                </a:solidFill>
              </a:rPr>
              <a:t>Locust generates randomized user behavior — the arrival pattern is non-deterministic. A single run per scenario is insufficient to isolate RetryGuard's effect from natural traffic variation.</a:t>
            </a:r>
          </a:p>
        </p:txBody>
      </p:sp>
      <p:sp>
        <p:nvSpPr>
          <p:cNvPr id="7" name="Rectangle 6"/>
          <p:cNvSpPr/>
          <p:nvPr/>
        </p:nvSpPr>
        <p:spPr>
          <a:xfrm>
            <a:off x="365760" y="214884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286000"/>
            <a:ext cx="11430000" cy="274320"/>
          </a:xfrm>
          <a:prstGeom prst="rect">
            <a:avLst/>
          </a:prstGeom>
          <a:noFill/>
        </p:spPr>
        <p:txBody>
          <a:bodyPr wrap="square">
            <a:spAutoFit/>
          </a:bodyPr>
          <a:lstStyle/>
          <a:p>
            <a:pPr algn="l"/>
            <a:r>
              <a:rPr sz="1100" b="1" i="0">
                <a:solidFill>
                  <a:srgbClr val="1F5F99"/>
                </a:solidFill>
              </a:rPr>
              <a:t>REPEATED-RUN PROTOCOL</a:t>
            </a:r>
          </a:p>
        </p:txBody>
      </p:sp>
      <p:sp>
        <p:nvSpPr>
          <p:cNvPr id="9" name="TextBox 8"/>
          <p:cNvSpPr txBox="1"/>
          <p:nvPr/>
        </p:nvSpPr>
        <p:spPr>
          <a:xfrm>
            <a:off x="365760" y="2606040"/>
            <a:ext cx="6858000" cy="2560320"/>
          </a:xfrm>
          <a:prstGeom prst="rect">
            <a:avLst/>
          </a:prstGeom>
          <a:noFill/>
        </p:spPr>
        <p:txBody>
          <a:bodyPr wrap="square">
            <a:spAutoFit/>
          </a:bodyPr>
          <a:lstStyle/>
          <a:p>
            <a:pPr algn="l">
              <a:spcBef>
                <a:spcPts val="200"/>
              </a:spcBef>
            </a:pPr>
            <a:r>
              <a:rPr sz="1300">
                <a:solidFill>
                  <a:srgbClr val="1A1A2E"/>
                </a:solidFill>
              </a:rPr>
              <a:t>•  Both baseline and RetryGuard experiment run multiple times per scenario.</a:t>
            </a:r>
          </a:p>
          <a:p>
            <a:pPr algn="l">
              <a:spcBef>
                <a:spcPts val="200"/>
              </a:spcBef>
            </a:pPr>
            <a:r>
              <a:rPr sz="1300">
                <a:solidFill>
                  <a:srgbClr val="1A1A2E"/>
                </a:solidFill>
              </a:rPr>
              <a:t>•  Results compared using averages and medians across runs — not individual trial outcomes.</a:t>
            </a:r>
          </a:p>
          <a:p>
            <a:pPr algn="l">
              <a:spcBef>
                <a:spcPts val="200"/>
              </a:spcBef>
            </a:pPr>
            <a:r>
              <a:rPr sz="1300">
                <a:solidFill>
                  <a:srgbClr val="1A1A2E"/>
                </a:solidFill>
              </a:rPr>
              <a:t>•  Same inputs, different retry policy, multiple runs: isolates RetryGuard from Locust noise.</a:t>
            </a:r>
          </a:p>
          <a:p>
            <a:pPr algn="l">
              <a:spcBef>
                <a:spcPts val="200"/>
              </a:spcBef>
            </a:pPr>
            <a:r>
              <a:rPr sz="1300">
                <a:solidFill>
                  <a:srgbClr val="1A1A2E"/>
                </a:solidFill>
              </a:rPr>
              <a:t>•  Inconsistent runs are flagged for re-investigation before drawing conclusions.</a:t>
            </a:r>
          </a:p>
        </p:txBody>
      </p:sp>
      <p:sp>
        <p:nvSpPr>
          <p:cNvPr id="10" name="Rectangle 9"/>
          <p:cNvSpPr/>
          <p:nvPr/>
        </p:nvSpPr>
        <p:spPr>
          <a:xfrm>
            <a:off x="365760" y="457200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4709160"/>
            <a:ext cx="11430000" cy="274320"/>
          </a:xfrm>
          <a:prstGeom prst="rect">
            <a:avLst/>
          </a:prstGeom>
          <a:noFill/>
        </p:spPr>
        <p:txBody>
          <a:bodyPr wrap="square">
            <a:spAutoFit/>
          </a:bodyPr>
          <a:lstStyle/>
          <a:p>
            <a:pPr algn="l"/>
            <a:r>
              <a:rPr sz="1100" b="1" i="0">
                <a:solidFill>
                  <a:srgbClr val="1F5F99"/>
                </a:solidFill>
              </a:rPr>
              <a:t>COMPARISON LOGIC</a:t>
            </a:r>
          </a:p>
        </p:txBody>
      </p:sp>
      <p:sp>
        <p:nvSpPr>
          <p:cNvPr id="12" name="TextBox 11"/>
          <p:cNvSpPr txBox="1"/>
          <p:nvPr/>
        </p:nvSpPr>
        <p:spPr>
          <a:xfrm>
            <a:off x="365760" y="5029200"/>
            <a:ext cx="11430000" cy="640080"/>
          </a:xfrm>
          <a:prstGeom prst="rect">
            <a:avLst/>
          </a:prstGeom>
          <a:noFill/>
        </p:spPr>
        <p:txBody>
          <a:bodyPr wrap="square">
            <a:spAutoFit/>
          </a:bodyPr>
          <a:lstStyle/>
          <a:p>
            <a:pPr algn="l"/>
            <a:r>
              <a:rPr sz="1350" b="0" i="0">
                <a:solidFill>
                  <a:srgbClr val="1A1A2E"/>
                </a:solidFill>
              </a:rPr>
              <a:t>For each scenario: [Baseline runs] vs. [RetryGuard runs] → delta in goodput, latency, retries/request, CPU, pod count. The delta is the measured effect of RetryGuard. We report both system-wide aggregates and per-microservice breakdowns.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What We Want to Find Out</a:t>
            </a:r>
          </a:p>
          <a:p>
            <a:r>
              <a:rPr sz="1300">
                <a:solidFill>
                  <a:srgbClr val="B0C8E8"/>
                </a:solidFill>
              </a:rPr>
              <a:t>§6 — The intellectual core of the project (1/3)</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6 OF 9 (1/3)</a:t>
            </a:r>
          </a:p>
        </p:txBody>
      </p:sp>
      <p:sp>
        <p:nvSpPr>
          <p:cNvPr id="6" name="TextBox 5"/>
          <p:cNvSpPr txBox="1"/>
          <p:nvPr/>
        </p:nvSpPr>
        <p:spPr>
          <a:xfrm>
            <a:off x="365760" y="1508760"/>
            <a:ext cx="5394960" cy="274320"/>
          </a:xfrm>
          <a:prstGeom prst="rect">
            <a:avLst/>
          </a:prstGeom>
          <a:noFill/>
        </p:spPr>
        <p:txBody>
          <a:bodyPr wrap="square">
            <a:spAutoFit/>
          </a:bodyPr>
          <a:lstStyle/>
          <a:p>
            <a:pPr algn="l"/>
            <a:r>
              <a:rPr sz="1100" b="1" i="0">
                <a:solidFill>
                  <a:srgbClr val="1F5F99"/>
                </a:solidFill>
              </a:rPr>
              <a:t>THE CENTRAL QUESTION</a:t>
            </a:r>
          </a:p>
        </p:txBody>
      </p:sp>
      <p:sp>
        <p:nvSpPr>
          <p:cNvPr id="7" name="TextBox 6"/>
          <p:cNvSpPr txBox="1"/>
          <p:nvPr/>
        </p:nvSpPr>
        <p:spPr>
          <a:xfrm>
            <a:off x="365760" y="1783080"/>
            <a:ext cx="5394960" cy="1005840"/>
          </a:xfrm>
          <a:prstGeom prst="rect">
            <a:avLst/>
          </a:prstGeom>
          <a:noFill/>
        </p:spPr>
        <p:txBody>
          <a:bodyPr wrap="square">
            <a:spAutoFit/>
          </a:bodyPr>
          <a:lstStyle/>
          <a:p>
            <a:pPr algn="l"/>
            <a:r>
              <a:rPr sz="1600" b="1" i="0">
                <a:solidFill>
                  <a:srgbClr val="1A2E4A"/>
                </a:solidFill>
              </a:rPr>
              <a:t>Does adding RetryGuard on top of TopFull actually make things better — or is TopFull's overload control already sufficient on its own?</a:t>
            </a:r>
          </a:p>
        </p:txBody>
      </p:sp>
      <p:sp>
        <p:nvSpPr>
          <p:cNvPr id="8" name="TextBox 7"/>
          <p:cNvSpPr txBox="1"/>
          <p:nvPr/>
        </p:nvSpPr>
        <p:spPr>
          <a:xfrm>
            <a:off x="365760" y="2926080"/>
            <a:ext cx="5394960" cy="3108960"/>
          </a:xfrm>
          <a:prstGeom prst="rect">
            <a:avLst/>
          </a:prstGeom>
          <a:noFill/>
        </p:spPr>
        <p:txBody>
          <a:bodyPr wrap="square">
            <a:spAutoFit/>
          </a:bodyPr>
          <a:lstStyle/>
          <a:p>
            <a:pPr algn="l"/>
            <a:r>
              <a:rPr sz="1250" b="0" i="0">
                <a:solidFill>
                  <a:srgbClr val="1A1A2E"/>
                </a:solidFill>
              </a:rPr>
              <a:t>RetryGuard has been validated in AWS Lambda/DynamoDB and standalone Istio/Kubernetes (Bookinfo). It has never been evaluated alongside a sophisticated top-down overload controller.
TopFull controls admission at the entry proxy. But once a request is admitted, Istio's internal retry policies fire inside the cluster — invisible to TopFull's rate limiter. These internal retries can amplify load on downstream services beyond what TopFull can throttle.
RetryGuard, operating per-service with Istio metrics, is positioned to suppress exactly this internal amplification. Whether that suppression produces measurable gains on top of TopFull — and for which services — is the gap this project investigates.</a:t>
            </a:r>
          </a:p>
        </p:txBody>
      </p:sp>
      <p:sp>
        <p:nvSpPr>
          <p:cNvPr id="9" name="Rectangle 8"/>
          <p:cNvSpPr/>
          <p:nvPr/>
        </p:nvSpPr>
        <p:spPr>
          <a:xfrm>
            <a:off x="5989320" y="1143000"/>
            <a:ext cx="19050" cy="54864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0" y="1371600"/>
            <a:ext cx="5989320" cy="5212080"/>
          </a:xfrm>
          <a:prstGeom prst="rect">
            <a:avLst/>
          </a:prstGeom>
          <a:solidFill>
            <a:srgbClr val="D0E4F7"/>
          </a:solidFill>
          <a:ln w="12700">
            <a:solidFill>
              <a:srgbClr val="D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1417320"/>
            <a:ext cx="5897880" cy="274320"/>
          </a:xfrm>
          <a:prstGeom prst="rect">
            <a:avLst/>
          </a:prstGeom>
          <a:noFill/>
        </p:spPr>
        <p:txBody>
          <a:bodyPr wrap="square">
            <a:spAutoFit/>
          </a:bodyPr>
          <a:lstStyle/>
          <a:p>
            <a:pPr algn="l"/>
            <a:r>
              <a:rPr sz="950" b="1" i="0">
                <a:solidFill>
                  <a:srgbClr val="1F5F99"/>
                </a:solidFill>
              </a:rPr>
              <a:t>  TWO FEEDBACK LOOPS RUNNING SIMULTANEOUSLY</a:t>
            </a:r>
          </a:p>
        </p:txBody>
      </p:sp>
      <p:sp>
        <p:nvSpPr>
          <p:cNvPr id="12" name="Rectangle 11"/>
          <p:cNvSpPr/>
          <p:nvPr/>
        </p:nvSpPr>
        <p:spPr>
          <a:xfrm>
            <a:off x="6217920" y="1828800"/>
            <a:ext cx="5806440" cy="4434840"/>
          </a:xfrm>
          <a:prstGeom prst="rect">
            <a:avLst/>
          </a:prstGeom>
          <a:solidFill>
            <a:srgbClr val="EAF4FF"/>
          </a:solidFill>
          <a:ln w="19050">
            <a:solidFill>
              <a:srgbClr val="1F5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874519"/>
            <a:ext cx="2286000" cy="256032"/>
          </a:xfrm>
          <a:prstGeom prst="rect">
            <a:avLst/>
          </a:prstGeom>
          <a:noFill/>
        </p:spPr>
        <p:txBody>
          <a:bodyPr wrap="square">
            <a:spAutoFit/>
          </a:bodyPr>
          <a:lstStyle/>
          <a:p>
            <a:pPr algn="l"/>
            <a:r>
              <a:rPr sz="950" b="1" i="0">
                <a:solidFill>
                  <a:srgbClr val="1F5F99"/>
                </a:solidFill>
              </a:rPr>
              <a:t>TopFull loop  (1-second cycle)</a:t>
            </a:r>
          </a:p>
        </p:txBody>
      </p:sp>
      <p:sp>
        <p:nvSpPr>
          <p:cNvPr id="14" name="Rectangle 13"/>
          <p:cNvSpPr/>
          <p:nvPr/>
        </p:nvSpPr>
        <p:spPr>
          <a:xfrm>
            <a:off x="6675120" y="2560320"/>
            <a:ext cx="4892040" cy="3108960"/>
          </a:xfrm>
          <a:prstGeom prst="rect">
            <a:avLst/>
          </a:prstGeom>
          <a:solidFill>
            <a:srgbClr val="F0F4FF"/>
          </a:solidFill>
          <a:ln w="1905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2280" y="2606040"/>
            <a:ext cx="2286000" cy="256032"/>
          </a:xfrm>
          <a:prstGeom prst="rect">
            <a:avLst/>
          </a:prstGeom>
          <a:noFill/>
        </p:spPr>
        <p:txBody>
          <a:bodyPr wrap="square">
            <a:spAutoFit/>
          </a:bodyPr>
          <a:lstStyle/>
          <a:p>
            <a:pPr algn="l"/>
            <a:r>
              <a:rPr sz="950" b="1" i="0">
                <a:solidFill>
                  <a:srgbClr val="1A2E4A"/>
                </a:solidFill>
              </a:rPr>
              <a:t>Kubernetes cluster</a:t>
            </a:r>
          </a:p>
        </p:txBody>
      </p:sp>
      <p:sp>
        <p:nvSpPr>
          <p:cNvPr id="16" name="Rounded Rectangle 15"/>
          <p:cNvSpPr/>
          <p:nvPr/>
        </p:nvSpPr>
        <p:spPr>
          <a:xfrm>
            <a:off x="7383780" y="1956816"/>
            <a:ext cx="3474720" cy="438912"/>
          </a:xfrm>
          <a:prstGeom prst="roundRect">
            <a:avLst/>
          </a:prstGeom>
          <a:solidFill>
            <a:srgbClr val="1A2E4A"/>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rPr>
              <a:t>TopFull Entry Proxy  (rate limiter)</a:t>
            </a:r>
          </a:p>
        </p:txBody>
      </p:sp>
      <p:cxnSp>
        <p:nvCxnSpPr>
          <p:cNvPr id="17" name="Connector 16"/>
          <p:cNvCxnSpPr/>
          <p:nvPr/>
        </p:nvCxnSpPr>
        <p:spPr>
          <a:xfrm>
            <a:off x="9121140.0" y="2395728"/>
            <a:ext cx="0.0" cy="274320"/>
          </a:xfrm>
          <a:prstGeom prst="line">
            <a:avLst/>
          </a:prstGeom>
          <a:ln w="25400">
            <a:solidFill>
              <a:srgbClr val="1A2E4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9047988.0" y="2596896"/>
            <a:ext cx="73152.0" cy="73152"/>
          </a:xfrm>
          <a:prstGeom prst="line">
            <a:avLst/>
          </a:prstGeom>
          <a:ln w="19050">
            <a:solidFill>
              <a:srgbClr val="1A2E4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121140.0" y="2596896"/>
            <a:ext cx="73152.0" cy="73152"/>
          </a:xfrm>
          <a:prstGeom prst="line">
            <a:avLst/>
          </a:prstGeom>
          <a:ln w="19050">
            <a:solidFill>
              <a:srgbClr val="1A2E4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212580" y="2450592"/>
            <a:ext cx="1645920" cy="256032"/>
          </a:xfrm>
          <a:prstGeom prst="rect">
            <a:avLst/>
          </a:prstGeom>
          <a:noFill/>
        </p:spPr>
        <p:txBody>
          <a:bodyPr wrap="square">
            <a:spAutoFit/>
          </a:bodyPr>
          <a:lstStyle/>
          <a:p>
            <a:pPr algn="l"/>
            <a:r>
              <a:rPr sz="850" b="0" i="0">
                <a:solidFill>
                  <a:srgbClr val="55556B"/>
                </a:solidFill>
              </a:rPr>
              <a:t>admitted requests</a:t>
            </a:r>
          </a:p>
        </p:txBody>
      </p:sp>
      <p:sp>
        <p:nvSpPr>
          <p:cNvPr id="21" name="Rounded Rectangle 20"/>
          <p:cNvSpPr/>
          <p:nvPr/>
        </p:nvSpPr>
        <p:spPr>
          <a:xfrm>
            <a:off x="7315200" y="2980944"/>
            <a:ext cx="868680" cy="438912"/>
          </a:xfrm>
          <a:prstGeom prst="roundRect">
            <a:avLst/>
          </a:prstGeom>
          <a:solidFill>
            <a:srgbClr val="1F5F99"/>
          </a:solidFill>
          <a:ln w="12700">
            <a:solidFill>
              <a:srgbClr val="1F5F9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rPr>
              <a:t>Svc A</a:t>
            </a:r>
          </a:p>
        </p:txBody>
      </p:sp>
      <p:sp>
        <p:nvSpPr>
          <p:cNvPr id="22" name="Rounded Rectangle 21"/>
          <p:cNvSpPr/>
          <p:nvPr/>
        </p:nvSpPr>
        <p:spPr>
          <a:xfrm>
            <a:off x="8686800" y="2980944"/>
            <a:ext cx="868680" cy="438912"/>
          </a:xfrm>
          <a:prstGeom prst="roundRect">
            <a:avLst/>
          </a:prstGeom>
          <a:solidFill>
            <a:srgbClr val="1F5F99"/>
          </a:solidFill>
          <a:ln w="12700">
            <a:solidFill>
              <a:srgbClr val="1F5F9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rPr>
              <a:t>Svc B</a:t>
            </a:r>
          </a:p>
        </p:txBody>
      </p:sp>
      <p:sp>
        <p:nvSpPr>
          <p:cNvPr id="23" name="Rounded Rectangle 22"/>
          <p:cNvSpPr/>
          <p:nvPr/>
        </p:nvSpPr>
        <p:spPr>
          <a:xfrm>
            <a:off x="10058400" y="2980944"/>
            <a:ext cx="868680" cy="438912"/>
          </a:xfrm>
          <a:prstGeom prst="roundRect">
            <a:avLst/>
          </a:prstGeom>
          <a:solidFill>
            <a:srgbClr val="1F5F99"/>
          </a:solidFill>
          <a:ln w="12700">
            <a:solidFill>
              <a:srgbClr val="1F5F9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rPr>
              <a:t>Svc C</a:t>
            </a:r>
          </a:p>
        </p:txBody>
      </p:sp>
      <p:cxnSp>
        <p:nvCxnSpPr>
          <p:cNvPr id="24" name="Connector 23"/>
          <p:cNvCxnSpPr/>
          <p:nvPr/>
        </p:nvCxnSpPr>
        <p:spPr>
          <a:xfrm>
            <a:off x="8179308.0" y="3200400"/>
            <a:ext cx="512064.0" cy="0"/>
          </a:xfrm>
          <a:prstGeom prst="line">
            <a:avLst/>
          </a:prstGeom>
          <a:ln w="19050">
            <a:solidFill>
              <a:srgbClr val="E86B1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550908.0" y="3200400"/>
            <a:ext cx="512064.0" cy="0"/>
          </a:xfrm>
          <a:prstGeom prst="line">
            <a:avLst/>
          </a:prstGeom>
          <a:ln w="19050">
            <a:solidFill>
              <a:srgbClr val="E86B1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932420" y="2852928"/>
            <a:ext cx="2377440" cy="274320"/>
          </a:xfrm>
          <a:prstGeom prst="rect">
            <a:avLst/>
          </a:prstGeom>
          <a:noFill/>
        </p:spPr>
        <p:txBody>
          <a:bodyPr wrap="square">
            <a:spAutoFit/>
          </a:bodyPr>
          <a:lstStyle/>
          <a:p>
            <a:pPr algn="ctr"/>
            <a:r>
              <a:rPr sz="850" b="0" i="0">
                <a:solidFill>
                  <a:srgbClr val="E86B1F"/>
                </a:solidFill>
              </a:rPr>
              <a:t>← internal Istio retries (invisible to TopFull) →</a:t>
            </a:r>
          </a:p>
        </p:txBody>
      </p:sp>
      <p:sp>
        <p:nvSpPr>
          <p:cNvPr id="27" name="Rounded Rectangle 26"/>
          <p:cNvSpPr/>
          <p:nvPr/>
        </p:nvSpPr>
        <p:spPr>
          <a:xfrm>
            <a:off x="7475220" y="4059936"/>
            <a:ext cx="3291840" cy="475488"/>
          </a:xfrm>
          <a:prstGeom prst="roundRect">
            <a:avLst/>
          </a:prstGeom>
          <a:solidFill>
            <a:srgbClr val="E86B1F"/>
          </a:solidFill>
          <a:ln w="12700">
            <a:solidFill>
              <a:srgbClr val="E86B1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rPr>
              <a:t>RetryGuard  (master node, 30s cycle)</a:t>
            </a:r>
          </a:p>
        </p:txBody>
      </p:sp>
      <p:cxnSp>
        <p:nvCxnSpPr>
          <p:cNvPr id="28" name="Connector 27"/>
          <p:cNvCxnSpPr/>
          <p:nvPr/>
        </p:nvCxnSpPr>
        <p:spPr>
          <a:xfrm flipV="1">
            <a:off x="8481060.0" y="4059936"/>
            <a:ext cx="0.0" cy="18288"/>
          </a:xfrm>
          <a:prstGeom prst="line">
            <a:avLst/>
          </a:prstGeom>
          <a:ln w="19050">
            <a:solidFill>
              <a:srgbClr val="E86B1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932420.0" y="3419856"/>
            <a:ext cx="0.0" cy="877824"/>
          </a:xfrm>
          <a:prstGeom prst="bentConnector3">
            <a:avLst/>
          </a:prstGeom>
          <a:ln w="19050">
            <a:solidFill>
              <a:srgbClr val="E86B1F"/>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263640" y="3931920"/>
            <a:ext cx="1645920" cy="292608"/>
          </a:xfrm>
          <a:prstGeom prst="rect">
            <a:avLst/>
          </a:prstGeom>
          <a:noFill/>
        </p:spPr>
        <p:txBody>
          <a:bodyPr wrap="square">
            <a:spAutoFit/>
          </a:bodyPr>
          <a:lstStyle/>
          <a:p>
            <a:pPr algn="l"/>
            <a:r>
              <a:rPr sz="850" b="0" i="0">
                <a:solidFill>
                  <a:srgbClr val="E86B1F"/>
                </a:solidFill>
              </a:rPr>
              <a:t>reads sidecar
metrics</a:t>
            </a:r>
          </a:p>
        </p:txBody>
      </p:sp>
      <p:cxnSp>
        <p:nvCxnSpPr>
          <p:cNvPr id="31" name="Connector 30"/>
          <p:cNvCxnSpPr/>
          <p:nvPr/>
        </p:nvCxnSpPr>
        <p:spPr>
          <a:xfrm>
            <a:off x="11841480" y="2176272"/>
            <a:ext cx="0" cy="1463040"/>
          </a:xfrm>
          <a:prstGeom prst="line">
            <a:avLst/>
          </a:prstGeom>
          <a:ln w="19050">
            <a:solidFill>
              <a:srgbClr val="1F5F9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10858500.0" y="3639312"/>
            <a:ext cx="982980.0" cy="0"/>
          </a:xfrm>
          <a:prstGeom prst="line">
            <a:avLst/>
          </a:prstGeom>
          <a:ln w="19050">
            <a:solidFill>
              <a:srgbClr val="1F5F99"/>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1887200" y="2697480"/>
            <a:ext cx="822960" cy="640080"/>
          </a:xfrm>
          <a:prstGeom prst="rect">
            <a:avLst/>
          </a:prstGeom>
          <a:noFill/>
        </p:spPr>
        <p:txBody>
          <a:bodyPr wrap="square">
            <a:spAutoFit/>
          </a:bodyPr>
          <a:lstStyle/>
          <a:p>
            <a:pPr algn="l"/>
            <a:r>
              <a:rPr sz="850" b="0" i="0">
                <a:solidFill>
                  <a:srgbClr val="1F5F99"/>
                </a:solidFill>
              </a:rPr>
              <a:t>RL feed-
back
1 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Open Questions</a:t>
            </a:r>
          </a:p>
          <a:p>
            <a:r>
              <a:rPr sz="1300">
                <a:solidFill>
                  <a:srgbClr val="B0C8E8"/>
                </a:solidFill>
              </a:rPr>
              <a:t>§6 — Specific questions the project is designed to answer (2/3)</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6 OF 9 (2/3)</a:t>
            </a:r>
          </a:p>
        </p:txBody>
      </p:sp>
      <p:sp>
        <p:nvSpPr>
          <p:cNvPr id="6" name="TextBox 5"/>
          <p:cNvSpPr txBox="1"/>
          <p:nvPr/>
        </p:nvSpPr>
        <p:spPr>
          <a:xfrm>
            <a:off x="365760" y="1508760"/>
            <a:ext cx="11430000" cy="256032"/>
          </a:xfrm>
          <a:prstGeom prst="rect">
            <a:avLst/>
          </a:prstGeom>
          <a:noFill/>
        </p:spPr>
        <p:txBody>
          <a:bodyPr wrap="square">
            <a:spAutoFit/>
          </a:bodyPr>
          <a:lstStyle/>
          <a:p>
            <a:pPr algn="l"/>
            <a:r>
              <a:rPr sz="1050" b="1" i="0">
                <a:solidFill>
                  <a:srgbClr val="E86B1F"/>
                </a:solidFill>
              </a:rPr>
              <a:t>SYSTEM-LEVEL GAINS</a:t>
            </a:r>
          </a:p>
        </p:txBody>
      </p:sp>
      <p:sp>
        <p:nvSpPr>
          <p:cNvPr id="7" name="TextBox 6"/>
          <p:cNvSpPr txBox="1"/>
          <p:nvPr/>
        </p:nvSpPr>
        <p:spPr>
          <a:xfrm>
            <a:off x="365760" y="1783080"/>
            <a:ext cx="11430000" cy="548640"/>
          </a:xfrm>
          <a:prstGeom prst="rect">
            <a:avLst/>
          </a:prstGeom>
          <a:noFill/>
        </p:spPr>
        <p:txBody>
          <a:bodyPr wrap="square">
            <a:spAutoFit/>
          </a:bodyPr>
          <a:lstStyle/>
          <a:p>
            <a:pPr algn="l"/>
            <a:r>
              <a:rPr sz="1250" b="0" i="0">
                <a:solidFill>
                  <a:srgbClr val="1A1A2E"/>
                </a:solidFill>
              </a:rPr>
              <a:t>Does RetryGuard further improve global goodput and latency during overload, or does TopFull's entry-point control already absorb the retry problem so that internal retries are no longer a meaningful factor?</a:t>
            </a:r>
          </a:p>
        </p:txBody>
      </p:sp>
      <p:sp>
        <p:nvSpPr>
          <p:cNvPr id="8" name="TextBox 7"/>
          <p:cNvSpPr txBox="1"/>
          <p:nvPr/>
        </p:nvSpPr>
        <p:spPr>
          <a:xfrm>
            <a:off x="365760" y="2468880"/>
            <a:ext cx="11430000" cy="256032"/>
          </a:xfrm>
          <a:prstGeom prst="rect">
            <a:avLst/>
          </a:prstGeom>
          <a:noFill/>
        </p:spPr>
        <p:txBody>
          <a:bodyPr wrap="square">
            <a:spAutoFit/>
          </a:bodyPr>
          <a:lstStyle/>
          <a:p>
            <a:pPr algn="l"/>
            <a:r>
              <a:rPr sz="1050" b="1" i="0">
                <a:solidFill>
                  <a:srgbClr val="E86B1F"/>
                </a:solidFill>
              </a:rPr>
              <a:t>TOPOLOGY BENEFICIARIES</a:t>
            </a:r>
          </a:p>
        </p:txBody>
      </p:sp>
      <p:sp>
        <p:nvSpPr>
          <p:cNvPr id="9" name="TextBox 8"/>
          <p:cNvSpPr txBox="1"/>
          <p:nvPr/>
        </p:nvSpPr>
        <p:spPr>
          <a:xfrm>
            <a:off x="365760" y="2743200"/>
            <a:ext cx="11430000" cy="548640"/>
          </a:xfrm>
          <a:prstGeom prst="rect">
            <a:avLst/>
          </a:prstGeom>
          <a:noFill/>
        </p:spPr>
        <p:txBody>
          <a:bodyPr wrap="square">
            <a:spAutoFit/>
          </a:bodyPr>
          <a:lstStyle/>
          <a:p>
            <a:pPr algn="l"/>
            <a:r>
              <a:rPr sz="1250" b="0" i="0">
                <a:solidFill>
                  <a:srgbClr val="1A1A2E"/>
                </a:solidFill>
              </a:rPr>
              <a:t>Which specific microservices in the call chain benefit most? Do leaf-node services respond differently than gateway-adjacent services? Is the benefit uneven across the topology?</a:t>
            </a:r>
          </a:p>
        </p:txBody>
      </p:sp>
      <p:sp>
        <p:nvSpPr>
          <p:cNvPr id="10" name="TextBox 9"/>
          <p:cNvSpPr txBox="1"/>
          <p:nvPr/>
        </p:nvSpPr>
        <p:spPr>
          <a:xfrm>
            <a:off x="365760" y="3429000"/>
            <a:ext cx="11430000" cy="256032"/>
          </a:xfrm>
          <a:prstGeom prst="rect">
            <a:avLst/>
          </a:prstGeom>
          <a:noFill/>
        </p:spPr>
        <p:txBody>
          <a:bodyPr wrap="square">
            <a:spAutoFit/>
          </a:bodyPr>
          <a:lstStyle/>
          <a:p>
            <a:pPr algn="l"/>
            <a:r>
              <a:rPr sz="1050" b="1" i="0">
                <a:solidFill>
                  <a:srgbClr val="E86B1F"/>
                </a:solidFill>
              </a:rPr>
              <a:t>CHAIN PROPAGATION</a:t>
            </a:r>
          </a:p>
        </p:txBody>
      </p:sp>
      <p:sp>
        <p:nvSpPr>
          <p:cNvPr id="11" name="TextBox 10"/>
          <p:cNvSpPr txBox="1"/>
          <p:nvPr/>
        </p:nvSpPr>
        <p:spPr>
          <a:xfrm>
            <a:off x="365760" y="3703320"/>
            <a:ext cx="11430000" cy="548640"/>
          </a:xfrm>
          <a:prstGeom prst="rect">
            <a:avLst/>
          </a:prstGeom>
          <a:noFill/>
        </p:spPr>
        <p:txBody>
          <a:bodyPr wrap="square">
            <a:spAutoFit/>
          </a:bodyPr>
          <a:lstStyle/>
          <a:p>
            <a:pPr algn="l"/>
            <a:r>
              <a:rPr sz="1250" b="0" i="0">
                <a:solidFill>
                  <a:srgbClr val="1A1A2E"/>
                </a:solidFill>
              </a:rPr>
              <a:t>If RetryGuard activates on one downstream service, do the resource savings propagate upward through the rest of the execution path — or is the effect local to that service?</a:t>
            </a:r>
          </a:p>
        </p:txBody>
      </p:sp>
      <p:sp>
        <p:nvSpPr>
          <p:cNvPr id="12" name="TextBox 11"/>
          <p:cNvSpPr txBox="1"/>
          <p:nvPr/>
        </p:nvSpPr>
        <p:spPr>
          <a:xfrm>
            <a:off x="365760" y="4389120"/>
            <a:ext cx="11430000" cy="256032"/>
          </a:xfrm>
          <a:prstGeom prst="rect">
            <a:avLst/>
          </a:prstGeom>
          <a:noFill/>
        </p:spPr>
        <p:txBody>
          <a:bodyPr wrap="square">
            <a:spAutoFit/>
          </a:bodyPr>
          <a:lstStyle/>
          <a:p>
            <a:pPr algn="l"/>
            <a:r>
              <a:rPr sz="1050" b="1" i="0">
                <a:solidFill>
                  <a:srgbClr val="E86B1F"/>
                </a:solidFill>
              </a:rPr>
              <a:t>CONTROLLER INTERACTION</a:t>
            </a:r>
          </a:p>
        </p:txBody>
      </p:sp>
      <p:sp>
        <p:nvSpPr>
          <p:cNvPr id="13" name="TextBox 12"/>
          <p:cNvSpPr txBox="1"/>
          <p:nvPr/>
        </p:nvSpPr>
        <p:spPr>
          <a:xfrm>
            <a:off x="365760" y="4663440"/>
            <a:ext cx="11430000" cy="548640"/>
          </a:xfrm>
          <a:prstGeom prst="rect">
            <a:avLst/>
          </a:prstGeom>
          <a:noFill/>
        </p:spPr>
        <p:txBody>
          <a:bodyPr wrap="square">
            <a:spAutoFit/>
          </a:bodyPr>
          <a:lstStyle/>
          <a:p>
            <a:pPr algn="l"/>
            <a:r>
              <a:rPr sz="1250" b="0" i="0">
                <a:solidFill>
                  <a:srgbClr val="1A1A2E"/>
                </a:solidFill>
              </a:rPr>
              <a:t>TopFull's RL controller and RetryGuard are both feedback loops running simultaneously on overlapping signals. TopFull adjusts admission rates every 1 second; RetryGuard toggles per-service retry policies on a ~30-second cycle. Do they cooperate — or does one loop's correction interfere with the other's? This combination has not been studied.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Open Questions (continued)</a:t>
            </a:r>
          </a:p>
          <a:p>
            <a:r>
              <a:rPr sz="1300">
                <a:solidFill>
                  <a:srgbClr val="B0C8E8"/>
                </a:solidFill>
              </a:rPr>
              <a:t>§6 — Specific questions the project is designed to answer (3/3)</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6 OF 9 (3/3)</a:t>
            </a:r>
          </a:p>
        </p:txBody>
      </p:sp>
      <p:sp>
        <p:nvSpPr>
          <p:cNvPr id="6" name="TextBox 5"/>
          <p:cNvSpPr txBox="1"/>
          <p:nvPr/>
        </p:nvSpPr>
        <p:spPr>
          <a:xfrm>
            <a:off x="365760" y="1508760"/>
            <a:ext cx="11430000" cy="256032"/>
          </a:xfrm>
          <a:prstGeom prst="rect">
            <a:avLst/>
          </a:prstGeom>
          <a:noFill/>
        </p:spPr>
        <p:txBody>
          <a:bodyPr wrap="square">
            <a:spAutoFit/>
          </a:bodyPr>
          <a:lstStyle/>
          <a:p>
            <a:pPr algn="l"/>
            <a:r>
              <a:rPr sz="1050" b="1" i="0">
                <a:solidFill>
                  <a:srgbClr val="E86B1F"/>
                </a:solidFill>
              </a:rPr>
              <a:t>COMBINED EQUILIBRIUM</a:t>
            </a:r>
          </a:p>
        </p:txBody>
      </p:sp>
      <p:sp>
        <p:nvSpPr>
          <p:cNvPr id="7" name="TextBox 6"/>
          <p:cNvSpPr txBox="1"/>
          <p:nvPr/>
        </p:nvSpPr>
        <p:spPr>
          <a:xfrm>
            <a:off x="365760" y="1783080"/>
            <a:ext cx="11430000" cy="594360"/>
          </a:xfrm>
          <a:prstGeom prst="rect">
            <a:avLst/>
          </a:prstGeom>
          <a:noFill/>
        </p:spPr>
        <p:txBody>
          <a:bodyPr wrap="square">
            <a:spAutoFit/>
          </a:bodyPr>
          <a:lstStyle/>
          <a:p>
            <a:pPr algn="l"/>
            <a:r>
              <a:rPr sz="1200" b="0" i="0">
                <a:solidFill>
                  <a:srgbClr val="1A1A2E"/>
                </a:solidFill>
              </a:rPr>
              <a:t>When RetryGuard suppresses retries at a bottleneck, the bottleneck's load drops, improving goodput and latency signals that TopFull's RL observes. TopFull may respond by increasing admission. Does this find a better stable throughput point — or does increased admission re-trigger overload and undo the gains?</a:t>
            </a:r>
          </a:p>
        </p:txBody>
      </p:sp>
      <p:sp>
        <p:nvSpPr>
          <p:cNvPr id="8" name="TextBox 7"/>
          <p:cNvSpPr txBox="1"/>
          <p:nvPr/>
        </p:nvSpPr>
        <p:spPr>
          <a:xfrm>
            <a:off x="365760" y="2560320"/>
            <a:ext cx="11430000" cy="256032"/>
          </a:xfrm>
          <a:prstGeom prst="rect">
            <a:avLst/>
          </a:prstGeom>
          <a:noFill/>
        </p:spPr>
        <p:txBody>
          <a:bodyPr wrap="square">
            <a:spAutoFit/>
          </a:bodyPr>
          <a:lstStyle/>
          <a:p>
            <a:pPr algn="l"/>
            <a:r>
              <a:rPr sz="1050" b="1" i="0">
                <a:solidFill>
                  <a:srgbClr val="E86B1F"/>
                </a:solidFill>
              </a:rPr>
              <a:t>TOPOLOGY POSITION SENSITIVITY</a:t>
            </a:r>
          </a:p>
        </p:txBody>
      </p:sp>
      <p:sp>
        <p:nvSpPr>
          <p:cNvPr id="9" name="TextBox 8"/>
          <p:cNvSpPr txBox="1"/>
          <p:nvPr/>
        </p:nvSpPr>
        <p:spPr>
          <a:xfrm>
            <a:off x="365760" y="2834640"/>
            <a:ext cx="11430000" cy="594360"/>
          </a:xfrm>
          <a:prstGeom prst="rect">
            <a:avLst/>
          </a:prstGeom>
          <a:noFill/>
        </p:spPr>
        <p:txBody>
          <a:bodyPr wrap="square">
            <a:spAutoFit/>
          </a:bodyPr>
          <a:lstStyle/>
          <a:p>
            <a:pPr algn="l"/>
            <a:r>
              <a:rPr sz="1200" b="0" i="0">
                <a:solidFill>
                  <a:srgbClr val="1A1A2E"/>
                </a:solidFill>
              </a:rPr>
              <a:t>Does the structural position of the bottleneck service change RetryGuard's contribution? Three positions: (1) gateway-adjacent (e.g., ProductCatalog) — TopFull sees this most directly; (2) hub (e.g., Checkout) — fans out to 6 downstream callers, creating bidirectional retry amplification; (3) deep leaf (e.g., Email or Payment) — most attenuated from TopFull's entry signal. The hub case is expected to show the most severe amplification.</a:t>
            </a:r>
          </a:p>
        </p:txBody>
      </p:sp>
      <p:sp>
        <p:nvSpPr>
          <p:cNvPr id="10" name="TextBox 9"/>
          <p:cNvSpPr txBox="1"/>
          <p:nvPr/>
        </p:nvSpPr>
        <p:spPr>
          <a:xfrm>
            <a:off x="365760" y="3611880"/>
            <a:ext cx="11430000" cy="256032"/>
          </a:xfrm>
          <a:prstGeom prst="rect">
            <a:avLst/>
          </a:prstGeom>
          <a:noFill/>
        </p:spPr>
        <p:txBody>
          <a:bodyPr wrap="square">
            <a:spAutoFit/>
          </a:bodyPr>
          <a:lstStyle/>
          <a:p>
            <a:pPr algn="l"/>
            <a:r>
              <a:rPr sz="1050" b="1" i="0">
                <a:solidFill>
                  <a:srgbClr val="E86B1F"/>
                </a:solidFill>
              </a:rPr>
              <a:t>INTERVAL PARAMETER SENSITIVITY</a:t>
            </a:r>
          </a:p>
        </p:txBody>
      </p:sp>
      <p:sp>
        <p:nvSpPr>
          <p:cNvPr id="11" name="TextBox 10"/>
          <p:cNvSpPr txBox="1"/>
          <p:nvPr/>
        </p:nvSpPr>
        <p:spPr>
          <a:xfrm>
            <a:off x="365760" y="3886200"/>
            <a:ext cx="11430000" cy="594360"/>
          </a:xfrm>
          <a:prstGeom prst="rect">
            <a:avLst/>
          </a:prstGeom>
          <a:noFill/>
        </p:spPr>
        <p:txBody>
          <a:bodyPr wrap="square">
            <a:spAutoFit/>
          </a:bodyPr>
          <a:lstStyle/>
          <a:p>
            <a:pPr algn="l"/>
            <a:r>
              <a:rPr sz="1200" b="0" i="0">
                <a:solidFill>
                  <a:srgbClr val="1A1A2E"/>
                </a:solidFill>
              </a:rPr>
              <a:t>Is RetryGuard's 30-second re-enable interval optimal when TopFull is co-running? That interval was validated without a simultaneous top-down controller. With TopFull's RL making decisions every 1 second, recovery dynamics may be faster or more oscillatory. Does the optimal interval shift?</a:t>
            </a:r>
          </a:p>
        </p:txBody>
      </p:sp>
      <p:sp>
        <p:nvSpPr>
          <p:cNvPr id="12" name="TextBox 11"/>
          <p:cNvSpPr txBox="1"/>
          <p:nvPr/>
        </p:nvSpPr>
        <p:spPr>
          <a:xfrm>
            <a:off x="365760" y="4663440"/>
            <a:ext cx="11430000" cy="256032"/>
          </a:xfrm>
          <a:prstGeom prst="rect">
            <a:avLst/>
          </a:prstGeom>
          <a:noFill/>
        </p:spPr>
        <p:txBody>
          <a:bodyPr wrap="square">
            <a:spAutoFit/>
          </a:bodyPr>
          <a:lstStyle/>
          <a:p>
            <a:pPr algn="l"/>
            <a:r>
              <a:rPr sz="1050" b="1" i="0">
                <a:solidFill>
                  <a:srgbClr val="E86B1F"/>
                </a:solidFill>
              </a:rPr>
              <a:t>ADVERSARIAL RESILIENCE</a:t>
            </a:r>
          </a:p>
        </p:txBody>
      </p:sp>
      <p:sp>
        <p:nvSpPr>
          <p:cNvPr id="13" name="TextBox 12"/>
          <p:cNvSpPr txBox="1"/>
          <p:nvPr/>
        </p:nvSpPr>
        <p:spPr>
          <a:xfrm>
            <a:off x="365760" y="4937760"/>
            <a:ext cx="11430000" cy="594360"/>
          </a:xfrm>
          <a:prstGeom prst="rect">
            <a:avLst/>
          </a:prstGeom>
          <a:noFill/>
        </p:spPr>
        <p:txBody>
          <a:bodyPr wrap="square">
            <a:spAutoFit/>
          </a:bodyPr>
          <a:lstStyle/>
          <a:p>
            <a:pPr algn="l"/>
            <a:r>
              <a:rPr sz="1200" b="0" i="0">
                <a:solidFill>
                  <a:srgbClr val="1A1A2E"/>
                </a:solidFill>
              </a:rPr>
              <a:t>Under malicious traffic, does hostile load trick the controller into misfiring — suppressing retries when it shouldn't — or does RetryGuard successfully blunt retry amplification from attack traffic?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Load Scenarios — Overview</a:t>
            </a:r>
          </a:p>
          <a:p>
            <a:r>
              <a:rPr sz="1300">
                <a:solidFill>
                  <a:srgbClr val="B0C8E8"/>
                </a:solidFill>
              </a:rPr>
              <a:t>§7 — Each scenario operationalizes one or more open questions</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7 OF 9 (INTRO)</a:t>
            </a:r>
          </a:p>
        </p:txBody>
      </p:sp>
      <p:sp>
        <p:nvSpPr>
          <p:cNvPr id="6" name="TextBox 5"/>
          <p:cNvSpPr txBox="1"/>
          <p:nvPr/>
        </p:nvSpPr>
        <p:spPr>
          <a:xfrm>
            <a:off x="365760" y="1508760"/>
            <a:ext cx="11430000" cy="594360"/>
          </a:xfrm>
          <a:prstGeom prst="rect">
            <a:avLst/>
          </a:prstGeom>
          <a:noFill/>
        </p:spPr>
        <p:txBody>
          <a:bodyPr wrap="square">
            <a:spAutoFit/>
          </a:bodyPr>
          <a:lstStyle/>
          <a:p>
            <a:pPr algn="l"/>
            <a:r>
              <a:rPr sz="1350" b="0" i="0">
                <a:solidFill>
                  <a:srgbClr val="1A1A2E"/>
                </a:solidFill>
              </a:rPr>
              <a:t>The load scenarios are derived directly from the open questions above — they were not chosen independently. Each scenario is designed to answer specific questions. All scenarios use TopFull's built-in synthetic workload generator (Locust + TopFull scripts).</a:t>
            </a:r>
          </a:p>
        </p:txBody>
      </p:sp>
      <p:sp>
        <p:nvSpPr>
          <p:cNvPr id="7" name="Rectangle 6"/>
          <p:cNvSpPr/>
          <p:nvPr/>
        </p:nvSpPr>
        <p:spPr>
          <a:xfrm>
            <a:off x="365760" y="224028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377440"/>
            <a:ext cx="11430000" cy="274320"/>
          </a:xfrm>
          <a:prstGeom prst="rect">
            <a:avLst/>
          </a:prstGeom>
          <a:noFill/>
        </p:spPr>
        <p:txBody>
          <a:bodyPr wrap="square">
            <a:spAutoFit/>
          </a:bodyPr>
          <a:lstStyle/>
          <a:p>
            <a:pPr algn="l"/>
            <a:r>
              <a:rPr sz="1100" b="1" i="0">
                <a:solidFill>
                  <a:srgbClr val="1F5F99"/>
                </a:solidFill>
              </a:rPr>
              <a:t>SCENARIO → OPEN QUESTION MAPPING</a:t>
            </a:r>
          </a:p>
        </p:txBody>
      </p:sp>
      <p:sp>
        <p:nvSpPr>
          <p:cNvPr id="9" name="Rectangle 8"/>
          <p:cNvSpPr/>
          <p:nvPr/>
        </p:nvSpPr>
        <p:spPr>
          <a:xfrm>
            <a:off x="365760" y="2697480"/>
            <a:ext cx="3383280" cy="3657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743200"/>
            <a:ext cx="3200400" cy="320040"/>
          </a:xfrm>
          <a:prstGeom prst="rect">
            <a:avLst/>
          </a:prstGeom>
          <a:noFill/>
        </p:spPr>
        <p:txBody>
          <a:bodyPr wrap="square">
            <a:spAutoFit/>
          </a:bodyPr>
          <a:lstStyle/>
          <a:p>
            <a:pPr algn="l"/>
            <a:r>
              <a:rPr sz="1100" b="1" i="0">
                <a:solidFill>
                  <a:srgbClr val="FFFFFF"/>
                </a:solidFill>
              </a:rPr>
              <a:t>Normal Operation</a:t>
            </a:r>
          </a:p>
        </p:txBody>
      </p:sp>
      <p:cxnSp>
        <p:nvCxnSpPr>
          <p:cNvPr id="11" name="Connector 10"/>
          <p:cNvCxnSpPr/>
          <p:nvPr/>
        </p:nvCxnSpPr>
        <p:spPr>
          <a:xfrm>
            <a:off x="3749039" y="2880360"/>
            <a:ext cx="365761" cy="0"/>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4023360" y="2807208"/>
            <a:ext cx="91440"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23360" y="2880360"/>
            <a:ext cx="91440"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06240" y="2743200"/>
            <a:ext cx="7406640" cy="320040"/>
          </a:xfrm>
          <a:prstGeom prst="rect">
            <a:avLst/>
          </a:prstGeom>
          <a:noFill/>
        </p:spPr>
        <p:txBody>
          <a:bodyPr wrap="square">
            <a:spAutoFit/>
          </a:bodyPr>
          <a:lstStyle/>
          <a:p>
            <a:pPr algn="l"/>
            <a:r>
              <a:rPr sz="1100" b="0" i="0">
                <a:solidFill>
                  <a:srgbClr val="1A1A2E"/>
                </a:solidFill>
              </a:rPr>
              <a:t>System-level gains (sanity check)</a:t>
            </a:r>
          </a:p>
        </p:txBody>
      </p:sp>
      <p:sp>
        <p:nvSpPr>
          <p:cNvPr id="15" name="Rectangle 14"/>
          <p:cNvSpPr/>
          <p:nvPr/>
        </p:nvSpPr>
        <p:spPr>
          <a:xfrm>
            <a:off x="365760" y="3218687"/>
            <a:ext cx="3383280" cy="36576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64407"/>
            <a:ext cx="3200400" cy="320040"/>
          </a:xfrm>
          <a:prstGeom prst="rect">
            <a:avLst/>
          </a:prstGeom>
          <a:noFill/>
        </p:spPr>
        <p:txBody>
          <a:bodyPr wrap="square">
            <a:spAutoFit/>
          </a:bodyPr>
          <a:lstStyle/>
          <a:p>
            <a:pPr algn="l"/>
            <a:r>
              <a:rPr sz="1100" b="1" i="0">
                <a:solidFill>
                  <a:srgbClr val="FFFFFF"/>
                </a:solidFill>
              </a:rPr>
              <a:t>Sustained Overload</a:t>
            </a:r>
          </a:p>
        </p:txBody>
      </p:sp>
      <p:cxnSp>
        <p:nvCxnSpPr>
          <p:cNvPr id="17" name="Connector 16"/>
          <p:cNvCxnSpPr/>
          <p:nvPr/>
        </p:nvCxnSpPr>
        <p:spPr>
          <a:xfrm>
            <a:off x="3749039" y="3401567"/>
            <a:ext cx="365761" cy="0"/>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4023360" y="3328415"/>
            <a:ext cx="91440"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023360" y="3401567"/>
            <a:ext cx="91440"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206240" y="3264407"/>
            <a:ext cx="7406640" cy="320040"/>
          </a:xfrm>
          <a:prstGeom prst="rect">
            <a:avLst/>
          </a:prstGeom>
          <a:noFill/>
        </p:spPr>
        <p:txBody>
          <a:bodyPr wrap="square">
            <a:spAutoFit/>
          </a:bodyPr>
          <a:lstStyle/>
          <a:p>
            <a:pPr algn="l"/>
            <a:r>
              <a:rPr sz="1100" b="0" i="0">
                <a:solidFill>
                  <a:srgbClr val="1A1A2E"/>
                </a:solidFill>
              </a:rPr>
              <a:t>System-level gains, topology beneficiaries, chain propagation, controller interaction</a:t>
            </a:r>
          </a:p>
        </p:txBody>
      </p:sp>
      <p:sp>
        <p:nvSpPr>
          <p:cNvPr id="21" name="Rectangle 20"/>
          <p:cNvSpPr/>
          <p:nvPr/>
        </p:nvSpPr>
        <p:spPr>
          <a:xfrm>
            <a:off x="365760" y="3739894"/>
            <a:ext cx="3383280" cy="36576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3785614"/>
            <a:ext cx="3200400" cy="320040"/>
          </a:xfrm>
          <a:prstGeom prst="rect">
            <a:avLst/>
          </a:prstGeom>
          <a:noFill/>
        </p:spPr>
        <p:txBody>
          <a:bodyPr wrap="square">
            <a:spAutoFit/>
          </a:bodyPr>
          <a:lstStyle/>
          <a:p>
            <a:pPr algn="l"/>
            <a:r>
              <a:rPr sz="1100" b="1" i="0">
                <a:solidFill>
                  <a:srgbClr val="FFFFFF"/>
                </a:solidFill>
              </a:rPr>
              <a:t>Targeted Bottleneck</a:t>
            </a:r>
          </a:p>
        </p:txBody>
      </p:sp>
      <p:cxnSp>
        <p:nvCxnSpPr>
          <p:cNvPr id="23" name="Connector 22"/>
          <p:cNvCxnSpPr/>
          <p:nvPr/>
        </p:nvCxnSpPr>
        <p:spPr>
          <a:xfrm>
            <a:off x="3749039" y="3922774"/>
            <a:ext cx="365761" cy="0"/>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4023360" y="3849622"/>
            <a:ext cx="91440"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4023360" y="3922774"/>
            <a:ext cx="91440"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206240" y="3785614"/>
            <a:ext cx="7406640" cy="320040"/>
          </a:xfrm>
          <a:prstGeom prst="rect">
            <a:avLst/>
          </a:prstGeom>
          <a:noFill/>
        </p:spPr>
        <p:txBody>
          <a:bodyPr wrap="square">
            <a:spAutoFit/>
          </a:bodyPr>
          <a:lstStyle/>
          <a:p>
            <a:pPr algn="l"/>
            <a:r>
              <a:rPr sz="1100" b="0" i="0">
                <a:solidFill>
                  <a:srgbClr val="1A1A2E"/>
                </a:solidFill>
              </a:rPr>
              <a:t>Topology beneficiaries, chain propagation, controller interaction</a:t>
            </a:r>
          </a:p>
        </p:txBody>
      </p:sp>
      <p:sp>
        <p:nvSpPr>
          <p:cNvPr id="27" name="Rectangle 26"/>
          <p:cNvSpPr/>
          <p:nvPr/>
        </p:nvSpPr>
        <p:spPr>
          <a:xfrm>
            <a:off x="365760" y="4261101"/>
            <a:ext cx="3383280" cy="3657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4306821"/>
            <a:ext cx="3200400" cy="320040"/>
          </a:xfrm>
          <a:prstGeom prst="rect">
            <a:avLst/>
          </a:prstGeom>
          <a:noFill/>
        </p:spPr>
        <p:txBody>
          <a:bodyPr wrap="square">
            <a:spAutoFit/>
          </a:bodyPr>
          <a:lstStyle/>
          <a:p>
            <a:pPr algn="l"/>
            <a:r>
              <a:rPr sz="1100" b="1" i="0">
                <a:solidFill>
                  <a:srgbClr val="FFFFFF"/>
                </a:solidFill>
              </a:rPr>
              <a:t>Topology Position Compare</a:t>
            </a:r>
          </a:p>
        </p:txBody>
      </p:sp>
      <p:cxnSp>
        <p:nvCxnSpPr>
          <p:cNvPr id="29" name="Connector 28"/>
          <p:cNvCxnSpPr/>
          <p:nvPr/>
        </p:nvCxnSpPr>
        <p:spPr>
          <a:xfrm>
            <a:off x="3749039" y="4443981"/>
            <a:ext cx="365761" cy="0"/>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4023360" y="4370829"/>
            <a:ext cx="91440"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4023360" y="4443981"/>
            <a:ext cx="91440"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206240" y="4306821"/>
            <a:ext cx="7406640" cy="320040"/>
          </a:xfrm>
          <a:prstGeom prst="rect">
            <a:avLst/>
          </a:prstGeom>
          <a:noFill/>
        </p:spPr>
        <p:txBody>
          <a:bodyPr wrap="square">
            <a:spAutoFit/>
          </a:bodyPr>
          <a:lstStyle/>
          <a:p>
            <a:pPr algn="l"/>
            <a:r>
              <a:rPr sz="1100" b="0" i="0">
                <a:solidFill>
                  <a:srgbClr val="1A1A2E"/>
                </a:solidFill>
              </a:rPr>
              <a:t>Topology position sensitivity, topology beneficiaries, chain propagation</a:t>
            </a:r>
          </a:p>
        </p:txBody>
      </p:sp>
      <p:sp>
        <p:nvSpPr>
          <p:cNvPr id="33" name="Rectangle 32"/>
          <p:cNvSpPr/>
          <p:nvPr/>
        </p:nvSpPr>
        <p:spPr>
          <a:xfrm>
            <a:off x="365760" y="4782308"/>
            <a:ext cx="3383280" cy="36576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828028"/>
            <a:ext cx="3200400" cy="320040"/>
          </a:xfrm>
          <a:prstGeom prst="rect">
            <a:avLst/>
          </a:prstGeom>
          <a:noFill/>
        </p:spPr>
        <p:txBody>
          <a:bodyPr wrap="square">
            <a:spAutoFit/>
          </a:bodyPr>
          <a:lstStyle/>
          <a:p>
            <a:pPr algn="l"/>
            <a:r>
              <a:rPr sz="1100" b="1" i="0">
                <a:solidFill>
                  <a:srgbClr val="FFFFFF"/>
                </a:solidFill>
              </a:rPr>
              <a:t>Re-enable Interval Tuning</a:t>
            </a:r>
          </a:p>
        </p:txBody>
      </p:sp>
      <p:cxnSp>
        <p:nvCxnSpPr>
          <p:cNvPr id="35" name="Connector 34"/>
          <p:cNvCxnSpPr/>
          <p:nvPr/>
        </p:nvCxnSpPr>
        <p:spPr>
          <a:xfrm>
            <a:off x="3749039" y="4965188"/>
            <a:ext cx="365761" cy="0"/>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4023360" y="4892036"/>
            <a:ext cx="91440"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4023360" y="4965188"/>
            <a:ext cx="91440"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206240" y="4828028"/>
            <a:ext cx="7406640" cy="320040"/>
          </a:xfrm>
          <a:prstGeom prst="rect">
            <a:avLst/>
          </a:prstGeom>
          <a:noFill/>
        </p:spPr>
        <p:txBody>
          <a:bodyPr wrap="square">
            <a:spAutoFit/>
          </a:bodyPr>
          <a:lstStyle/>
          <a:p>
            <a:pPr algn="l"/>
            <a:r>
              <a:rPr sz="1100" b="0" i="0">
                <a:solidFill>
                  <a:srgbClr val="1A1A2E"/>
                </a:solidFill>
              </a:rPr>
              <a:t>Interval parameter sensitivity, combined equilibrium</a:t>
            </a:r>
          </a:p>
        </p:txBody>
      </p:sp>
      <p:sp>
        <p:nvSpPr>
          <p:cNvPr id="39" name="Rectangle 38"/>
          <p:cNvSpPr/>
          <p:nvPr/>
        </p:nvSpPr>
        <p:spPr>
          <a:xfrm>
            <a:off x="365760" y="5303515"/>
            <a:ext cx="3383280" cy="365760"/>
          </a:xfrm>
          <a:prstGeom prst="rect">
            <a:avLst/>
          </a:prstGeom>
          <a:solidFill>
            <a:srgbClr val="555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5349235"/>
            <a:ext cx="3200400" cy="320040"/>
          </a:xfrm>
          <a:prstGeom prst="rect">
            <a:avLst/>
          </a:prstGeom>
          <a:noFill/>
        </p:spPr>
        <p:txBody>
          <a:bodyPr wrap="square">
            <a:spAutoFit/>
          </a:bodyPr>
          <a:lstStyle/>
          <a:p>
            <a:pPr algn="l"/>
            <a:r>
              <a:rPr sz="1100" b="1" i="0">
                <a:solidFill>
                  <a:srgbClr val="FFFFFF"/>
                </a:solidFill>
              </a:rPr>
              <a:t>Attack Traffic (extension)</a:t>
            </a:r>
          </a:p>
        </p:txBody>
      </p:sp>
      <p:cxnSp>
        <p:nvCxnSpPr>
          <p:cNvPr id="41" name="Connector 40"/>
          <p:cNvCxnSpPr/>
          <p:nvPr/>
        </p:nvCxnSpPr>
        <p:spPr>
          <a:xfrm>
            <a:off x="3749039" y="5486395"/>
            <a:ext cx="365761" cy="0"/>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4023360" y="5413243"/>
            <a:ext cx="91440"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4023360" y="5486395"/>
            <a:ext cx="91440" cy="73152"/>
          </a:xfrm>
          <a:prstGeom prst="line">
            <a:avLst/>
          </a:prstGeom>
          <a:ln w="19050">
            <a:solidFill>
              <a:srgbClr val="D8DCE8"/>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4206240" y="5349235"/>
            <a:ext cx="7406640" cy="320040"/>
          </a:xfrm>
          <a:prstGeom prst="rect">
            <a:avLst/>
          </a:prstGeom>
          <a:noFill/>
        </p:spPr>
        <p:txBody>
          <a:bodyPr wrap="square">
            <a:spAutoFit/>
          </a:bodyPr>
          <a:lstStyle/>
          <a:p>
            <a:pPr algn="l"/>
            <a:r>
              <a:rPr sz="1100" b="0" i="0">
                <a:solidFill>
                  <a:srgbClr val="1A1A2E"/>
                </a:solidFill>
              </a:rPr>
              <a:t>Adversarial resilience</a:t>
            </a:r>
          </a:p>
        </p:txBody>
      </p:sp>
      <p:sp>
        <p:nvSpPr>
          <p:cNvPr id="45" name="TextBox 44"/>
          <p:cNvSpPr txBox="1"/>
          <p:nvPr/>
        </p:nvSpPr>
        <p:spPr>
          <a:xfrm>
            <a:off x="365760" y="5943600"/>
            <a:ext cx="11430000" cy="457200"/>
          </a:xfrm>
          <a:prstGeom prst="rect">
            <a:avLst/>
          </a:prstGeom>
          <a:noFill/>
        </p:spPr>
        <p:txBody>
          <a:bodyPr wrap="square">
            <a:spAutoFit/>
          </a:bodyPr>
          <a:lstStyle/>
          <a:p>
            <a:pPr algn="l"/>
            <a:r>
              <a:rPr sz="1150" b="0" i="1">
                <a:solidFill>
                  <a:srgbClr val="55556B"/>
                </a:solidFill>
              </a:rPr>
              <a:t>RetryGuard per-service decisions are driven by Istio/Envoy sidecar metrics — a different measurement point from TopFull's entry-proxy collectors. Both data streams are collected and cross-referenced.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Scenario: Normal Operation</a:t>
            </a:r>
          </a:p>
          <a:p>
            <a:r>
              <a:rPr sz="1300">
                <a:solidFill>
                  <a:srgbClr val="B0C8E8"/>
                </a:solidFill>
              </a:rPr>
              <a:t>§7 — Load scenario 1 of 6</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7 OF 9 (1/6)</a:t>
            </a:r>
          </a:p>
        </p:txBody>
      </p:sp>
      <p:sp>
        <p:nvSpPr>
          <p:cNvPr id="6" name="TextBox 5"/>
          <p:cNvSpPr txBox="1"/>
          <p:nvPr/>
        </p:nvSpPr>
        <p:spPr>
          <a:xfrm>
            <a:off x="365760" y="1508760"/>
            <a:ext cx="6858000" cy="274320"/>
          </a:xfrm>
          <a:prstGeom prst="rect">
            <a:avLst/>
          </a:prstGeom>
          <a:noFill/>
        </p:spPr>
        <p:txBody>
          <a:bodyPr wrap="square">
            <a:spAutoFit/>
          </a:bodyPr>
          <a:lstStyle/>
          <a:p>
            <a:pPr algn="l"/>
            <a:r>
              <a:rPr sz="1100" b="1" i="0">
                <a:solidFill>
                  <a:srgbClr val="1F5F99"/>
                </a:solidFill>
              </a:rPr>
              <a:t>WHAT HAPPENS IN THE SYSTEM</a:t>
            </a:r>
          </a:p>
        </p:txBody>
      </p:sp>
      <p:sp>
        <p:nvSpPr>
          <p:cNvPr id="7" name="TextBox 6"/>
          <p:cNvSpPr txBox="1"/>
          <p:nvPr/>
        </p:nvSpPr>
        <p:spPr>
          <a:xfrm>
            <a:off x="365760" y="1783080"/>
            <a:ext cx="6858000" cy="640080"/>
          </a:xfrm>
          <a:prstGeom prst="rect">
            <a:avLst/>
          </a:prstGeom>
          <a:noFill/>
        </p:spPr>
        <p:txBody>
          <a:bodyPr wrap="square">
            <a:spAutoFit/>
          </a:bodyPr>
          <a:lstStyle/>
          <a:p>
            <a:pPr algn="l"/>
            <a:r>
              <a:rPr sz="1300" b="0" i="0">
                <a:solidFill>
                  <a:srgbClr val="1A1A2E"/>
                </a:solidFill>
              </a:rPr>
              <a:t>Traffic is flat and manageable — RPS well within service capacity. No service reaches ρ &gt; 1. TopFull's rate limiter is not under pressure. Istio retry policies fire occasionally for transient errors but do not accumulate.</a:t>
            </a:r>
          </a:p>
        </p:txBody>
      </p:sp>
      <p:sp>
        <p:nvSpPr>
          <p:cNvPr id="8" name="TextBox 7"/>
          <p:cNvSpPr txBox="1"/>
          <p:nvPr/>
        </p:nvSpPr>
        <p:spPr>
          <a:xfrm>
            <a:off x="365760" y="2560320"/>
            <a:ext cx="6858000" cy="274320"/>
          </a:xfrm>
          <a:prstGeom prst="rect">
            <a:avLst/>
          </a:prstGeom>
          <a:noFill/>
        </p:spPr>
        <p:txBody>
          <a:bodyPr wrap="square">
            <a:spAutoFit/>
          </a:bodyPr>
          <a:lstStyle/>
          <a:p>
            <a:pPr algn="l"/>
            <a:r>
              <a:rPr sz="1100" b="1" i="0">
                <a:solidFill>
                  <a:srgbClr val="1F5F99"/>
                </a:solidFill>
              </a:rPr>
              <a:t>WHAT IT TESTS</a:t>
            </a:r>
          </a:p>
        </p:txBody>
      </p:sp>
      <p:sp>
        <p:nvSpPr>
          <p:cNvPr id="9" name="TextBox 8"/>
          <p:cNvSpPr txBox="1"/>
          <p:nvPr/>
        </p:nvSpPr>
        <p:spPr>
          <a:xfrm>
            <a:off x="365760" y="2834640"/>
            <a:ext cx="6858000" cy="685800"/>
          </a:xfrm>
          <a:prstGeom prst="rect">
            <a:avLst/>
          </a:prstGeom>
          <a:noFill/>
        </p:spPr>
        <p:txBody>
          <a:bodyPr wrap="square">
            <a:spAutoFit/>
          </a:bodyPr>
          <a:lstStyle/>
          <a:p>
            <a:pPr algn="l"/>
            <a:r>
              <a:rPr sz="1300" b="0" i="0">
                <a:solidFill>
                  <a:srgbClr val="1A1A2E"/>
                </a:solidFill>
              </a:rPr>
              <a:t>Does RetryGuard stay entirely non-intrusive when the system is healthy? The controller should detect rejection rates below the ~20% threshold across all services and leave Istio VirtualService configurations untouched. Spurious retry suppression under healthy load = controller malfunction.</a:t>
            </a:r>
          </a:p>
        </p:txBody>
      </p:sp>
      <p:sp>
        <p:nvSpPr>
          <p:cNvPr id="10" name="TextBox 9"/>
          <p:cNvSpPr txBox="1"/>
          <p:nvPr/>
        </p:nvSpPr>
        <p:spPr>
          <a:xfrm>
            <a:off x="365760" y="3657600"/>
            <a:ext cx="6858000" cy="274320"/>
          </a:xfrm>
          <a:prstGeom prst="rect">
            <a:avLst/>
          </a:prstGeom>
          <a:noFill/>
        </p:spPr>
        <p:txBody>
          <a:bodyPr wrap="square">
            <a:spAutoFit/>
          </a:bodyPr>
          <a:lstStyle/>
          <a:p>
            <a:pPr algn="l"/>
            <a:r>
              <a:rPr sz="1100" b="1" i="0">
                <a:solidFill>
                  <a:srgbClr val="1F5F99"/>
                </a:solidFill>
              </a:rPr>
              <a:t>OPEN QUESTION ADDRESSED</a:t>
            </a:r>
          </a:p>
        </p:txBody>
      </p:sp>
      <p:sp>
        <p:nvSpPr>
          <p:cNvPr id="11" name="TextBox 10"/>
          <p:cNvSpPr txBox="1"/>
          <p:nvPr/>
        </p:nvSpPr>
        <p:spPr>
          <a:xfrm>
            <a:off x="365760" y="3931920"/>
            <a:ext cx="6858000" cy="411480"/>
          </a:xfrm>
          <a:prstGeom prst="rect">
            <a:avLst/>
          </a:prstGeom>
          <a:noFill/>
        </p:spPr>
        <p:txBody>
          <a:bodyPr wrap="square">
            <a:spAutoFit/>
          </a:bodyPr>
          <a:lstStyle/>
          <a:p>
            <a:pPr algn="l"/>
            <a:r>
              <a:rPr sz="1300" b="0" i="0">
                <a:solidFill>
                  <a:srgbClr val="1A1A2E"/>
                </a:solidFill>
              </a:rPr>
              <a:t>System-level gains (non-overload side): necessary sanity check — performance must be indistinguishable between baseline and RetryGuard runs during normal load.</a:t>
            </a:r>
          </a:p>
        </p:txBody>
      </p:sp>
      <p:sp>
        <p:nvSpPr>
          <p:cNvPr id="12" name="Rectangle 11"/>
          <p:cNvSpPr/>
          <p:nvPr/>
        </p:nvSpPr>
        <p:spPr>
          <a:xfrm>
            <a:off x="7406640" y="1143000"/>
            <a:ext cx="19050" cy="54864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0" y="1371600"/>
            <a:ext cx="4206240" cy="3108960"/>
          </a:xfrm>
          <a:prstGeom prst="rect">
            <a:avLst/>
          </a:prstGeom>
          <a:solidFill>
            <a:srgbClr val="D0E4F7"/>
          </a:solidFill>
          <a:ln w="12700">
            <a:solidFill>
              <a:srgbClr val="D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0" y="1417320"/>
            <a:ext cx="4023360" cy="274320"/>
          </a:xfrm>
          <a:prstGeom prst="rect">
            <a:avLst/>
          </a:prstGeom>
          <a:noFill/>
        </p:spPr>
        <p:txBody>
          <a:bodyPr wrap="square">
            <a:spAutoFit/>
          </a:bodyPr>
          <a:lstStyle/>
          <a:p>
            <a:pPr algn="l"/>
            <a:r>
              <a:rPr sz="950" b="1" i="0">
                <a:solidFill>
                  <a:srgbClr val="1F5F99"/>
                </a:solidFill>
              </a:rPr>
              <a:t>  LOAD PROFILE</a:t>
            </a:r>
          </a:p>
        </p:txBody>
      </p:sp>
      <p:cxnSp>
        <p:nvCxnSpPr>
          <p:cNvPr id="15" name="Connector 14"/>
          <p:cNvCxnSpPr/>
          <p:nvPr/>
        </p:nvCxnSpPr>
        <p:spPr>
          <a:xfrm flipV="1">
            <a:off x="7909560" y="1920240"/>
            <a:ext cx="0" cy="2194560"/>
          </a:xfrm>
          <a:prstGeom prst="line">
            <a:avLst/>
          </a:prstGeom>
          <a:ln w="19050">
            <a:solidFill>
              <a:srgbClr val="55556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909560" y="4114800"/>
            <a:ext cx="3657600" cy="0"/>
          </a:xfrm>
          <a:prstGeom prst="line">
            <a:avLst/>
          </a:prstGeom>
          <a:ln w="19050">
            <a:solidFill>
              <a:srgbClr val="55556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589520" y="1874519"/>
            <a:ext cx="320040" cy="274320"/>
          </a:xfrm>
          <a:prstGeom prst="rect">
            <a:avLst/>
          </a:prstGeom>
          <a:noFill/>
        </p:spPr>
        <p:txBody>
          <a:bodyPr wrap="square">
            <a:spAutoFit/>
          </a:bodyPr>
          <a:lstStyle/>
          <a:p>
            <a:pPr algn="ctr"/>
            <a:r>
              <a:rPr sz="800" b="0" i="0">
                <a:solidFill>
                  <a:srgbClr val="55556B"/>
                </a:solidFill>
              </a:rPr>
              <a:t>RPS</a:t>
            </a:r>
          </a:p>
        </p:txBody>
      </p:sp>
      <p:sp>
        <p:nvSpPr>
          <p:cNvPr id="18" name="TextBox 17"/>
          <p:cNvSpPr txBox="1"/>
          <p:nvPr/>
        </p:nvSpPr>
        <p:spPr>
          <a:xfrm>
            <a:off x="11430000" y="4160520"/>
            <a:ext cx="548640" cy="228600"/>
          </a:xfrm>
          <a:prstGeom prst="rect">
            <a:avLst/>
          </a:prstGeom>
          <a:noFill/>
        </p:spPr>
        <p:txBody>
          <a:bodyPr wrap="square">
            <a:spAutoFit/>
          </a:bodyPr>
          <a:lstStyle/>
          <a:p>
            <a:pPr algn="l"/>
            <a:r>
              <a:rPr sz="800" b="0" i="0">
                <a:solidFill>
                  <a:srgbClr val="55556B"/>
                </a:solidFill>
              </a:rPr>
              <a:t>time</a:t>
            </a:r>
          </a:p>
        </p:txBody>
      </p:sp>
      <p:cxnSp>
        <p:nvCxnSpPr>
          <p:cNvPr id="19" name="Connector 18"/>
          <p:cNvCxnSpPr/>
          <p:nvPr/>
        </p:nvCxnSpPr>
        <p:spPr>
          <a:xfrm>
            <a:off x="7909560" y="2880360"/>
            <a:ext cx="3611880" cy="0"/>
          </a:xfrm>
          <a:prstGeom prst="line">
            <a:avLst/>
          </a:prstGeom>
          <a:ln w="19050">
            <a:solidFill>
              <a:srgbClr val="CC444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936992" y="2651760"/>
            <a:ext cx="914400" cy="228600"/>
          </a:xfrm>
          <a:prstGeom prst="rect">
            <a:avLst/>
          </a:prstGeom>
          <a:noFill/>
        </p:spPr>
        <p:txBody>
          <a:bodyPr wrap="square">
            <a:spAutoFit/>
          </a:bodyPr>
          <a:lstStyle/>
          <a:p>
            <a:pPr algn="l"/>
            <a:r>
              <a:rPr sz="850" b="1" i="0">
                <a:solidFill>
                  <a:srgbClr val="C02A2A"/>
                </a:solidFill>
              </a:rPr>
              <a:t>ρ = 1</a:t>
            </a:r>
          </a:p>
        </p:txBody>
      </p:sp>
      <p:cxnSp>
        <p:nvCxnSpPr>
          <p:cNvPr id="21" name="Connector 20"/>
          <p:cNvCxnSpPr/>
          <p:nvPr/>
        </p:nvCxnSpPr>
        <p:spPr>
          <a:xfrm>
            <a:off x="7909560" y="3657600"/>
            <a:ext cx="3611880" cy="0"/>
          </a:xfrm>
          <a:prstGeom prst="line">
            <a:avLst/>
          </a:prstGeom>
          <a:ln w="38100">
            <a:solidFill>
              <a:srgbClr val="1A7A4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144000" y="3337560"/>
            <a:ext cx="1828800" cy="274320"/>
          </a:xfrm>
          <a:prstGeom prst="rect">
            <a:avLst/>
          </a:prstGeom>
          <a:noFill/>
        </p:spPr>
        <p:txBody>
          <a:bodyPr wrap="square">
            <a:spAutoFit/>
          </a:bodyPr>
          <a:lstStyle/>
          <a:p>
            <a:pPr algn="l"/>
            <a:r>
              <a:rPr sz="950" b="1" i="0">
                <a:solidFill>
                  <a:srgbClr val="1A7A45"/>
                </a:solidFill>
              </a:rPr>
              <a:t>Normal load</a:t>
            </a:r>
          </a:p>
        </p:txBody>
      </p:sp>
      <p:sp>
        <p:nvSpPr>
          <p:cNvPr id="23" name="Rectangle 22"/>
          <p:cNvSpPr/>
          <p:nvPr/>
        </p:nvSpPr>
        <p:spPr>
          <a:xfrm>
            <a:off x="7635240" y="4251960"/>
            <a:ext cx="4114800" cy="320040"/>
          </a:xfrm>
          <a:prstGeom prst="rect">
            <a:avLst/>
          </a:prstGeom>
          <a:solidFill>
            <a:srgbClr val="C8EED8"/>
          </a:solidFill>
          <a:ln w="12700">
            <a:solidFill>
              <a:srgbClr val="1A7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26679" y="4279392"/>
            <a:ext cx="3931920" cy="274320"/>
          </a:xfrm>
          <a:prstGeom prst="rect">
            <a:avLst/>
          </a:prstGeom>
          <a:noFill/>
        </p:spPr>
        <p:txBody>
          <a:bodyPr wrap="square">
            <a:spAutoFit/>
          </a:bodyPr>
          <a:lstStyle/>
          <a:p>
            <a:pPr algn="l"/>
            <a:r>
              <a:rPr sz="900" b="0" i="0">
                <a:solidFill>
                  <a:srgbClr val="1A7A45"/>
                </a:solidFill>
              </a:rPr>
              <a:t>RetryGuard: no intervention (rejection rate &lt;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Scenario: Sustained Overload</a:t>
            </a:r>
          </a:p>
          <a:p>
            <a:r>
              <a:rPr sz="1300">
                <a:solidFill>
                  <a:srgbClr val="B0C8E8"/>
                </a:solidFill>
              </a:rPr>
              <a:t>§7 — Load scenario 2 of 6  ·  The core experiment</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7 OF 9 (2/6)</a:t>
            </a:r>
          </a:p>
        </p:txBody>
      </p:sp>
      <p:sp>
        <p:nvSpPr>
          <p:cNvPr id="6" name="TextBox 5"/>
          <p:cNvSpPr txBox="1"/>
          <p:nvPr/>
        </p:nvSpPr>
        <p:spPr>
          <a:xfrm>
            <a:off x="365760" y="1508760"/>
            <a:ext cx="6217920" cy="274320"/>
          </a:xfrm>
          <a:prstGeom prst="rect">
            <a:avLst/>
          </a:prstGeom>
          <a:noFill/>
        </p:spPr>
        <p:txBody>
          <a:bodyPr wrap="square">
            <a:spAutoFit/>
          </a:bodyPr>
          <a:lstStyle/>
          <a:p>
            <a:pPr algn="l"/>
            <a:r>
              <a:rPr sz="1100" b="1" i="0">
                <a:solidFill>
                  <a:srgbClr val="1F5F99"/>
                </a:solidFill>
              </a:rPr>
              <a:t>WHAT HAPPENS IN THE SYSTEM</a:t>
            </a:r>
          </a:p>
        </p:txBody>
      </p:sp>
      <p:sp>
        <p:nvSpPr>
          <p:cNvPr id="7" name="TextBox 6"/>
          <p:cNvSpPr txBox="1"/>
          <p:nvPr/>
        </p:nvSpPr>
        <p:spPr>
          <a:xfrm>
            <a:off x="365760" y="1783080"/>
            <a:ext cx="6217920" cy="960120"/>
          </a:xfrm>
          <a:prstGeom prst="rect">
            <a:avLst/>
          </a:prstGeom>
          <a:noFill/>
        </p:spPr>
        <p:txBody>
          <a:bodyPr wrap="square">
            <a:spAutoFit/>
          </a:bodyPr>
          <a:lstStyle/>
          <a:p>
            <a:pPr algn="l"/>
            <a:r>
              <a:rPr sz="1250" b="0" i="0">
                <a:solidFill>
                  <a:srgbClr val="1A1A2E"/>
                </a:solidFill>
              </a:rPr>
              <a:t>Load increases until ρ &gt; 1 system-wide and holds there for several minutes. TopFull throttles at the entry proxy. But once a request is admitted, Istio's default retry policy fires internally on each rejection — invisible to TopFull's rate limiter, amplifying load on downstream services.</a:t>
            </a:r>
          </a:p>
        </p:txBody>
      </p:sp>
      <p:sp>
        <p:nvSpPr>
          <p:cNvPr id="8" name="TextBox 7"/>
          <p:cNvSpPr txBox="1"/>
          <p:nvPr/>
        </p:nvSpPr>
        <p:spPr>
          <a:xfrm>
            <a:off x="365760" y="2880360"/>
            <a:ext cx="6217920" cy="274320"/>
          </a:xfrm>
          <a:prstGeom prst="rect">
            <a:avLst/>
          </a:prstGeom>
          <a:noFill/>
        </p:spPr>
        <p:txBody>
          <a:bodyPr wrap="square">
            <a:spAutoFit/>
          </a:bodyPr>
          <a:lstStyle/>
          <a:p>
            <a:pPr algn="l"/>
            <a:r>
              <a:rPr sz="1100" b="1" i="0">
                <a:solidFill>
                  <a:srgbClr val="1F5F99"/>
                </a:solidFill>
              </a:rPr>
              <a:t>WHAT IT TESTS</a:t>
            </a:r>
          </a:p>
        </p:txBody>
      </p:sp>
      <p:sp>
        <p:nvSpPr>
          <p:cNvPr id="9" name="TextBox 8"/>
          <p:cNvSpPr txBox="1"/>
          <p:nvPr/>
        </p:nvSpPr>
        <p:spPr>
          <a:xfrm>
            <a:off x="365760" y="3154680"/>
            <a:ext cx="6217920" cy="640080"/>
          </a:xfrm>
          <a:prstGeom prst="rect">
            <a:avLst/>
          </a:prstGeom>
          <a:noFill/>
        </p:spPr>
        <p:txBody>
          <a:bodyPr wrap="square">
            <a:spAutoFit/>
          </a:bodyPr>
          <a:lstStyle/>
          <a:p>
            <a:pPr algn="l"/>
            <a:r>
              <a:rPr sz="1250" b="0" i="0">
                <a:solidFill>
                  <a:srgbClr val="1A1A2E"/>
                </a:solidFill>
              </a:rPr>
              <a:t>Does RetryGuard suppress this internal retry amplification — producing measurable improvement in goodput or resource usage on top of what TopFull achieves alone? RetryGuard's ~30s detection window must trigger before any effect is observable.</a:t>
            </a:r>
          </a:p>
        </p:txBody>
      </p:sp>
      <p:sp>
        <p:nvSpPr>
          <p:cNvPr id="10" name="TextBox 9"/>
          <p:cNvSpPr txBox="1"/>
          <p:nvPr/>
        </p:nvSpPr>
        <p:spPr>
          <a:xfrm>
            <a:off x="365760" y="3931920"/>
            <a:ext cx="6217920" cy="274320"/>
          </a:xfrm>
          <a:prstGeom prst="rect">
            <a:avLst/>
          </a:prstGeom>
          <a:noFill/>
        </p:spPr>
        <p:txBody>
          <a:bodyPr wrap="square">
            <a:spAutoFit/>
          </a:bodyPr>
          <a:lstStyle/>
          <a:p>
            <a:pPr algn="l"/>
            <a:r>
              <a:rPr sz="1100" b="1" i="0">
                <a:solidFill>
                  <a:srgbClr val="1F5F99"/>
                </a:solidFill>
              </a:rPr>
              <a:t>OPEN QUESTIONS ADDRESSED</a:t>
            </a:r>
          </a:p>
        </p:txBody>
      </p:sp>
      <p:sp>
        <p:nvSpPr>
          <p:cNvPr id="11" name="TextBox 10"/>
          <p:cNvSpPr txBox="1"/>
          <p:nvPr/>
        </p:nvSpPr>
        <p:spPr>
          <a:xfrm>
            <a:off x="365760" y="4251960"/>
            <a:ext cx="6217920" cy="1600200"/>
          </a:xfrm>
          <a:prstGeom prst="rect">
            <a:avLst/>
          </a:prstGeom>
          <a:noFill/>
        </p:spPr>
        <p:txBody>
          <a:bodyPr wrap="square">
            <a:spAutoFit/>
          </a:bodyPr>
          <a:lstStyle/>
          <a:p>
            <a:pPr algn="l">
              <a:spcBef>
                <a:spcPts val="200"/>
              </a:spcBef>
            </a:pPr>
            <a:r>
              <a:rPr sz="1250">
                <a:solidFill>
                  <a:srgbClr val="1A1A2E"/>
                </a:solidFill>
              </a:rPr>
              <a:t>•  System-level gains — primary outcome.</a:t>
            </a:r>
          </a:p>
          <a:p>
            <a:pPr algn="l">
              <a:spcBef>
                <a:spcPts val="200"/>
              </a:spcBef>
            </a:pPr>
            <a:r>
              <a:rPr sz="1250">
                <a:solidFill>
                  <a:srgbClr val="1A1A2E"/>
                </a:solidFill>
              </a:rPr>
              <a:t>•  Topology beneficiaries and chain propagation.</a:t>
            </a:r>
          </a:p>
          <a:p>
            <a:pPr algn="l">
              <a:spcBef>
                <a:spcPts val="200"/>
              </a:spcBef>
            </a:pPr>
            <a:r>
              <a:rPr sz="1250">
                <a:solidFill>
                  <a:srgbClr val="1A1A2E"/>
                </a:solidFill>
              </a:rPr>
              <a:t>•  Controller interaction — do TopFull and RetryGuard cooperate or interfere?</a:t>
            </a:r>
          </a:p>
        </p:txBody>
      </p:sp>
      <p:sp>
        <p:nvSpPr>
          <p:cNvPr id="12" name="Rectangle 11"/>
          <p:cNvSpPr/>
          <p:nvPr/>
        </p:nvSpPr>
        <p:spPr>
          <a:xfrm>
            <a:off x="6720840" y="1143000"/>
            <a:ext cx="19050" cy="54864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03720" y="1371600"/>
            <a:ext cx="4937760" cy="5120640"/>
          </a:xfrm>
          <a:prstGeom prst="rect">
            <a:avLst/>
          </a:prstGeom>
          <a:solidFill>
            <a:srgbClr val="D0E4F7"/>
          </a:solidFill>
          <a:ln w="12700">
            <a:solidFill>
              <a:srgbClr val="D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0" y="1417320"/>
            <a:ext cx="4754880" cy="274320"/>
          </a:xfrm>
          <a:prstGeom prst="rect">
            <a:avLst/>
          </a:prstGeom>
          <a:noFill/>
        </p:spPr>
        <p:txBody>
          <a:bodyPr wrap="square">
            <a:spAutoFit/>
          </a:bodyPr>
          <a:lstStyle/>
          <a:p>
            <a:pPr algn="l"/>
            <a:r>
              <a:rPr sz="950" b="1" i="0">
                <a:solidFill>
                  <a:srgbClr val="1F5F99"/>
                </a:solidFill>
              </a:rPr>
              <a:t>  LOAD PROFILE + RETRYGUARD ACTIVATION</a:t>
            </a:r>
          </a:p>
        </p:txBody>
      </p:sp>
      <p:cxnSp>
        <p:nvCxnSpPr>
          <p:cNvPr id="15" name="Connector 14"/>
          <p:cNvCxnSpPr/>
          <p:nvPr/>
        </p:nvCxnSpPr>
        <p:spPr>
          <a:xfrm flipV="1">
            <a:off x="7223760" y="1737360"/>
            <a:ext cx="0" cy="4297680"/>
          </a:xfrm>
          <a:prstGeom prst="line">
            <a:avLst/>
          </a:prstGeom>
          <a:ln w="19050">
            <a:solidFill>
              <a:srgbClr val="55556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223760" y="6035040"/>
            <a:ext cx="4389120" cy="0"/>
          </a:xfrm>
          <a:prstGeom prst="line">
            <a:avLst/>
          </a:prstGeom>
          <a:ln w="19050">
            <a:solidFill>
              <a:srgbClr val="55556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12280" y="1600200"/>
            <a:ext cx="411480" cy="274320"/>
          </a:xfrm>
          <a:prstGeom prst="rect">
            <a:avLst/>
          </a:prstGeom>
          <a:noFill/>
        </p:spPr>
        <p:txBody>
          <a:bodyPr wrap="square">
            <a:spAutoFit/>
          </a:bodyPr>
          <a:lstStyle/>
          <a:p>
            <a:pPr algn="ctr"/>
            <a:r>
              <a:rPr sz="800" b="0" i="0">
                <a:solidFill>
                  <a:srgbClr val="55556B"/>
                </a:solidFill>
              </a:rPr>
              <a:t>RPS</a:t>
            </a:r>
          </a:p>
        </p:txBody>
      </p:sp>
      <p:sp>
        <p:nvSpPr>
          <p:cNvPr id="18" name="TextBox 17"/>
          <p:cNvSpPr txBox="1"/>
          <p:nvPr/>
        </p:nvSpPr>
        <p:spPr>
          <a:xfrm>
            <a:off x="11658600" y="6035040"/>
            <a:ext cx="457200" cy="228600"/>
          </a:xfrm>
          <a:prstGeom prst="rect">
            <a:avLst/>
          </a:prstGeom>
          <a:noFill/>
        </p:spPr>
        <p:txBody>
          <a:bodyPr wrap="square">
            <a:spAutoFit/>
          </a:bodyPr>
          <a:lstStyle/>
          <a:p>
            <a:pPr algn="l"/>
            <a:r>
              <a:rPr sz="800" b="0" i="0">
                <a:solidFill>
                  <a:srgbClr val="55556B"/>
                </a:solidFill>
              </a:rPr>
              <a:t>time</a:t>
            </a:r>
          </a:p>
        </p:txBody>
      </p:sp>
      <p:cxnSp>
        <p:nvCxnSpPr>
          <p:cNvPr id="19" name="Connector 18"/>
          <p:cNvCxnSpPr/>
          <p:nvPr/>
        </p:nvCxnSpPr>
        <p:spPr>
          <a:xfrm>
            <a:off x="7223760" y="3671316.0"/>
            <a:ext cx="4389120" cy="0.0"/>
          </a:xfrm>
          <a:prstGeom prst="line">
            <a:avLst/>
          </a:prstGeom>
          <a:ln w="15240">
            <a:solidFill>
              <a:srgbClr val="C02A2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12280" y="3534156"/>
            <a:ext cx="411480" cy="228600"/>
          </a:xfrm>
          <a:prstGeom prst="rect">
            <a:avLst/>
          </a:prstGeom>
          <a:noFill/>
        </p:spPr>
        <p:txBody>
          <a:bodyPr wrap="square">
            <a:spAutoFit/>
          </a:bodyPr>
          <a:lstStyle/>
          <a:p>
            <a:pPr algn="ctr"/>
            <a:r>
              <a:rPr sz="750" b="1" i="0">
                <a:solidFill>
                  <a:srgbClr val="C02A2A"/>
                </a:solidFill>
              </a:rPr>
              <a:t>ρ=1</a:t>
            </a:r>
          </a:p>
        </p:txBody>
      </p:sp>
      <p:cxnSp>
        <p:nvCxnSpPr>
          <p:cNvPr id="21" name="Connector 20"/>
          <p:cNvCxnSpPr/>
          <p:nvPr/>
        </p:nvCxnSpPr>
        <p:spPr>
          <a:xfrm>
            <a:off x="7223760" y="5175504.0"/>
            <a:ext cx="1097280.0" cy="0.0"/>
          </a:xfrm>
          <a:prstGeom prst="line">
            <a:avLst/>
          </a:prstGeom>
          <a:ln w="31750">
            <a:solidFill>
              <a:srgbClr val="1A2E4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321040.0" y="2811780.0"/>
            <a:ext cx="658368.0" cy="2363724.0"/>
          </a:xfrm>
          <a:prstGeom prst="line">
            <a:avLst/>
          </a:prstGeom>
          <a:ln w="31750">
            <a:solidFill>
              <a:srgbClr val="1A2E4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979408.0" y="2811780.0"/>
            <a:ext cx="2633472.0" cy="0.0"/>
          </a:xfrm>
          <a:prstGeom prst="line">
            <a:avLst/>
          </a:prstGeom>
          <a:ln w="31750">
            <a:solidFill>
              <a:srgbClr val="E86B1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070848" y="2491740"/>
            <a:ext cx="1371600" cy="274320"/>
          </a:xfrm>
          <a:prstGeom prst="rect">
            <a:avLst/>
          </a:prstGeom>
          <a:noFill/>
        </p:spPr>
        <p:txBody>
          <a:bodyPr wrap="square">
            <a:spAutoFit/>
          </a:bodyPr>
          <a:lstStyle/>
          <a:p>
            <a:pPr algn="l"/>
            <a:r>
              <a:rPr sz="850" b="1" i="0">
                <a:solidFill>
                  <a:srgbClr val="E86B1F"/>
                </a:solidFill>
              </a:rPr>
              <a:t>ρ &gt; 1 sustained</a:t>
            </a:r>
          </a:p>
        </p:txBody>
      </p:sp>
      <p:sp>
        <p:nvSpPr>
          <p:cNvPr id="25" name="Rectangle 24"/>
          <p:cNvSpPr/>
          <p:nvPr/>
        </p:nvSpPr>
        <p:spPr>
          <a:xfrm>
            <a:off x="9769449" y="1737360"/>
            <a:ext cx="1843430" cy="4297680"/>
          </a:xfrm>
          <a:prstGeom prst="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15169" y="1783080"/>
            <a:ext cx="1554480" cy="274320"/>
          </a:xfrm>
          <a:prstGeom prst="rect">
            <a:avLst/>
          </a:prstGeom>
          <a:noFill/>
        </p:spPr>
        <p:txBody>
          <a:bodyPr wrap="square">
            <a:spAutoFit/>
          </a:bodyPr>
          <a:lstStyle/>
          <a:p>
            <a:pPr algn="l"/>
            <a:r>
              <a:rPr sz="800" b="0" i="0">
                <a:solidFill>
                  <a:srgbClr val="E86B1F"/>
                </a:solidFill>
              </a:rPr>
              <a:t>RetryGuard
detection window
(≥ N × 30s above
threshold)</a:t>
            </a:r>
          </a:p>
        </p:txBody>
      </p:sp>
      <p:cxnSp>
        <p:nvCxnSpPr>
          <p:cNvPr id="27" name="Connector 26"/>
          <p:cNvCxnSpPr/>
          <p:nvPr/>
        </p:nvCxnSpPr>
        <p:spPr>
          <a:xfrm>
            <a:off x="10598993.28" y="1783080"/>
            <a:ext cx="0.0" cy="4251960"/>
          </a:xfrm>
          <a:prstGeom prst="line">
            <a:avLst/>
          </a:prstGeom>
          <a:ln w="25400">
            <a:solidFill>
              <a:srgbClr val="E86B1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644713" y="3396996"/>
            <a:ext cx="1371600" cy="274320"/>
          </a:xfrm>
          <a:prstGeom prst="rect">
            <a:avLst/>
          </a:prstGeom>
          <a:noFill/>
        </p:spPr>
        <p:txBody>
          <a:bodyPr wrap="square">
            <a:spAutoFit/>
          </a:bodyPr>
          <a:lstStyle/>
          <a:p>
            <a:pPr algn="l"/>
            <a:r>
              <a:rPr sz="850" b="1" i="0">
                <a:solidFill>
                  <a:srgbClr val="E86B1F"/>
                </a:solidFill>
              </a:rPr>
              <a:t>Retries
DISABLED</a:t>
            </a:r>
          </a:p>
        </p:txBody>
      </p:sp>
      <p:cxnSp>
        <p:nvCxnSpPr>
          <p:cNvPr id="29" name="Connector 28"/>
          <p:cNvCxnSpPr/>
          <p:nvPr/>
        </p:nvCxnSpPr>
        <p:spPr>
          <a:xfrm>
            <a:off x="7223760.0" y="6035040"/>
            <a:ext cx="0.0" cy="54864"/>
          </a:xfrm>
          <a:prstGeom prst="line">
            <a:avLst/>
          </a:prstGeom>
          <a:ln w="12700">
            <a:solidFill>
              <a:srgbClr val="55556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040880" y="6080760"/>
            <a:ext cx="365760" cy="201168"/>
          </a:xfrm>
          <a:prstGeom prst="rect">
            <a:avLst/>
          </a:prstGeom>
          <a:noFill/>
        </p:spPr>
        <p:txBody>
          <a:bodyPr wrap="square">
            <a:spAutoFit/>
          </a:bodyPr>
          <a:lstStyle/>
          <a:p>
            <a:pPr algn="ctr"/>
            <a:r>
              <a:rPr sz="750" b="0" i="0">
                <a:solidFill>
                  <a:srgbClr val="55556B"/>
                </a:solidFill>
              </a:rPr>
              <a:t>0</a:t>
            </a:r>
          </a:p>
        </p:txBody>
      </p:sp>
      <p:cxnSp>
        <p:nvCxnSpPr>
          <p:cNvPr id="31" name="Connector 30"/>
          <p:cNvCxnSpPr/>
          <p:nvPr/>
        </p:nvCxnSpPr>
        <p:spPr>
          <a:xfrm>
            <a:off x="8101584.0" y="6035040"/>
            <a:ext cx="0.0" cy="54864"/>
          </a:xfrm>
          <a:prstGeom prst="line">
            <a:avLst/>
          </a:prstGeom>
          <a:ln w="12700">
            <a:solidFill>
              <a:srgbClr val="55556B"/>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918704" y="6080760"/>
            <a:ext cx="365760" cy="201168"/>
          </a:xfrm>
          <a:prstGeom prst="rect">
            <a:avLst/>
          </a:prstGeom>
          <a:noFill/>
        </p:spPr>
        <p:txBody>
          <a:bodyPr wrap="square">
            <a:spAutoFit/>
          </a:bodyPr>
          <a:lstStyle/>
          <a:p>
            <a:pPr algn="ctr"/>
            <a:r>
              <a:rPr sz="750" b="0" i="0">
                <a:solidFill>
                  <a:srgbClr val="55556B"/>
                </a:solidFill>
              </a:rPr>
              <a:t>30s</a:t>
            </a:r>
          </a:p>
        </p:txBody>
      </p:sp>
      <p:cxnSp>
        <p:nvCxnSpPr>
          <p:cNvPr id="33" name="Connector 32"/>
          <p:cNvCxnSpPr/>
          <p:nvPr/>
        </p:nvCxnSpPr>
        <p:spPr>
          <a:xfrm>
            <a:off x="8979408.0" y="6035040"/>
            <a:ext cx="0.0" cy="54864"/>
          </a:xfrm>
          <a:prstGeom prst="line">
            <a:avLst/>
          </a:prstGeom>
          <a:ln w="12700">
            <a:solidFill>
              <a:srgbClr val="55556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796528" y="6080760"/>
            <a:ext cx="365760" cy="201168"/>
          </a:xfrm>
          <a:prstGeom prst="rect">
            <a:avLst/>
          </a:prstGeom>
          <a:noFill/>
        </p:spPr>
        <p:txBody>
          <a:bodyPr wrap="square">
            <a:spAutoFit/>
          </a:bodyPr>
          <a:lstStyle/>
          <a:p>
            <a:pPr algn="ctr"/>
            <a:r>
              <a:rPr sz="750" b="0" i="0">
                <a:solidFill>
                  <a:srgbClr val="55556B"/>
                </a:solidFill>
              </a:rPr>
              <a:t>60s</a:t>
            </a:r>
          </a:p>
        </p:txBody>
      </p:sp>
      <p:cxnSp>
        <p:nvCxnSpPr>
          <p:cNvPr id="35" name="Connector 34"/>
          <p:cNvCxnSpPr/>
          <p:nvPr/>
        </p:nvCxnSpPr>
        <p:spPr>
          <a:xfrm>
            <a:off x="9857232.0" y="6035040"/>
            <a:ext cx="0.0" cy="54864"/>
          </a:xfrm>
          <a:prstGeom prst="line">
            <a:avLst/>
          </a:prstGeom>
          <a:ln w="12700">
            <a:solidFill>
              <a:srgbClr val="55556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674352" y="6080760"/>
            <a:ext cx="365760" cy="201168"/>
          </a:xfrm>
          <a:prstGeom prst="rect">
            <a:avLst/>
          </a:prstGeom>
          <a:noFill/>
        </p:spPr>
        <p:txBody>
          <a:bodyPr wrap="square">
            <a:spAutoFit/>
          </a:bodyPr>
          <a:lstStyle/>
          <a:p>
            <a:pPr algn="ctr"/>
            <a:r>
              <a:rPr sz="750" b="0" i="0">
                <a:solidFill>
                  <a:srgbClr val="55556B"/>
                </a:solidFill>
              </a:rPr>
              <a:t>90s</a:t>
            </a:r>
          </a:p>
        </p:txBody>
      </p:sp>
      <p:cxnSp>
        <p:nvCxnSpPr>
          <p:cNvPr id="37" name="Connector 36"/>
          <p:cNvCxnSpPr/>
          <p:nvPr/>
        </p:nvCxnSpPr>
        <p:spPr>
          <a:xfrm>
            <a:off x="10735056.0" y="6035040"/>
            <a:ext cx="0.0" cy="54864"/>
          </a:xfrm>
          <a:prstGeom prst="line">
            <a:avLst/>
          </a:prstGeom>
          <a:ln w="12700">
            <a:solidFill>
              <a:srgbClr val="55556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552176" y="6080760"/>
            <a:ext cx="365760" cy="201168"/>
          </a:xfrm>
          <a:prstGeom prst="rect">
            <a:avLst/>
          </a:prstGeom>
          <a:noFill/>
        </p:spPr>
        <p:txBody>
          <a:bodyPr wrap="square">
            <a:spAutoFit/>
          </a:bodyPr>
          <a:lstStyle/>
          <a:p>
            <a:pPr algn="ctr"/>
            <a:r>
              <a:rPr sz="750" b="0" i="0">
                <a:solidFill>
                  <a:srgbClr val="55556B"/>
                </a:solidFill>
              </a:rPr>
              <a:t>2m</a:t>
            </a:r>
          </a:p>
        </p:txBody>
      </p:sp>
      <p:cxnSp>
        <p:nvCxnSpPr>
          <p:cNvPr id="39" name="Connector 38"/>
          <p:cNvCxnSpPr/>
          <p:nvPr/>
        </p:nvCxnSpPr>
        <p:spPr>
          <a:xfrm>
            <a:off x="11612880.0" y="6035040"/>
            <a:ext cx="0.0" cy="54864"/>
          </a:xfrm>
          <a:prstGeom prst="line">
            <a:avLst/>
          </a:prstGeom>
          <a:ln w="12700">
            <a:solidFill>
              <a:srgbClr val="55556B"/>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1430000" y="6080760"/>
            <a:ext cx="365760" cy="201168"/>
          </a:xfrm>
          <a:prstGeom prst="rect">
            <a:avLst/>
          </a:prstGeom>
          <a:noFill/>
        </p:spPr>
        <p:txBody>
          <a:bodyPr wrap="square">
            <a:spAutoFit/>
          </a:bodyPr>
          <a:lstStyle/>
          <a:p>
            <a:pPr algn="ctr"/>
            <a:r>
              <a:rPr sz="750" b="0" i="0">
                <a:solidFill>
                  <a:srgbClr val="55556B"/>
                </a:solidFill>
              </a:rPr>
              <a:t>3m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Scenario: Targeted Bottleneck</a:t>
            </a:r>
          </a:p>
          <a:p>
            <a:r>
              <a:rPr sz="1300">
                <a:solidFill>
                  <a:srgbClr val="B0C8E8"/>
                </a:solidFill>
              </a:rPr>
              <a:t>§7 — Load scenario 3 of 6</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7 OF 9 (3/6)</a:t>
            </a:r>
          </a:p>
        </p:txBody>
      </p:sp>
      <p:sp>
        <p:nvSpPr>
          <p:cNvPr id="6" name="TextBox 5"/>
          <p:cNvSpPr txBox="1"/>
          <p:nvPr/>
        </p:nvSpPr>
        <p:spPr>
          <a:xfrm>
            <a:off x="365760" y="1508760"/>
            <a:ext cx="11430000" cy="274320"/>
          </a:xfrm>
          <a:prstGeom prst="rect">
            <a:avLst/>
          </a:prstGeom>
          <a:noFill/>
        </p:spPr>
        <p:txBody>
          <a:bodyPr wrap="square">
            <a:spAutoFit/>
          </a:bodyPr>
          <a:lstStyle/>
          <a:p>
            <a:pPr algn="l"/>
            <a:r>
              <a:rPr sz="1100" b="1" i="0">
                <a:solidFill>
                  <a:srgbClr val="1F5F99"/>
                </a:solidFill>
              </a:rPr>
              <a:t>WHAT HAPPENS IN THE SYSTEM</a:t>
            </a:r>
          </a:p>
        </p:txBody>
      </p:sp>
      <p:sp>
        <p:nvSpPr>
          <p:cNvPr id="7" name="TextBox 6"/>
          <p:cNvSpPr txBox="1"/>
          <p:nvPr/>
        </p:nvSpPr>
        <p:spPr>
          <a:xfrm>
            <a:off x="365760" y="1783080"/>
            <a:ext cx="11430000" cy="914400"/>
          </a:xfrm>
          <a:prstGeom prst="rect">
            <a:avLst/>
          </a:prstGeom>
          <a:noFill/>
        </p:spPr>
        <p:txBody>
          <a:bodyPr wrap="square">
            <a:spAutoFit/>
          </a:bodyPr>
          <a:lstStyle/>
          <a:p>
            <a:pPr algn="l"/>
            <a:r>
              <a:rPr sz="1300" b="0" i="0">
                <a:solidFill>
                  <a:srgbClr val="1A1A2E"/>
                </a:solidFill>
              </a:rPr>
              <a:t>Full call chain exercises at normal RPS. One specific downstream service (e.g., Checkout or a mid-chain service) is constrained — reduced replica count or CPU limit — so it reaches ρ &gt; 1 even under TopFull's throttled entry rate. TopFull detects and throttles APIs routing through it at entry. But after TopFull admits a request, the constrained service may still reject it, and its upstream caller retries via Istio — invisible to TopFull's proxy.</a:t>
            </a:r>
          </a:p>
        </p:txBody>
      </p:sp>
      <p:sp>
        <p:nvSpPr>
          <p:cNvPr id="8" name="Rectangle 7"/>
          <p:cNvSpPr/>
          <p:nvPr/>
        </p:nvSpPr>
        <p:spPr>
          <a:xfrm>
            <a:off x="365760" y="283464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971800"/>
            <a:ext cx="11430000" cy="274320"/>
          </a:xfrm>
          <a:prstGeom prst="rect">
            <a:avLst/>
          </a:prstGeom>
          <a:noFill/>
        </p:spPr>
        <p:txBody>
          <a:bodyPr wrap="square">
            <a:spAutoFit/>
          </a:bodyPr>
          <a:lstStyle/>
          <a:p>
            <a:pPr algn="l"/>
            <a:r>
              <a:rPr sz="1100" b="1" i="0">
                <a:solidFill>
                  <a:srgbClr val="1F5F99"/>
                </a:solidFill>
              </a:rPr>
              <a:t>WHAT IT TESTS</a:t>
            </a:r>
          </a:p>
        </p:txBody>
      </p:sp>
      <p:sp>
        <p:nvSpPr>
          <p:cNvPr id="10" name="TextBox 9"/>
          <p:cNvSpPr txBox="1"/>
          <p:nvPr/>
        </p:nvSpPr>
        <p:spPr>
          <a:xfrm>
            <a:off x="365760" y="3246120"/>
            <a:ext cx="11430000" cy="685800"/>
          </a:xfrm>
          <a:prstGeom prst="rect">
            <a:avLst/>
          </a:prstGeom>
          <a:noFill/>
        </p:spPr>
        <p:txBody>
          <a:bodyPr wrap="square">
            <a:spAutoFit/>
          </a:bodyPr>
          <a:lstStyle/>
          <a:p>
            <a:pPr algn="l"/>
            <a:r>
              <a:rPr sz="1300" b="0" i="0">
                <a:solidFill>
                  <a:srgbClr val="1A1A2E"/>
                </a:solidFill>
              </a:rPr>
              <a:t>RetryGuard, reading Istio metrics directly at the bottleneck service, sees the rejection rate and suppresses per-service retries. Does this reduce load at the bottleneck faster and more directly than TopFull's top-down throttling alone? Does the benefit propagate upward through the call chain? Directly analogous to the RetryGuard Bookinfo case study (Sec. 6.2).</a:t>
            </a:r>
          </a:p>
        </p:txBody>
      </p:sp>
      <p:sp>
        <p:nvSpPr>
          <p:cNvPr id="11" name="Rectangle 10"/>
          <p:cNvSpPr/>
          <p:nvPr/>
        </p:nvSpPr>
        <p:spPr>
          <a:xfrm>
            <a:off x="365760" y="406908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4206240"/>
            <a:ext cx="11430000" cy="274320"/>
          </a:xfrm>
          <a:prstGeom prst="rect">
            <a:avLst/>
          </a:prstGeom>
          <a:noFill/>
        </p:spPr>
        <p:txBody>
          <a:bodyPr wrap="square">
            <a:spAutoFit/>
          </a:bodyPr>
          <a:lstStyle/>
          <a:p>
            <a:pPr algn="l"/>
            <a:r>
              <a:rPr sz="1100" b="1" i="0">
                <a:solidFill>
                  <a:srgbClr val="1F5F99"/>
                </a:solidFill>
              </a:rPr>
              <a:t>OPEN QUESTIONS ADDRESSED</a:t>
            </a:r>
          </a:p>
        </p:txBody>
      </p:sp>
      <p:sp>
        <p:nvSpPr>
          <p:cNvPr id="13" name="TextBox 12"/>
          <p:cNvSpPr txBox="1"/>
          <p:nvPr/>
        </p:nvSpPr>
        <p:spPr>
          <a:xfrm>
            <a:off x="365760" y="4526280"/>
            <a:ext cx="11430000" cy="1188720"/>
          </a:xfrm>
          <a:prstGeom prst="rect">
            <a:avLst/>
          </a:prstGeom>
          <a:noFill/>
        </p:spPr>
        <p:txBody>
          <a:bodyPr wrap="square">
            <a:spAutoFit/>
          </a:bodyPr>
          <a:lstStyle/>
          <a:p>
            <a:pPr algn="l">
              <a:spcBef>
                <a:spcPts val="200"/>
              </a:spcBef>
            </a:pPr>
            <a:r>
              <a:rPr sz="1300">
                <a:solidFill>
                  <a:srgbClr val="1A1A2E"/>
                </a:solidFill>
              </a:rPr>
              <a:t>•  Topology beneficiaries — does RetryGuard's benefit concentrate at the constrained service?</a:t>
            </a:r>
          </a:p>
          <a:p>
            <a:pPr algn="l">
              <a:spcBef>
                <a:spcPts val="200"/>
              </a:spcBef>
            </a:pPr>
            <a:r>
              <a:rPr sz="1300">
                <a:solidFill>
                  <a:srgbClr val="1A1A2E"/>
                </a:solidFill>
              </a:rPr>
              <a:t>•  Chain propagation — do resource savings at the bottleneck propagate upward?</a:t>
            </a:r>
          </a:p>
          <a:p>
            <a:pPr algn="l">
              <a:spcBef>
                <a:spcPts val="200"/>
              </a:spcBef>
            </a:pPr>
            <a:r>
              <a:rPr sz="1300">
                <a:solidFill>
                  <a:srgbClr val="1A1A2E"/>
                </a:solidFill>
              </a:rPr>
              <a:t>•  Controller interaction — does per-service suppression complement TopFull's top-down throttling?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Scenario: Topology Position Comparison</a:t>
            </a:r>
          </a:p>
          <a:p>
            <a:r>
              <a:rPr sz="1300">
                <a:solidFill>
                  <a:srgbClr val="B0C8E8"/>
                </a:solidFill>
              </a:rPr>
              <a:t>§7 — Load scenario 4 of 6</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7 OF 9 (4/6)</a:t>
            </a:r>
          </a:p>
        </p:txBody>
      </p:sp>
      <p:sp>
        <p:nvSpPr>
          <p:cNvPr id="6" name="TextBox 5"/>
          <p:cNvSpPr txBox="1"/>
          <p:nvPr/>
        </p:nvSpPr>
        <p:spPr>
          <a:xfrm>
            <a:off x="365760" y="1508760"/>
            <a:ext cx="11430000" cy="502920"/>
          </a:xfrm>
          <a:prstGeom prst="rect">
            <a:avLst/>
          </a:prstGeom>
          <a:noFill/>
        </p:spPr>
        <p:txBody>
          <a:bodyPr wrap="square">
            <a:spAutoFit/>
          </a:bodyPr>
          <a:lstStyle/>
          <a:p>
            <a:pPr algn="l"/>
            <a:r>
              <a:rPr sz="1300" b="0" i="0">
                <a:solidFill>
                  <a:srgbClr val="1A1A2E"/>
                </a:solidFill>
              </a:rPr>
              <a:t>Three separate Targeted Bottleneck runs — same load, same methodology — varying only where in the Online Boutique call chain the constrained service sits. Tests whether RetryGuard's suppression value scales with fan-out width and topology depth.</a:t>
            </a:r>
          </a:p>
        </p:txBody>
      </p:sp>
      <p:sp>
        <p:nvSpPr>
          <p:cNvPr id="7" name="TextBox 6"/>
          <p:cNvSpPr txBox="1"/>
          <p:nvPr/>
        </p:nvSpPr>
        <p:spPr>
          <a:xfrm>
            <a:off x="365760" y="2148840"/>
            <a:ext cx="7040880" cy="256032"/>
          </a:xfrm>
          <a:prstGeom prst="rect">
            <a:avLst/>
          </a:prstGeom>
          <a:noFill/>
        </p:spPr>
        <p:txBody>
          <a:bodyPr wrap="square">
            <a:spAutoFit/>
          </a:bodyPr>
          <a:lstStyle/>
          <a:p>
            <a:pPr algn="l"/>
            <a:r>
              <a:rPr sz="1100" b="1" i="0">
                <a:solidFill>
                  <a:srgbClr val="E86B1F"/>
                </a:solidFill>
              </a:rPr>
              <a:t>(1) Gateway-adjacent / shallow sub-tree</a:t>
            </a:r>
          </a:p>
        </p:txBody>
      </p:sp>
      <p:sp>
        <p:nvSpPr>
          <p:cNvPr id="8" name="TextBox 7"/>
          <p:cNvSpPr txBox="1"/>
          <p:nvPr/>
        </p:nvSpPr>
        <p:spPr>
          <a:xfrm>
            <a:off x="365760" y="2423160"/>
            <a:ext cx="7040880" cy="640080"/>
          </a:xfrm>
          <a:prstGeom prst="rect">
            <a:avLst/>
          </a:prstGeom>
          <a:noFill/>
        </p:spPr>
        <p:txBody>
          <a:bodyPr wrap="square">
            <a:spAutoFit/>
          </a:bodyPr>
          <a:lstStyle/>
          <a:p>
            <a:pPr algn="l"/>
            <a:r>
              <a:rPr sz="1200" b="0" i="0">
                <a:solidFill>
                  <a:srgbClr val="1A1A2E"/>
                </a:solidFill>
              </a:rPr>
              <a:t>e.g., Recommendation or ProductCatalog. Called directly by Frontend; few or no downstream dependencies. TopFull's entry-level routing sees this bottleneck most directly. Retry amplification is limited to Frontend → service.</a:t>
            </a:r>
          </a:p>
        </p:txBody>
      </p:sp>
      <p:sp>
        <p:nvSpPr>
          <p:cNvPr id="9" name="TextBox 8"/>
          <p:cNvSpPr txBox="1"/>
          <p:nvPr/>
        </p:nvSpPr>
        <p:spPr>
          <a:xfrm>
            <a:off x="365760" y="3154680"/>
            <a:ext cx="7040880" cy="256032"/>
          </a:xfrm>
          <a:prstGeom prst="rect">
            <a:avLst/>
          </a:prstGeom>
          <a:noFill/>
        </p:spPr>
        <p:txBody>
          <a:bodyPr wrap="square">
            <a:spAutoFit/>
          </a:bodyPr>
          <a:lstStyle/>
          <a:p>
            <a:pPr algn="l"/>
            <a:r>
              <a:rPr sz="1100" b="1" i="0">
                <a:solidFill>
                  <a:srgbClr val="E86B1F"/>
                </a:solidFill>
              </a:rPr>
              <a:t>(2) Hub / sub-tree root</a:t>
            </a:r>
          </a:p>
        </p:txBody>
      </p:sp>
      <p:sp>
        <p:nvSpPr>
          <p:cNvPr id="10" name="TextBox 9"/>
          <p:cNvSpPr txBox="1"/>
          <p:nvPr/>
        </p:nvSpPr>
        <p:spPr>
          <a:xfrm>
            <a:off x="365760" y="3429000"/>
            <a:ext cx="7040880" cy="640080"/>
          </a:xfrm>
          <a:prstGeom prst="rect">
            <a:avLst/>
          </a:prstGeom>
          <a:noFill/>
        </p:spPr>
        <p:txBody>
          <a:bodyPr wrap="square">
            <a:spAutoFit/>
          </a:bodyPr>
          <a:lstStyle/>
          <a:p>
            <a:pPr algn="l"/>
            <a:r>
              <a:rPr sz="1200" b="0" i="0">
                <a:solidFill>
                  <a:srgbClr val="1A1A2E"/>
                </a:solidFill>
              </a:rPr>
              <a:t>e.g., Checkout. Fans out to Cart, Shipping, Currency, ProductCatalog, Email, and Payment. Creates bidirectional retry amplification: Frontend retries Checkout (upward) while Checkout retries all six downstream callers simultaneously (downward). Expected to show the most severe amplification.</a:t>
            </a:r>
          </a:p>
        </p:txBody>
      </p:sp>
      <p:sp>
        <p:nvSpPr>
          <p:cNvPr id="11" name="TextBox 10"/>
          <p:cNvSpPr txBox="1"/>
          <p:nvPr/>
        </p:nvSpPr>
        <p:spPr>
          <a:xfrm>
            <a:off x="365760" y="4160520"/>
            <a:ext cx="7040880" cy="256032"/>
          </a:xfrm>
          <a:prstGeom prst="rect">
            <a:avLst/>
          </a:prstGeom>
          <a:noFill/>
        </p:spPr>
        <p:txBody>
          <a:bodyPr wrap="square">
            <a:spAutoFit/>
          </a:bodyPr>
          <a:lstStyle/>
          <a:p>
            <a:pPr algn="l"/>
            <a:r>
              <a:rPr sz="1100" b="1" i="0">
                <a:solidFill>
                  <a:srgbClr val="E86B1F"/>
                </a:solidFill>
              </a:rPr>
              <a:t>(3) Deep leaf</a:t>
            </a:r>
          </a:p>
        </p:txBody>
      </p:sp>
      <p:sp>
        <p:nvSpPr>
          <p:cNvPr id="12" name="TextBox 11"/>
          <p:cNvSpPr txBox="1"/>
          <p:nvPr/>
        </p:nvSpPr>
        <p:spPr>
          <a:xfrm>
            <a:off x="365760" y="4434840"/>
            <a:ext cx="7040880" cy="640080"/>
          </a:xfrm>
          <a:prstGeom prst="rect">
            <a:avLst/>
          </a:prstGeom>
          <a:noFill/>
        </p:spPr>
        <p:txBody>
          <a:bodyPr wrap="square">
            <a:spAutoFit/>
          </a:bodyPr>
          <a:lstStyle/>
          <a:p>
            <a:pPr algn="l"/>
            <a:r>
              <a:rPr sz="1200" b="0" i="0">
                <a:solidFill>
                  <a:srgbClr val="1A1A2E"/>
                </a:solidFill>
              </a:rPr>
              <a:t>e.g., Email or Payment. No downstream dependencies; reachable only through Checkout. TopFull's top-down signal here is most attenuated — the bottleneck is invisible at the entry until Checkout itself degrades.</a:t>
            </a:r>
          </a:p>
        </p:txBody>
      </p:sp>
      <p:sp>
        <p:nvSpPr>
          <p:cNvPr id="13" name="TextBox 12"/>
          <p:cNvSpPr txBox="1"/>
          <p:nvPr/>
        </p:nvSpPr>
        <p:spPr>
          <a:xfrm>
            <a:off x="365760" y="5166360"/>
            <a:ext cx="7040880" cy="274320"/>
          </a:xfrm>
          <a:prstGeom prst="rect">
            <a:avLst/>
          </a:prstGeom>
          <a:noFill/>
        </p:spPr>
        <p:txBody>
          <a:bodyPr wrap="square">
            <a:spAutoFit/>
          </a:bodyPr>
          <a:lstStyle/>
          <a:p>
            <a:pPr algn="l"/>
            <a:r>
              <a:rPr sz="1100" b="1" i="0">
                <a:solidFill>
                  <a:srgbClr val="1F5F99"/>
                </a:solidFill>
              </a:rPr>
              <a:t>OPEN QUESTIONS ADDRESSED</a:t>
            </a:r>
          </a:p>
        </p:txBody>
      </p:sp>
      <p:sp>
        <p:nvSpPr>
          <p:cNvPr id="14" name="TextBox 13"/>
          <p:cNvSpPr txBox="1"/>
          <p:nvPr/>
        </p:nvSpPr>
        <p:spPr>
          <a:xfrm>
            <a:off x="365760" y="5440680"/>
            <a:ext cx="7040880" cy="411480"/>
          </a:xfrm>
          <a:prstGeom prst="rect">
            <a:avLst/>
          </a:prstGeom>
          <a:noFill/>
        </p:spPr>
        <p:txBody>
          <a:bodyPr wrap="square">
            <a:spAutoFit/>
          </a:bodyPr>
          <a:lstStyle/>
          <a:p>
            <a:pPr algn="l"/>
            <a:r>
              <a:rPr sz="1300" b="0" i="0">
                <a:solidFill>
                  <a:srgbClr val="1A1A2E"/>
                </a:solidFill>
              </a:rPr>
              <a:t>Topology position sensitivity, topology beneficiaries, chain propagation</a:t>
            </a:r>
          </a:p>
        </p:txBody>
      </p:sp>
      <p:pic>
        <p:nvPicPr>
          <p:cNvPr id="15" name="Picture 14" descr="Online-Boutique-architecture.png"/>
          <p:cNvPicPr>
            <a:picLocks noChangeAspect="1"/>
          </p:cNvPicPr>
          <p:nvPr/>
        </p:nvPicPr>
        <p:blipFill>
          <a:blip r:embed="rId2"/>
          <a:stretch>
            <a:fillRect/>
          </a:stretch>
        </p:blipFill>
        <p:spPr>
          <a:xfrm>
            <a:off x="7589520" y="1280160"/>
            <a:ext cx="4206240" cy="5029200"/>
          </a:xfrm>
          <a:prstGeom prst="rect">
            <a:avLst/>
          </a:prstGeom>
        </p:spPr>
      </p:pic>
      <p:sp>
        <p:nvSpPr>
          <p:cNvPr id="16" name="TextBox 15"/>
          <p:cNvSpPr txBox="1"/>
          <p:nvPr/>
        </p:nvSpPr>
        <p:spPr>
          <a:xfrm>
            <a:off x="7589520" y="6355080"/>
            <a:ext cx="4206240" cy="320040"/>
          </a:xfrm>
          <a:prstGeom prst="rect">
            <a:avLst/>
          </a:prstGeom>
          <a:noFill/>
        </p:spPr>
        <p:txBody>
          <a:bodyPr wrap="square">
            <a:spAutoFit/>
          </a:bodyPr>
          <a:lstStyle/>
          <a:p>
            <a:pPr algn="l"/>
            <a:r>
              <a:rPr sz="900" b="0" i="1">
                <a:solidFill>
                  <a:srgbClr val="55556B"/>
                </a:solidFill>
              </a:rPr>
              <a:t>Annotate: circle ProductCatalog (1), Checkout (2), Email/Payment (3)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Scenario: Re-enable Interval Tuning</a:t>
            </a:r>
          </a:p>
          <a:p>
            <a:r>
              <a:rPr sz="1300">
                <a:solidFill>
                  <a:srgbClr val="B0C8E8"/>
                </a:solidFill>
              </a:rPr>
              <a:t>§7 — Load scenario 5 of 6</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7 OF 9 (5/6)</a:t>
            </a:r>
          </a:p>
        </p:txBody>
      </p:sp>
      <p:sp>
        <p:nvSpPr>
          <p:cNvPr id="6" name="TextBox 5"/>
          <p:cNvSpPr txBox="1"/>
          <p:nvPr/>
        </p:nvSpPr>
        <p:spPr>
          <a:xfrm>
            <a:off x="365760" y="1508760"/>
            <a:ext cx="6217920" cy="274320"/>
          </a:xfrm>
          <a:prstGeom prst="rect">
            <a:avLst/>
          </a:prstGeom>
          <a:noFill/>
        </p:spPr>
        <p:txBody>
          <a:bodyPr wrap="square">
            <a:spAutoFit/>
          </a:bodyPr>
          <a:lstStyle/>
          <a:p>
            <a:pPr algn="l"/>
            <a:r>
              <a:rPr sz="1100" b="1" i="0">
                <a:solidFill>
                  <a:srgbClr val="1F5F99"/>
                </a:solidFill>
              </a:rPr>
              <a:t>WHAT HAPPENS IN THE SYSTEM</a:t>
            </a:r>
          </a:p>
        </p:txBody>
      </p:sp>
      <p:sp>
        <p:nvSpPr>
          <p:cNvPr id="7" name="TextBox 6"/>
          <p:cNvSpPr txBox="1"/>
          <p:nvPr/>
        </p:nvSpPr>
        <p:spPr>
          <a:xfrm>
            <a:off x="365760" y="1783080"/>
            <a:ext cx="6217920" cy="594360"/>
          </a:xfrm>
          <a:prstGeom prst="rect">
            <a:avLst/>
          </a:prstGeom>
          <a:noFill/>
        </p:spPr>
        <p:txBody>
          <a:bodyPr wrap="square">
            <a:spAutoFit/>
          </a:bodyPr>
          <a:lstStyle/>
          <a:p>
            <a:pPr algn="l"/>
            <a:r>
              <a:rPr sz="1300" b="0" i="0">
                <a:solidFill>
                  <a:srgbClr val="1A1A2E"/>
                </a:solidFill>
              </a:rPr>
              <a:t>The Sustained Overload scenario is run multiple times, holding all parameters constant and varying only RetryGuard's re-enable interval (the Interval parameter in Algorithm 1). Test values: 10s, 20s, 30s (paper default, Sec. 6.2), 60s.</a:t>
            </a:r>
          </a:p>
        </p:txBody>
      </p:sp>
      <p:sp>
        <p:nvSpPr>
          <p:cNvPr id="8" name="TextBox 7"/>
          <p:cNvSpPr txBox="1"/>
          <p:nvPr/>
        </p:nvSpPr>
        <p:spPr>
          <a:xfrm>
            <a:off x="365760" y="2514600"/>
            <a:ext cx="6217920" cy="274320"/>
          </a:xfrm>
          <a:prstGeom prst="rect">
            <a:avLst/>
          </a:prstGeom>
          <a:noFill/>
        </p:spPr>
        <p:txBody>
          <a:bodyPr wrap="square">
            <a:spAutoFit/>
          </a:bodyPr>
          <a:lstStyle/>
          <a:p>
            <a:pPr algn="l"/>
            <a:r>
              <a:rPr sz="1100" b="1" i="0">
                <a:solidFill>
                  <a:srgbClr val="1F5F99"/>
                </a:solidFill>
              </a:rPr>
              <a:t>WHAT IT TESTS</a:t>
            </a:r>
          </a:p>
        </p:txBody>
      </p:sp>
      <p:sp>
        <p:nvSpPr>
          <p:cNvPr id="9" name="TextBox 8"/>
          <p:cNvSpPr txBox="1"/>
          <p:nvPr/>
        </p:nvSpPr>
        <p:spPr>
          <a:xfrm>
            <a:off x="365760" y="2834640"/>
            <a:ext cx="6217920" cy="2103120"/>
          </a:xfrm>
          <a:prstGeom prst="rect">
            <a:avLst/>
          </a:prstGeom>
          <a:noFill/>
        </p:spPr>
        <p:txBody>
          <a:bodyPr wrap="square">
            <a:spAutoFit/>
          </a:bodyPr>
          <a:lstStyle/>
          <a:p>
            <a:pPr algn="l">
              <a:spcBef>
                <a:spcPts val="200"/>
              </a:spcBef>
            </a:pPr>
            <a:r>
              <a:rPr sz="1250">
                <a:solidFill>
                  <a:srgbClr val="1A1A2E"/>
                </a:solidFill>
              </a:rPr>
              <a:t>•  Too short (10s): premature re-enabling before bottleneck clears, potentially re-triggering overload.</a:t>
            </a:r>
          </a:p>
          <a:p>
            <a:pPr algn="l">
              <a:spcBef>
                <a:spcPts val="200"/>
              </a:spcBef>
            </a:pPr>
            <a:r>
              <a:rPr sz="1250">
                <a:solidFill>
                  <a:srgbClr val="1A1A2E"/>
                </a:solidFill>
              </a:rPr>
              <a:t>•  Too long (60s): keeps retries suppressed after bottleneck clears, slowing throughput recovery.</a:t>
            </a:r>
          </a:p>
          <a:p>
            <a:pPr algn="l">
              <a:spcBef>
                <a:spcPts val="200"/>
              </a:spcBef>
            </a:pPr>
            <a:r>
              <a:rPr sz="1250">
                <a:solidFill>
                  <a:srgbClr val="1A1A2E"/>
                </a:solidFill>
              </a:rPr>
              <a:t>•  The paper's 30s default was validated without a co-running top-down controller. With TopFull's RL at 1s, recovery dynamics may be faster or more oscillatory. Does the optimal interval shift?</a:t>
            </a:r>
          </a:p>
        </p:txBody>
      </p:sp>
      <p:sp>
        <p:nvSpPr>
          <p:cNvPr id="10" name="TextBox 9"/>
          <p:cNvSpPr txBox="1"/>
          <p:nvPr/>
        </p:nvSpPr>
        <p:spPr>
          <a:xfrm>
            <a:off x="365760" y="5074920"/>
            <a:ext cx="6217920" cy="274320"/>
          </a:xfrm>
          <a:prstGeom prst="rect">
            <a:avLst/>
          </a:prstGeom>
          <a:noFill/>
        </p:spPr>
        <p:txBody>
          <a:bodyPr wrap="square">
            <a:spAutoFit/>
          </a:bodyPr>
          <a:lstStyle/>
          <a:p>
            <a:pPr algn="l"/>
            <a:r>
              <a:rPr sz="1100" b="1" i="0">
                <a:solidFill>
                  <a:srgbClr val="1F5F99"/>
                </a:solidFill>
              </a:rPr>
              <a:t>OPEN QUESTIONS ADDRESSED</a:t>
            </a:r>
          </a:p>
        </p:txBody>
      </p:sp>
      <p:sp>
        <p:nvSpPr>
          <p:cNvPr id="11" name="TextBox 10"/>
          <p:cNvSpPr txBox="1"/>
          <p:nvPr/>
        </p:nvSpPr>
        <p:spPr>
          <a:xfrm>
            <a:off x="365760" y="5349240"/>
            <a:ext cx="6217920" cy="365760"/>
          </a:xfrm>
          <a:prstGeom prst="rect">
            <a:avLst/>
          </a:prstGeom>
          <a:noFill/>
        </p:spPr>
        <p:txBody>
          <a:bodyPr wrap="square">
            <a:spAutoFit/>
          </a:bodyPr>
          <a:lstStyle/>
          <a:p>
            <a:pPr algn="l"/>
            <a:r>
              <a:rPr sz="1300" b="0" i="0">
                <a:solidFill>
                  <a:srgbClr val="1A1A2E"/>
                </a:solidFill>
              </a:rPr>
              <a:t>Interval parameter sensitivity, combined equilibrium</a:t>
            </a:r>
          </a:p>
        </p:txBody>
      </p:sp>
      <p:sp>
        <p:nvSpPr>
          <p:cNvPr id="12" name="Rectangle 11"/>
          <p:cNvSpPr/>
          <p:nvPr/>
        </p:nvSpPr>
        <p:spPr>
          <a:xfrm>
            <a:off x="6720840" y="1143000"/>
            <a:ext cx="19050" cy="54864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03720" y="1371600"/>
            <a:ext cx="4937760" cy="5120640"/>
          </a:xfrm>
          <a:prstGeom prst="rect">
            <a:avLst/>
          </a:prstGeom>
          <a:solidFill>
            <a:srgbClr val="D0E4F7"/>
          </a:solidFill>
          <a:ln w="12700">
            <a:solidFill>
              <a:srgbClr val="D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0" y="1417320"/>
            <a:ext cx="4754880" cy="274320"/>
          </a:xfrm>
          <a:prstGeom prst="rect">
            <a:avLst/>
          </a:prstGeom>
          <a:noFill/>
        </p:spPr>
        <p:txBody>
          <a:bodyPr wrap="square">
            <a:spAutoFit/>
          </a:bodyPr>
          <a:lstStyle/>
          <a:p>
            <a:pPr algn="l"/>
            <a:r>
              <a:rPr sz="950" b="1" i="0">
                <a:solidFill>
                  <a:srgbClr val="1F5F99"/>
                </a:solidFill>
              </a:rPr>
              <a:t>  RE-ENABLE INTERVAL — TRADE-OFF</a:t>
            </a:r>
          </a:p>
        </p:txBody>
      </p:sp>
      <p:sp>
        <p:nvSpPr>
          <p:cNvPr id="15" name="TextBox 14"/>
          <p:cNvSpPr txBox="1"/>
          <p:nvPr/>
        </p:nvSpPr>
        <p:spPr>
          <a:xfrm>
            <a:off x="6812279" y="2148840"/>
            <a:ext cx="640080" cy="320040"/>
          </a:xfrm>
          <a:prstGeom prst="rect">
            <a:avLst/>
          </a:prstGeom>
          <a:noFill/>
        </p:spPr>
        <p:txBody>
          <a:bodyPr wrap="square">
            <a:spAutoFit/>
          </a:bodyPr>
          <a:lstStyle/>
          <a:p>
            <a:pPr algn="r"/>
            <a:r>
              <a:rPr sz="1100" b="1" i="0">
                <a:solidFill>
                  <a:srgbClr val="1A1A2E"/>
                </a:solidFill>
              </a:rPr>
              <a:t>10 s</a:t>
            </a:r>
          </a:p>
        </p:txBody>
      </p:sp>
      <p:sp>
        <p:nvSpPr>
          <p:cNvPr id="16" name="Rectangle 15"/>
          <p:cNvSpPr/>
          <p:nvPr/>
        </p:nvSpPr>
        <p:spPr>
          <a:xfrm>
            <a:off x="7498079" y="2057400"/>
            <a:ext cx="2304288" cy="475488"/>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19" y="2130552"/>
            <a:ext cx="1097280" cy="411480"/>
          </a:xfrm>
          <a:prstGeom prst="rect">
            <a:avLst/>
          </a:prstGeom>
          <a:noFill/>
        </p:spPr>
        <p:txBody>
          <a:bodyPr wrap="square">
            <a:spAutoFit/>
          </a:bodyPr>
          <a:lstStyle/>
          <a:p>
            <a:pPr algn="l"/>
            <a:r>
              <a:rPr sz="900" b="0" i="0">
                <a:solidFill>
                  <a:srgbClr val="E86B1F"/>
                </a:solidFill>
              </a:rPr>
              <a:t>too short?
premature</a:t>
            </a:r>
          </a:p>
        </p:txBody>
      </p:sp>
      <p:sp>
        <p:nvSpPr>
          <p:cNvPr id="18" name="TextBox 17"/>
          <p:cNvSpPr txBox="1"/>
          <p:nvPr/>
        </p:nvSpPr>
        <p:spPr>
          <a:xfrm>
            <a:off x="6812279" y="2953512"/>
            <a:ext cx="640080" cy="320040"/>
          </a:xfrm>
          <a:prstGeom prst="rect">
            <a:avLst/>
          </a:prstGeom>
          <a:noFill/>
        </p:spPr>
        <p:txBody>
          <a:bodyPr wrap="square">
            <a:spAutoFit/>
          </a:bodyPr>
          <a:lstStyle/>
          <a:p>
            <a:pPr algn="r"/>
            <a:r>
              <a:rPr sz="1100" b="1" i="0">
                <a:solidFill>
                  <a:srgbClr val="1A1A2E"/>
                </a:solidFill>
              </a:rPr>
              <a:t>20 s</a:t>
            </a:r>
          </a:p>
        </p:txBody>
      </p:sp>
      <p:sp>
        <p:nvSpPr>
          <p:cNvPr id="19" name="Rectangle 18"/>
          <p:cNvSpPr/>
          <p:nvPr/>
        </p:nvSpPr>
        <p:spPr>
          <a:xfrm>
            <a:off x="7498079" y="2862072"/>
            <a:ext cx="2816352" cy="475488"/>
          </a:xfrm>
          <a:prstGeom prst="rect">
            <a:avLst/>
          </a:prstGeom>
          <a:solidFill>
            <a:srgbClr val="1A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87583" y="2935224"/>
            <a:ext cx="1097280" cy="411480"/>
          </a:xfrm>
          <a:prstGeom prst="rect">
            <a:avLst/>
          </a:prstGeom>
          <a:noFill/>
        </p:spPr>
        <p:txBody>
          <a:bodyPr wrap="square">
            <a:spAutoFit/>
          </a:bodyPr>
          <a:lstStyle/>
          <a:p>
            <a:pPr algn="l"/>
            <a:r>
              <a:rPr sz="900" b="0" i="0">
                <a:solidFill>
                  <a:srgbClr val="1A7A45"/>
                </a:solidFill>
              </a:rPr>
              <a:t>candidate</a:t>
            </a:r>
          </a:p>
        </p:txBody>
      </p:sp>
      <p:sp>
        <p:nvSpPr>
          <p:cNvPr id="21" name="TextBox 20"/>
          <p:cNvSpPr txBox="1"/>
          <p:nvPr/>
        </p:nvSpPr>
        <p:spPr>
          <a:xfrm>
            <a:off x="6812279" y="3758184"/>
            <a:ext cx="640080" cy="320040"/>
          </a:xfrm>
          <a:prstGeom prst="rect">
            <a:avLst/>
          </a:prstGeom>
          <a:noFill/>
        </p:spPr>
        <p:txBody>
          <a:bodyPr wrap="square">
            <a:spAutoFit/>
          </a:bodyPr>
          <a:lstStyle/>
          <a:p>
            <a:pPr algn="r"/>
            <a:r>
              <a:rPr sz="1100" b="1" i="0">
                <a:solidFill>
                  <a:srgbClr val="1A1A2E"/>
                </a:solidFill>
              </a:rPr>
              <a:t>30 s</a:t>
            </a:r>
          </a:p>
        </p:txBody>
      </p:sp>
      <p:sp>
        <p:nvSpPr>
          <p:cNvPr id="22" name="Rectangle 21"/>
          <p:cNvSpPr/>
          <p:nvPr/>
        </p:nvSpPr>
        <p:spPr>
          <a:xfrm>
            <a:off x="7498079" y="3666744"/>
            <a:ext cx="3200400" cy="475488"/>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71631" y="3739896"/>
            <a:ext cx="1097280" cy="411480"/>
          </a:xfrm>
          <a:prstGeom prst="rect">
            <a:avLst/>
          </a:prstGeom>
          <a:noFill/>
        </p:spPr>
        <p:txBody>
          <a:bodyPr wrap="square">
            <a:spAutoFit/>
          </a:bodyPr>
          <a:lstStyle/>
          <a:p>
            <a:pPr algn="l"/>
            <a:r>
              <a:rPr sz="900" b="0" i="0">
                <a:solidFill>
                  <a:srgbClr val="1F5F99"/>
                </a:solidFill>
              </a:rPr>
              <a:t>paper
default</a:t>
            </a:r>
          </a:p>
        </p:txBody>
      </p:sp>
      <p:sp>
        <p:nvSpPr>
          <p:cNvPr id="24" name="TextBox 23"/>
          <p:cNvSpPr txBox="1"/>
          <p:nvPr/>
        </p:nvSpPr>
        <p:spPr>
          <a:xfrm>
            <a:off x="6812279" y="4562856"/>
            <a:ext cx="640080" cy="320040"/>
          </a:xfrm>
          <a:prstGeom prst="rect">
            <a:avLst/>
          </a:prstGeom>
          <a:noFill/>
        </p:spPr>
        <p:txBody>
          <a:bodyPr wrap="square">
            <a:spAutoFit/>
          </a:bodyPr>
          <a:lstStyle/>
          <a:p>
            <a:pPr algn="r"/>
            <a:r>
              <a:rPr sz="1100" b="1" i="0">
                <a:solidFill>
                  <a:srgbClr val="1A1A2E"/>
                </a:solidFill>
              </a:rPr>
              <a:t>60 s</a:t>
            </a:r>
          </a:p>
        </p:txBody>
      </p:sp>
      <p:sp>
        <p:nvSpPr>
          <p:cNvPr id="25" name="Rectangle 24"/>
          <p:cNvSpPr/>
          <p:nvPr/>
        </p:nvSpPr>
        <p:spPr>
          <a:xfrm>
            <a:off x="7498079" y="4471416"/>
            <a:ext cx="2496312" cy="475488"/>
          </a:xfrm>
          <a:prstGeom prst="rect">
            <a:avLst/>
          </a:prstGeom>
          <a:solidFill>
            <a:srgbClr val="555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67543" y="4544568"/>
            <a:ext cx="1097280" cy="411480"/>
          </a:xfrm>
          <a:prstGeom prst="rect">
            <a:avLst/>
          </a:prstGeom>
          <a:noFill/>
        </p:spPr>
        <p:txBody>
          <a:bodyPr wrap="square">
            <a:spAutoFit/>
          </a:bodyPr>
          <a:lstStyle/>
          <a:p>
            <a:pPr algn="l"/>
            <a:r>
              <a:rPr sz="900" b="0" i="0">
                <a:solidFill>
                  <a:srgbClr val="55556B"/>
                </a:solidFill>
              </a:rPr>
              <a:t>too long?
slow recovery</a:t>
            </a:r>
          </a:p>
        </p:txBody>
      </p:sp>
      <p:sp>
        <p:nvSpPr>
          <p:cNvPr id="27" name="TextBox 26"/>
          <p:cNvSpPr txBox="1"/>
          <p:nvPr/>
        </p:nvSpPr>
        <p:spPr>
          <a:xfrm>
            <a:off x="6995160" y="5577840"/>
            <a:ext cx="4754880" cy="502920"/>
          </a:xfrm>
          <a:prstGeom prst="rect">
            <a:avLst/>
          </a:prstGeom>
          <a:noFill/>
        </p:spPr>
        <p:txBody>
          <a:bodyPr wrap="square">
            <a:spAutoFit/>
          </a:bodyPr>
          <a:lstStyle/>
          <a:p>
            <a:pPr algn="l"/>
            <a:r>
              <a:rPr sz="900" b="0" i="1">
                <a:solidFill>
                  <a:srgbClr val="55556B"/>
                </a:solidFill>
              </a:rPr>
              <a:t>Bars = illustrative relative throughput recovery.
Actual values measured from experiment data.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Scenario: Attack Traffic</a:t>
            </a:r>
          </a:p>
          <a:p>
            <a:r>
              <a:rPr sz="1300">
                <a:solidFill>
                  <a:srgbClr val="B0C8E8"/>
                </a:solidFill>
              </a:rPr>
              <a:t>§7 — Load scenario 6 of 6  ·  Extension, time-permitting</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7 OF 9 (6/6)</a:t>
            </a:r>
          </a:p>
        </p:txBody>
      </p:sp>
      <p:sp>
        <p:nvSpPr>
          <p:cNvPr id="6" name="Rectangle 5"/>
          <p:cNvSpPr/>
          <p:nvPr/>
        </p:nvSpPr>
        <p:spPr>
          <a:xfrm>
            <a:off x="365760" y="1508760"/>
            <a:ext cx="11430000" cy="347472"/>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36192"/>
            <a:ext cx="11247120" cy="292608"/>
          </a:xfrm>
          <a:prstGeom prst="rect">
            <a:avLst/>
          </a:prstGeom>
          <a:noFill/>
        </p:spPr>
        <p:txBody>
          <a:bodyPr wrap="square">
            <a:spAutoFit/>
          </a:bodyPr>
          <a:lstStyle/>
          <a:p>
            <a:pPr algn="l"/>
            <a:r>
              <a:rPr sz="1200" b="1" i="0">
                <a:solidFill>
                  <a:srgbClr val="FFFFFF"/>
                </a:solidFill>
              </a:rPr>
              <a:t>TIME-PERMITTING EXTENSION — only if Scenarios 1–5 are complete</a:t>
            </a:r>
          </a:p>
        </p:txBody>
      </p:sp>
      <p:sp>
        <p:nvSpPr>
          <p:cNvPr id="8" name="TextBox 7"/>
          <p:cNvSpPr txBox="1"/>
          <p:nvPr/>
        </p:nvSpPr>
        <p:spPr>
          <a:xfrm>
            <a:off x="365760" y="2011680"/>
            <a:ext cx="11430000" cy="274320"/>
          </a:xfrm>
          <a:prstGeom prst="rect">
            <a:avLst/>
          </a:prstGeom>
          <a:noFill/>
        </p:spPr>
        <p:txBody>
          <a:bodyPr wrap="square">
            <a:spAutoFit/>
          </a:bodyPr>
          <a:lstStyle/>
          <a:p>
            <a:pPr algn="l"/>
            <a:r>
              <a:rPr sz="1100" b="1" i="0">
                <a:solidFill>
                  <a:srgbClr val="1F5F99"/>
                </a:solidFill>
              </a:rPr>
              <a:t>WHAT HAPPENS IN THE SYSTEM</a:t>
            </a:r>
          </a:p>
        </p:txBody>
      </p:sp>
      <p:sp>
        <p:nvSpPr>
          <p:cNvPr id="9" name="TextBox 8"/>
          <p:cNvSpPr txBox="1"/>
          <p:nvPr/>
        </p:nvSpPr>
        <p:spPr>
          <a:xfrm>
            <a:off x="365760" y="2286000"/>
            <a:ext cx="11430000" cy="640080"/>
          </a:xfrm>
          <a:prstGeom prst="rect">
            <a:avLst/>
          </a:prstGeom>
          <a:noFill/>
        </p:spPr>
        <p:txBody>
          <a:bodyPr wrap="square">
            <a:spAutoFit/>
          </a:bodyPr>
          <a:lstStyle/>
          <a:p>
            <a:pPr algn="l"/>
            <a:r>
              <a:rPr sz="1350" b="0" i="0">
                <a:solidFill>
                  <a:srgbClr val="1A1A2E"/>
                </a:solidFill>
              </a:rPr>
              <a:t>A malicious burst-DDoS traffic pattern simulates an attacker attempting to exploit retry amplification. Short, concentrated bursts push one or more services into ρ &gt; 1 briefly, relying on retry amplification to sustain the overload longer than the attack burst itself.</a:t>
            </a:r>
          </a:p>
        </p:txBody>
      </p:sp>
      <p:sp>
        <p:nvSpPr>
          <p:cNvPr id="10" name="Rectangle 9"/>
          <p:cNvSpPr/>
          <p:nvPr/>
        </p:nvSpPr>
        <p:spPr>
          <a:xfrm>
            <a:off x="365760" y="306324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3200400"/>
            <a:ext cx="11430000" cy="274320"/>
          </a:xfrm>
          <a:prstGeom prst="rect">
            <a:avLst/>
          </a:prstGeom>
          <a:noFill/>
        </p:spPr>
        <p:txBody>
          <a:bodyPr wrap="square">
            <a:spAutoFit/>
          </a:bodyPr>
          <a:lstStyle/>
          <a:p>
            <a:pPr algn="l"/>
            <a:r>
              <a:rPr sz="1100" b="1" i="0">
                <a:solidFill>
                  <a:srgbClr val="1F5F99"/>
                </a:solidFill>
              </a:rPr>
              <a:t>WHAT IT TESTS</a:t>
            </a:r>
          </a:p>
        </p:txBody>
      </p:sp>
      <p:sp>
        <p:nvSpPr>
          <p:cNvPr id="12" name="TextBox 11"/>
          <p:cNvSpPr txBox="1"/>
          <p:nvPr/>
        </p:nvSpPr>
        <p:spPr>
          <a:xfrm>
            <a:off x="365760" y="3474720"/>
            <a:ext cx="11430000" cy="640080"/>
          </a:xfrm>
          <a:prstGeom prst="rect">
            <a:avLst/>
          </a:prstGeom>
          <a:noFill/>
        </p:spPr>
        <p:txBody>
          <a:bodyPr wrap="square">
            <a:spAutoFit/>
          </a:bodyPr>
          <a:lstStyle/>
          <a:p>
            <a:pPr algn="l"/>
            <a:r>
              <a:rPr sz="1350" b="0" i="0">
                <a:solidFill>
                  <a:srgbClr val="1A1A2E"/>
                </a:solidFill>
              </a:rPr>
              <a:t>Does hostile load trip RetryGuard at the wrong time — suppressing retries for legitimate requests when the high rejection rate is caused by an attacker rather than genuine overload? Or does RetryGuard correctly blunt retry storms caused by the attack without disrupting healthy service flows?</a:t>
            </a:r>
          </a:p>
        </p:txBody>
      </p:sp>
      <p:sp>
        <p:nvSpPr>
          <p:cNvPr id="13" name="Rectangle 12"/>
          <p:cNvSpPr/>
          <p:nvPr/>
        </p:nvSpPr>
        <p:spPr>
          <a:xfrm>
            <a:off x="365760" y="425196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4389120"/>
            <a:ext cx="11430000" cy="274320"/>
          </a:xfrm>
          <a:prstGeom prst="rect">
            <a:avLst/>
          </a:prstGeom>
          <a:noFill/>
        </p:spPr>
        <p:txBody>
          <a:bodyPr wrap="square">
            <a:spAutoFit/>
          </a:bodyPr>
          <a:lstStyle/>
          <a:p>
            <a:pPr algn="l"/>
            <a:r>
              <a:rPr sz="1100" b="1" i="0">
                <a:solidFill>
                  <a:srgbClr val="1F5F99"/>
                </a:solidFill>
              </a:rPr>
              <a:t>OPEN QUESTION ADDRESSED</a:t>
            </a:r>
          </a:p>
        </p:txBody>
      </p:sp>
      <p:sp>
        <p:nvSpPr>
          <p:cNvPr id="15" name="TextBox 14"/>
          <p:cNvSpPr txBox="1"/>
          <p:nvPr/>
        </p:nvSpPr>
        <p:spPr>
          <a:xfrm>
            <a:off x="365760" y="4663440"/>
            <a:ext cx="11430000" cy="411480"/>
          </a:xfrm>
          <a:prstGeom prst="rect">
            <a:avLst/>
          </a:prstGeom>
          <a:noFill/>
        </p:spPr>
        <p:txBody>
          <a:bodyPr wrap="square">
            <a:spAutoFit/>
          </a:bodyPr>
          <a:lstStyle/>
          <a:p>
            <a:pPr algn="l"/>
            <a:r>
              <a:rPr sz="1300" b="0" i="0">
                <a:solidFill>
                  <a:srgbClr val="1A1A2E"/>
                </a:solidFill>
              </a:rPr>
              <a:t>Adversarial resilience — the RetryGuard paper (2025) notes DDoS amplification mitigation as a secondary benefit. This scenario tests that claim in the TopFull+Kubernetes context.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Metrics</a:t>
            </a:r>
          </a:p>
          <a:p>
            <a:r>
              <a:rPr sz="1300">
                <a:solidFill>
                  <a:srgbClr val="B0C8E8"/>
                </a:solidFill>
              </a:rPr>
              <a:t>§8 — Three layers of measurement (1/2)</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8 OF 9 (1/2)</a:t>
            </a:r>
          </a:p>
        </p:txBody>
      </p:sp>
      <p:sp>
        <p:nvSpPr>
          <p:cNvPr id="6" name="Rectangle 5"/>
          <p:cNvSpPr/>
          <p:nvPr/>
        </p:nvSpPr>
        <p:spPr>
          <a:xfrm>
            <a:off x="365760" y="1508760"/>
            <a:ext cx="73152" cy="137160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08760"/>
            <a:ext cx="11064240" cy="274320"/>
          </a:xfrm>
          <a:prstGeom prst="rect">
            <a:avLst/>
          </a:prstGeom>
          <a:noFill/>
        </p:spPr>
        <p:txBody>
          <a:bodyPr wrap="square">
            <a:spAutoFit/>
          </a:bodyPr>
          <a:lstStyle/>
          <a:p>
            <a:pPr algn="l"/>
            <a:r>
              <a:rPr sz="1200" b="1" i="0">
                <a:solidFill>
                  <a:srgbClr val="1F5F99"/>
                </a:solidFill>
              </a:rPr>
              <a:t>LAYER 1 — System &amp; API Performance</a:t>
            </a:r>
          </a:p>
        </p:txBody>
      </p:sp>
      <p:sp>
        <p:nvSpPr>
          <p:cNvPr id="8" name="TextBox 7"/>
          <p:cNvSpPr txBox="1"/>
          <p:nvPr/>
        </p:nvSpPr>
        <p:spPr>
          <a:xfrm>
            <a:off x="548640" y="1737360"/>
            <a:ext cx="5029200" cy="256032"/>
          </a:xfrm>
          <a:prstGeom prst="rect">
            <a:avLst/>
          </a:prstGeom>
          <a:noFill/>
        </p:spPr>
        <p:txBody>
          <a:bodyPr wrap="square">
            <a:spAutoFit/>
          </a:bodyPr>
          <a:lstStyle/>
          <a:p>
            <a:pPr algn="l"/>
            <a:r>
              <a:rPr sz="1050" b="0" i="1">
                <a:solidFill>
                  <a:srgbClr val="55556B"/>
                </a:solidFill>
              </a:rPr>
              <a:t>Source: TopFull's metric_collector.py → CSVs in logs/</a:t>
            </a:r>
          </a:p>
        </p:txBody>
      </p:sp>
      <p:sp>
        <p:nvSpPr>
          <p:cNvPr id="9" name="TextBox 8"/>
          <p:cNvSpPr txBox="1"/>
          <p:nvPr/>
        </p:nvSpPr>
        <p:spPr>
          <a:xfrm>
            <a:off x="548640" y="2011680"/>
            <a:ext cx="11064240" cy="914400"/>
          </a:xfrm>
          <a:prstGeom prst="rect">
            <a:avLst/>
          </a:prstGeom>
          <a:noFill/>
        </p:spPr>
        <p:txBody>
          <a:bodyPr wrap="square">
            <a:spAutoFit/>
          </a:bodyPr>
          <a:lstStyle/>
          <a:p>
            <a:pPr algn="l">
              <a:spcBef>
                <a:spcPts val="200"/>
              </a:spcBef>
            </a:pPr>
            <a:r>
              <a:rPr sz="1250">
                <a:solidFill>
                  <a:srgbClr val="1A1A2E"/>
                </a:solidFill>
              </a:rPr>
              <a:t>•  Goodput and latency per API (getcart, getproduct, postcheckout …) — primary outcome. Latency SLO: 1 second (as in TopFull paper).</a:t>
            </a:r>
          </a:p>
          <a:p>
            <a:pPr algn="l">
              <a:spcBef>
                <a:spcPts val="200"/>
              </a:spcBef>
            </a:pPr>
            <a:r>
              <a:rPr sz="1250">
                <a:solidFill>
                  <a:srgbClr val="1A1A2E"/>
                </a:solidFill>
              </a:rPr>
              <a:t>•  Rejection rate per API — the signal RetryGuard reads to decide whether to suppress retries.</a:t>
            </a:r>
          </a:p>
          <a:p>
            <a:pPr algn="l">
              <a:spcBef>
                <a:spcPts val="200"/>
              </a:spcBef>
            </a:pPr>
            <a:r>
              <a:rPr sz="1250">
                <a:solidFill>
                  <a:srgbClr val="1A1A2E"/>
                </a:solidFill>
              </a:rPr>
              <a:t>•  Retries per request — the most direct measure. Compare vs. RetryGuard paper Table 1 (Istio: 0.31 → 0.01).</a:t>
            </a:r>
          </a:p>
        </p:txBody>
      </p:sp>
      <p:sp>
        <p:nvSpPr>
          <p:cNvPr id="10" name="Rectangle 9"/>
          <p:cNvSpPr/>
          <p:nvPr/>
        </p:nvSpPr>
        <p:spPr>
          <a:xfrm>
            <a:off x="365760" y="315468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3291840"/>
            <a:ext cx="73152" cy="141732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291840"/>
            <a:ext cx="11064240" cy="274320"/>
          </a:xfrm>
          <a:prstGeom prst="rect">
            <a:avLst/>
          </a:prstGeom>
          <a:noFill/>
        </p:spPr>
        <p:txBody>
          <a:bodyPr wrap="square">
            <a:spAutoFit/>
          </a:bodyPr>
          <a:lstStyle/>
          <a:p>
            <a:pPr algn="l"/>
            <a:r>
              <a:rPr sz="1200" b="1" i="0">
                <a:solidFill>
                  <a:srgbClr val="E86B1F"/>
                </a:solidFill>
              </a:rPr>
              <a:t>LAYER 2 — Infrastructure Resource Usage</a:t>
            </a:r>
          </a:p>
        </p:txBody>
      </p:sp>
      <p:sp>
        <p:nvSpPr>
          <p:cNvPr id="13" name="TextBox 12"/>
          <p:cNvSpPr txBox="1"/>
          <p:nvPr/>
        </p:nvSpPr>
        <p:spPr>
          <a:xfrm>
            <a:off x="548640" y="3520440"/>
            <a:ext cx="5029200" cy="256032"/>
          </a:xfrm>
          <a:prstGeom prst="rect">
            <a:avLst/>
          </a:prstGeom>
          <a:noFill/>
        </p:spPr>
        <p:txBody>
          <a:bodyPr wrap="square">
            <a:spAutoFit/>
          </a:bodyPr>
          <a:lstStyle/>
          <a:p>
            <a:pPr algn="l"/>
            <a:r>
              <a:rPr sz="1050" b="0" i="1">
                <a:solidFill>
                  <a:srgbClr val="55556B"/>
                </a:solidFill>
              </a:rPr>
              <a:t>Source: cAdvisor via resource_collector.py</a:t>
            </a:r>
          </a:p>
        </p:txBody>
      </p:sp>
      <p:sp>
        <p:nvSpPr>
          <p:cNvPr id="14" name="TextBox 13"/>
          <p:cNvSpPr txBox="1"/>
          <p:nvPr/>
        </p:nvSpPr>
        <p:spPr>
          <a:xfrm>
            <a:off x="548640" y="3794760"/>
            <a:ext cx="11064240" cy="914400"/>
          </a:xfrm>
          <a:prstGeom prst="rect">
            <a:avLst/>
          </a:prstGeom>
          <a:noFill/>
        </p:spPr>
        <p:txBody>
          <a:bodyPr wrap="square">
            <a:spAutoFit/>
          </a:bodyPr>
          <a:lstStyle/>
          <a:p>
            <a:pPr algn="l">
              <a:spcBef>
                <a:spcPts val="200"/>
              </a:spcBef>
            </a:pPr>
            <a:r>
              <a:rPr sz="1250">
                <a:solidFill>
                  <a:srgbClr val="1A1A2E"/>
                </a:solidFill>
              </a:rPr>
              <a:t>•  CPU consumption and memory limits per pod — tracks whether retry suppression actually frees resources at the service level.</a:t>
            </a:r>
          </a:p>
          <a:p>
            <a:pPr algn="l">
              <a:spcBef>
                <a:spcPts val="200"/>
              </a:spcBef>
            </a:pPr>
            <a:r>
              <a:rPr sz="1250">
                <a:solidFill>
                  <a:srgbClr val="1A1A2E"/>
                </a:solidFill>
              </a:rPr>
              <a:t>•  Pod instance counts over time (num_instances.csv) — shows autoscaling response and whether over-scaling is prevented (key finding in paper Sec. 6.2).</a:t>
            </a:r>
          </a:p>
        </p:txBody>
      </p:sp>
      <p:sp>
        <p:nvSpPr>
          <p:cNvPr id="15" name="Rectangle 14"/>
          <p:cNvSpPr/>
          <p:nvPr/>
        </p:nvSpPr>
        <p:spPr>
          <a:xfrm>
            <a:off x="365760" y="489204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029200"/>
            <a:ext cx="11064240" cy="502920"/>
          </a:xfrm>
          <a:prstGeom prst="rect">
            <a:avLst/>
          </a:prstGeom>
          <a:noFill/>
        </p:spPr>
        <p:txBody>
          <a:bodyPr wrap="square">
            <a:spAutoFit/>
          </a:bodyPr>
          <a:lstStyle/>
          <a:p>
            <a:pPr algn="l"/>
            <a:r>
              <a:rPr sz="1300" b="0" i="1">
                <a:solidFill>
                  <a:srgbClr val="1A1A2E"/>
                </a:solidFill>
              </a:rPr>
              <a:t>All data synthesized into comparative time-series charts: baseline run vs. RetryGuard run, side by side across the same metrics.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Metrics (continued)</a:t>
            </a:r>
          </a:p>
          <a:p>
            <a:r>
              <a:rPr sz="1300">
                <a:solidFill>
                  <a:srgbClr val="B0C8E8"/>
                </a:solidFill>
              </a:rPr>
              <a:t>§8 — Three layers of measurement (2/2)</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8 OF 9 (2/2)</a:t>
            </a:r>
          </a:p>
        </p:txBody>
      </p:sp>
      <p:sp>
        <p:nvSpPr>
          <p:cNvPr id="6" name="Rectangle 5"/>
          <p:cNvSpPr/>
          <p:nvPr/>
        </p:nvSpPr>
        <p:spPr>
          <a:xfrm>
            <a:off x="365760" y="1508760"/>
            <a:ext cx="73152" cy="192024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08760"/>
            <a:ext cx="11064240" cy="274320"/>
          </a:xfrm>
          <a:prstGeom prst="rect">
            <a:avLst/>
          </a:prstGeom>
          <a:noFill/>
        </p:spPr>
        <p:txBody>
          <a:bodyPr wrap="square">
            <a:spAutoFit/>
          </a:bodyPr>
          <a:lstStyle/>
          <a:p>
            <a:pPr algn="l"/>
            <a:r>
              <a:rPr sz="1200" b="1" i="0">
                <a:solidFill>
                  <a:srgbClr val="1A2E4A"/>
                </a:solidFill>
              </a:rPr>
              <a:t>LAYER 3 — Controller Logic &amp; State</a:t>
            </a:r>
          </a:p>
        </p:txBody>
      </p:sp>
      <p:sp>
        <p:nvSpPr>
          <p:cNvPr id="8" name="TextBox 7"/>
          <p:cNvSpPr txBox="1"/>
          <p:nvPr/>
        </p:nvSpPr>
        <p:spPr>
          <a:xfrm>
            <a:off x="548640" y="1737360"/>
            <a:ext cx="6400800" cy="256032"/>
          </a:xfrm>
          <a:prstGeom prst="rect">
            <a:avLst/>
          </a:prstGeom>
          <a:noFill/>
        </p:spPr>
        <p:txBody>
          <a:bodyPr wrap="square">
            <a:spAutoFit/>
          </a:bodyPr>
          <a:lstStyle/>
          <a:p>
            <a:pPr algn="l"/>
            <a:r>
              <a:rPr sz="1050" b="0" i="1">
                <a:solidFill>
                  <a:srgbClr val="55556B"/>
                </a:solidFill>
              </a:rPr>
              <a:t>Source: our RetryGuard script logs  +  TopFull's overload_detection.py</a:t>
            </a:r>
          </a:p>
        </p:txBody>
      </p:sp>
      <p:sp>
        <p:nvSpPr>
          <p:cNvPr id="9" name="TextBox 8"/>
          <p:cNvSpPr txBox="1"/>
          <p:nvPr/>
        </p:nvSpPr>
        <p:spPr>
          <a:xfrm>
            <a:off x="548640" y="2011680"/>
            <a:ext cx="11064240" cy="1554480"/>
          </a:xfrm>
          <a:prstGeom prst="rect">
            <a:avLst/>
          </a:prstGeom>
          <a:noFill/>
        </p:spPr>
        <p:txBody>
          <a:bodyPr wrap="square">
            <a:spAutoFit/>
          </a:bodyPr>
          <a:lstStyle/>
          <a:p>
            <a:pPr algn="l">
              <a:spcBef>
                <a:spcPts val="200"/>
              </a:spcBef>
            </a:pPr>
            <a:r>
              <a:rPr sz="1250">
                <a:solidFill>
                  <a:srgbClr val="1A1A2E"/>
                </a:solidFill>
              </a:rPr>
              <a:t>•  Which services had retries toggled off (and when) — ties controller decisions to topology beneficiaries question. Each toggle event logged with timestamp, service name, rejection rate that triggered it.</a:t>
            </a:r>
          </a:p>
          <a:p>
            <a:pPr algn="l">
              <a:spcBef>
                <a:spcPts val="200"/>
              </a:spcBef>
            </a:pPr>
            <a:r>
              <a:rPr sz="1250">
                <a:solidFill>
                  <a:srgbClr val="1A1A2E"/>
                </a:solidFill>
              </a:rPr>
              <a:t>•  Time-to-recovery: how long between retry suppression and re-enablement — shows the cool-down cycle and is directly relevant to interval parameter sensitivity.</a:t>
            </a:r>
          </a:p>
          <a:p>
            <a:pPr algn="l">
              <a:spcBef>
                <a:spcPts val="200"/>
              </a:spcBef>
            </a:pPr>
            <a:r>
              <a:rPr sz="1250">
                <a:solidFill>
                  <a:srgbClr val="1A1A2E"/>
                </a:solidFill>
              </a:rPr>
              <a:t>•  Business priority context from TopFull's overload_detection.py — which APIs were flagged as overloaded, so RetryGuard decisions can be cross-referenced with TopFull's simultaneous state.</a:t>
            </a:r>
          </a:p>
        </p:txBody>
      </p:sp>
      <p:sp>
        <p:nvSpPr>
          <p:cNvPr id="10" name="Rectangle 9"/>
          <p:cNvSpPr/>
          <p:nvPr/>
        </p:nvSpPr>
        <p:spPr>
          <a:xfrm>
            <a:off x="365760" y="3749039"/>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3931920"/>
            <a:ext cx="11430000" cy="274320"/>
          </a:xfrm>
          <a:prstGeom prst="rect">
            <a:avLst/>
          </a:prstGeom>
          <a:noFill/>
        </p:spPr>
        <p:txBody>
          <a:bodyPr wrap="square">
            <a:spAutoFit/>
          </a:bodyPr>
          <a:lstStyle/>
          <a:p>
            <a:pPr algn="l"/>
            <a:r>
              <a:rPr sz="1100" b="1" i="0">
                <a:solidFill>
                  <a:srgbClr val="1F5F99"/>
                </a:solidFill>
              </a:rPr>
              <a:t>CROSS-REFERENCING STRATEGY</a:t>
            </a:r>
          </a:p>
        </p:txBody>
      </p:sp>
      <p:sp>
        <p:nvSpPr>
          <p:cNvPr id="12" name="TextBox 11"/>
          <p:cNvSpPr txBox="1"/>
          <p:nvPr/>
        </p:nvSpPr>
        <p:spPr>
          <a:xfrm>
            <a:off x="365760" y="4251960"/>
            <a:ext cx="11430000" cy="1463040"/>
          </a:xfrm>
          <a:prstGeom prst="rect">
            <a:avLst/>
          </a:prstGeom>
          <a:noFill/>
        </p:spPr>
        <p:txBody>
          <a:bodyPr wrap="square">
            <a:spAutoFit/>
          </a:bodyPr>
          <a:lstStyle/>
          <a:p>
            <a:pPr algn="l">
              <a:spcBef>
                <a:spcPts val="200"/>
              </a:spcBef>
            </a:pPr>
            <a:r>
              <a:rPr sz="1300">
                <a:solidFill>
                  <a:srgbClr val="1A1A2E"/>
                </a:solidFill>
              </a:rPr>
              <a:t>•  RetryGuard toggle events (Layer 3) correlated with goodput changes (Layer 1).</a:t>
            </a:r>
          </a:p>
          <a:p>
            <a:pPr algn="l">
              <a:spcBef>
                <a:spcPts val="200"/>
              </a:spcBef>
            </a:pPr>
            <a:r>
              <a:rPr sz="1300">
                <a:solidFill>
                  <a:srgbClr val="1A1A2E"/>
                </a:solidFill>
              </a:rPr>
              <a:t>•  Resource drops (Layer 2) correlated with service-specific retry suppression (Layer 3).</a:t>
            </a:r>
          </a:p>
          <a:p>
            <a:pPr algn="l">
              <a:spcBef>
                <a:spcPts val="200"/>
              </a:spcBef>
            </a:pPr>
            <a:r>
              <a:rPr sz="1300">
                <a:solidFill>
                  <a:srgbClr val="1A1A2E"/>
                </a:solidFill>
              </a:rPr>
              <a:t>•  TopFull's overload_detection.py state correlated with RetryGuard's per-service decisions.</a:t>
            </a:r>
          </a:p>
        </p:txBody>
      </p:sp>
      <p:sp>
        <p:nvSpPr>
          <p:cNvPr id="13" name="TextBox 12"/>
          <p:cNvSpPr txBox="1"/>
          <p:nvPr/>
        </p:nvSpPr>
        <p:spPr>
          <a:xfrm>
            <a:off x="365760" y="5989320"/>
            <a:ext cx="11430000" cy="411480"/>
          </a:xfrm>
          <a:prstGeom prst="rect">
            <a:avLst/>
          </a:prstGeom>
          <a:noFill/>
        </p:spPr>
        <p:txBody>
          <a:bodyPr wrap="square">
            <a:spAutoFit/>
          </a:bodyPr>
          <a:lstStyle/>
          <a:p>
            <a:pPr algn="l"/>
            <a:r>
              <a:rPr sz="1000" b="0" i="1">
                <a:solidFill>
                  <a:srgbClr val="55556B"/>
                </a:solidFill>
              </a:rPr>
              <a:t>Source: PRESENTATION-GUIDE.md §8, WORKPLAN.md (key metrics tables), PRESENTATION-ACTION-ITEMS.md §8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Timeline &amp; Milestones</a:t>
            </a:r>
          </a:p>
          <a:p>
            <a:r>
              <a:rPr sz="1300">
                <a:solidFill>
                  <a:srgbClr val="B0C8E8"/>
                </a:solidFill>
              </a:rPr>
              <a:t>§9 — What happens and when</a:t>
            </a:r>
          </a:p>
        </p:txBody>
      </p:sp>
      <p:sp>
        <p:nvSpPr>
          <p:cNvPr id="4" name="Rectangle 3"/>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68400"/>
            <a:ext cx="1920240" cy="256032"/>
          </a:xfrm>
          <a:prstGeom prst="rect">
            <a:avLst/>
          </a:prstGeom>
          <a:noFill/>
        </p:spPr>
        <p:txBody>
          <a:bodyPr wrap="none">
            <a:spAutoFit/>
          </a:bodyPr>
          <a:lstStyle/>
          <a:p>
            <a:r>
              <a:rPr sz="950" b="1">
                <a:solidFill>
                  <a:srgbClr val="FFFFFF"/>
                </a:solidFill>
              </a:rPr>
              <a:t>SECTION 9 OF 9</a:t>
            </a:r>
          </a:p>
        </p:txBody>
      </p:sp>
      <p:sp>
        <p:nvSpPr>
          <p:cNvPr id="6" name="TextBox 5"/>
          <p:cNvSpPr txBox="1"/>
          <p:nvPr/>
        </p:nvSpPr>
        <p:spPr>
          <a:xfrm>
            <a:off x="365760" y="1508760"/>
            <a:ext cx="11430000" cy="347472"/>
          </a:xfrm>
          <a:prstGeom prst="rect">
            <a:avLst/>
          </a:prstGeom>
          <a:noFill/>
        </p:spPr>
        <p:txBody>
          <a:bodyPr wrap="square">
            <a:spAutoFit/>
          </a:bodyPr>
          <a:lstStyle/>
          <a:p>
            <a:pPr algn="l"/>
            <a:r>
              <a:rPr sz="1350" b="0" i="1">
                <a:solidFill>
                  <a:srgbClr val="1A1A2E"/>
                </a:solidFill>
              </a:rPr>
              <a:t>A sequential view of the project phases. Dependencies are implied by the order.</a:t>
            </a:r>
          </a:p>
        </p:txBody>
      </p:sp>
      <p:sp>
        <p:nvSpPr>
          <p:cNvPr id="7" name="Rectangle 6"/>
          <p:cNvSpPr/>
          <p:nvPr/>
        </p:nvSpPr>
        <p:spPr>
          <a:xfrm>
            <a:off x="2834640" y="2011680"/>
            <a:ext cx="2240280" cy="384048"/>
          </a:xfrm>
          <a:prstGeom prst="rect">
            <a:avLst/>
          </a:prstGeom>
          <a:solidFill>
            <a:srgbClr val="D8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34640" y="2075688"/>
            <a:ext cx="2240280" cy="274320"/>
          </a:xfrm>
          <a:prstGeom prst="rect">
            <a:avLst/>
          </a:prstGeom>
          <a:noFill/>
        </p:spPr>
        <p:txBody>
          <a:bodyPr wrap="square">
            <a:spAutoFit/>
          </a:bodyPr>
          <a:lstStyle/>
          <a:p>
            <a:pPr algn="ctr"/>
            <a:r>
              <a:rPr sz="1100" b="1" i="0">
                <a:solidFill>
                  <a:srgbClr val="1A2E4A"/>
                </a:solidFill>
              </a:rPr>
              <a:t>Week 1</a:t>
            </a:r>
          </a:p>
        </p:txBody>
      </p:sp>
      <p:sp>
        <p:nvSpPr>
          <p:cNvPr id="9" name="Rectangle 8"/>
          <p:cNvSpPr/>
          <p:nvPr/>
        </p:nvSpPr>
        <p:spPr>
          <a:xfrm>
            <a:off x="5074920" y="2011680"/>
            <a:ext cx="2240280" cy="3840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2075688"/>
            <a:ext cx="2240280" cy="274320"/>
          </a:xfrm>
          <a:prstGeom prst="rect">
            <a:avLst/>
          </a:prstGeom>
          <a:noFill/>
        </p:spPr>
        <p:txBody>
          <a:bodyPr wrap="square">
            <a:spAutoFit/>
          </a:bodyPr>
          <a:lstStyle/>
          <a:p>
            <a:pPr algn="ctr"/>
            <a:r>
              <a:rPr sz="1100" b="1" i="0">
                <a:solidFill>
                  <a:srgbClr val="1A2E4A"/>
                </a:solidFill>
              </a:rPr>
              <a:t>Week 2</a:t>
            </a:r>
          </a:p>
        </p:txBody>
      </p:sp>
      <p:sp>
        <p:nvSpPr>
          <p:cNvPr id="11" name="Rectangle 10"/>
          <p:cNvSpPr/>
          <p:nvPr/>
        </p:nvSpPr>
        <p:spPr>
          <a:xfrm>
            <a:off x="7315200" y="2011680"/>
            <a:ext cx="2240280" cy="384048"/>
          </a:xfrm>
          <a:prstGeom prst="rect">
            <a:avLst/>
          </a:prstGeom>
          <a:solidFill>
            <a:srgbClr val="D8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2075688"/>
            <a:ext cx="2240280" cy="274320"/>
          </a:xfrm>
          <a:prstGeom prst="rect">
            <a:avLst/>
          </a:prstGeom>
          <a:noFill/>
        </p:spPr>
        <p:txBody>
          <a:bodyPr wrap="square">
            <a:spAutoFit/>
          </a:bodyPr>
          <a:lstStyle/>
          <a:p>
            <a:pPr algn="ctr"/>
            <a:r>
              <a:rPr sz="1100" b="1" i="0">
                <a:solidFill>
                  <a:srgbClr val="1A2E4A"/>
                </a:solidFill>
              </a:rPr>
              <a:t>Week 3</a:t>
            </a:r>
          </a:p>
        </p:txBody>
      </p:sp>
      <p:sp>
        <p:nvSpPr>
          <p:cNvPr id="13" name="Rectangle 12"/>
          <p:cNvSpPr/>
          <p:nvPr/>
        </p:nvSpPr>
        <p:spPr>
          <a:xfrm>
            <a:off x="9555480" y="2011680"/>
            <a:ext cx="2240280" cy="3840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55480" y="2075688"/>
            <a:ext cx="2240280" cy="274320"/>
          </a:xfrm>
          <a:prstGeom prst="rect">
            <a:avLst/>
          </a:prstGeom>
          <a:noFill/>
        </p:spPr>
        <p:txBody>
          <a:bodyPr wrap="square">
            <a:spAutoFit/>
          </a:bodyPr>
          <a:lstStyle/>
          <a:p>
            <a:pPr algn="ctr"/>
            <a:r>
              <a:rPr sz="1100" b="1" i="0">
                <a:solidFill>
                  <a:srgbClr val="1A2E4A"/>
                </a:solidFill>
              </a:rPr>
              <a:t>Week 4</a:t>
            </a:r>
          </a:p>
        </p:txBody>
      </p:sp>
      <p:sp>
        <p:nvSpPr>
          <p:cNvPr id="15" name="Rectangle 14"/>
          <p:cNvSpPr/>
          <p:nvPr/>
        </p:nvSpPr>
        <p:spPr>
          <a:xfrm>
            <a:off x="2834640" y="2395728"/>
            <a:ext cx="8961120" cy="5943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2487168"/>
            <a:ext cx="2194560" cy="502920"/>
          </a:xfrm>
          <a:prstGeom prst="rect">
            <a:avLst/>
          </a:prstGeom>
          <a:noFill/>
        </p:spPr>
        <p:txBody>
          <a:bodyPr wrap="square">
            <a:spAutoFit/>
          </a:bodyPr>
          <a:lstStyle/>
          <a:p>
            <a:pPr algn="l"/>
            <a:r>
              <a:rPr sz="1000" b="0" i="0">
                <a:solidFill>
                  <a:srgbClr val="1A1A2E"/>
                </a:solidFill>
              </a:rPr>
              <a:t>Infrastructure setup
(VMs, K8s, Istio, app running)</a:t>
            </a:r>
          </a:p>
        </p:txBody>
      </p:sp>
      <p:sp>
        <p:nvSpPr>
          <p:cNvPr id="17" name="Rectangle 16"/>
          <p:cNvSpPr/>
          <p:nvPr/>
        </p:nvSpPr>
        <p:spPr>
          <a:xfrm>
            <a:off x="2834640" y="2487168"/>
            <a:ext cx="4480560" cy="41148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7792" y="2578608"/>
            <a:ext cx="4389120" cy="274320"/>
          </a:xfrm>
          <a:prstGeom prst="rect">
            <a:avLst/>
          </a:prstGeom>
          <a:noFill/>
        </p:spPr>
        <p:txBody>
          <a:bodyPr wrap="square">
            <a:spAutoFit/>
          </a:bodyPr>
          <a:lstStyle/>
          <a:p>
            <a:pPr algn="l"/>
            <a:r>
              <a:rPr sz="950" b="1" i="0">
                <a:solidFill>
                  <a:srgbClr val="FFFFFF"/>
                </a:solidFill>
              </a:rPr>
              <a:t>Week 0–2</a:t>
            </a:r>
          </a:p>
        </p:txBody>
      </p:sp>
      <p:sp>
        <p:nvSpPr>
          <p:cNvPr id="19" name="Rectangle 18"/>
          <p:cNvSpPr/>
          <p:nvPr/>
        </p:nvSpPr>
        <p:spPr>
          <a:xfrm>
            <a:off x="2834640" y="3081528"/>
            <a:ext cx="8961120" cy="5943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3172968"/>
            <a:ext cx="2194560" cy="502920"/>
          </a:xfrm>
          <a:prstGeom prst="rect">
            <a:avLst/>
          </a:prstGeom>
          <a:noFill/>
        </p:spPr>
        <p:txBody>
          <a:bodyPr wrap="square">
            <a:spAutoFit/>
          </a:bodyPr>
          <a:lstStyle/>
          <a:p>
            <a:pPr algn="l"/>
            <a:r>
              <a:rPr sz="1000" b="0" i="0">
                <a:solidFill>
                  <a:srgbClr val="1A1A2E"/>
                </a:solidFill>
              </a:rPr>
              <a:t>Baseline experiment
(TopFull running, default retries)</a:t>
            </a:r>
          </a:p>
        </p:txBody>
      </p:sp>
      <p:sp>
        <p:nvSpPr>
          <p:cNvPr id="21" name="Rectangle 20"/>
          <p:cNvSpPr/>
          <p:nvPr/>
        </p:nvSpPr>
        <p:spPr>
          <a:xfrm>
            <a:off x="6195060" y="3172968"/>
            <a:ext cx="3360420" cy="41148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8212" y="3264408"/>
            <a:ext cx="3268980" cy="274320"/>
          </a:xfrm>
          <a:prstGeom prst="rect">
            <a:avLst/>
          </a:prstGeom>
          <a:noFill/>
        </p:spPr>
        <p:txBody>
          <a:bodyPr wrap="square">
            <a:spAutoFit/>
          </a:bodyPr>
          <a:lstStyle/>
          <a:p>
            <a:pPr algn="l"/>
            <a:r>
              <a:rPr sz="950" b="1" i="0">
                <a:solidFill>
                  <a:srgbClr val="FFFFFF"/>
                </a:solidFill>
              </a:rPr>
              <a:t>Week 2–3</a:t>
            </a:r>
          </a:p>
        </p:txBody>
      </p:sp>
      <p:sp>
        <p:nvSpPr>
          <p:cNvPr id="23" name="Rectangle 22"/>
          <p:cNvSpPr/>
          <p:nvPr/>
        </p:nvSpPr>
        <p:spPr>
          <a:xfrm>
            <a:off x="2834640" y="3767328"/>
            <a:ext cx="8961120" cy="5943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3858768"/>
            <a:ext cx="2194560" cy="502920"/>
          </a:xfrm>
          <a:prstGeom prst="rect">
            <a:avLst/>
          </a:prstGeom>
          <a:noFill/>
        </p:spPr>
        <p:txBody>
          <a:bodyPr wrap="square">
            <a:spAutoFit/>
          </a:bodyPr>
          <a:lstStyle/>
          <a:p>
            <a:pPr algn="l"/>
            <a:r>
              <a:rPr sz="1000" b="0" i="0">
                <a:solidFill>
                  <a:srgbClr val="1A1A2E"/>
                </a:solidFill>
              </a:rPr>
              <a:t>RetryGuard implementation
(Algorithm 1, Istio integration)</a:t>
            </a:r>
          </a:p>
        </p:txBody>
      </p:sp>
      <p:sp>
        <p:nvSpPr>
          <p:cNvPr id="25" name="Rectangle 24"/>
          <p:cNvSpPr/>
          <p:nvPr/>
        </p:nvSpPr>
        <p:spPr>
          <a:xfrm>
            <a:off x="7315200" y="3858768"/>
            <a:ext cx="2240280" cy="41148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88352" y="3950208"/>
            <a:ext cx="2148840" cy="274320"/>
          </a:xfrm>
          <a:prstGeom prst="rect">
            <a:avLst/>
          </a:prstGeom>
          <a:noFill/>
        </p:spPr>
        <p:txBody>
          <a:bodyPr wrap="square">
            <a:spAutoFit/>
          </a:bodyPr>
          <a:lstStyle/>
          <a:p>
            <a:pPr algn="l"/>
            <a:r>
              <a:rPr sz="950" b="1" i="0">
                <a:solidFill>
                  <a:srgbClr val="FFFFFF"/>
                </a:solidFill>
              </a:rPr>
              <a:t>Week 2–3</a:t>
            </a:r>
          </a:p>
        </p:txBody>
      </p:sp>
      <p:sp>
        <p:nvSpPr>
          <p:cNvPr id="27" name="Rectangle 26"/>
          <p:cNvSpPr/>
          <p:nvPr/>
        </p:nvSpPr>
        <p:spPr>
          <a:xfrm>
            <a:off x="2834640" y="4453128"/>
            <a:ext cx="8961120" cy="5943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4544568"/>
            <a:ext cx="2194560" cy="502920"/>
          </a:xfrm>
          <a:prstGeom prst="rect">
            <a:avLst/>
          </a:prstGeom>
          <a:noFill/>
        </p:spPr>
        <p:txBody>
          <a:bodyPr wrap="square">
            <a:spAutoFit/>
          </a:bodyPr>
          <a:lstStyle/>
          <a:p>
            <a:pPr algn="l"/>
            <a:r>
              <a:rPr sz="1000" b="0" i="0">
                <a:solidFill>
                  <a:srgbClr val="1A1A2E"/>
                </a:solidFill>
              </a:rPr>
              <a:t>RetryGuard experiment
(all load scenarios)</a:t>
            </a:r>
          </a:p>
        </p:txBody>
      </p:sp>
      <p:sp>
        <p:nvSpPr>
          <p:cNvPr id="29" name="Rectangle 28"/>
          <p:cNvSpPr/>
          <p:nvPr/>
        </p:nvSpPr>
        <p:spPr>
          <a:xfrm>
            <a:off x="8435340" y="4544568"/>
            <a:ext cx="3360420" cy="41148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8492" y="4636008"/>
            <a:ext cx="3268980" cy="274320"/>
          </a:xfrm>
          <a:prstGeom prst="rect">
            <a:avLst/>
          </a:prstGeom>
          <a:noFill/>
        </p:spPr>
        <p:txBody>
          <a:bodyPr wrap="square">
            <a:spAutoFit/>
          </a:bodyPr>
          <a:lstStyle/>
          <a:p>
            <a:pPr algn="l"/>
            <a:r>
              <a:rPr sz="950" b="1" i="0">
                <a:solidFill>
                  <a:srgbClr val="FFFFFF"/>
                </a:solidFill>
              </a:rPr>
              <a:t>Week 2–4</a:t>
            </a:r>
          </a:p>
        </p:txBody>
      </p:sp>
      <p:sp>
        <p:nvSpPr>
          <p:cNvPr id="31" name="Rectangle 30"/>
          <p:cNvSpPr/>
          <p:nvPr/>
        </p:nvSpPr>
        <p:spPr>
          <a:xfrm>
            <a:off x="2834640" y="5138928"/>
            <a:ext cx="8961120" cy="5943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 y="5230368"/>
            <a:ext cx="2194560" cy="502920"/>
          </a:xfrm>
          <a:prstGeom prst="rect">
            <a:avLst/>
          </a:prstGeom>
          <a:noFill/>
        </p:spPr>
        <p:txBody>
          <a:bodyPr wrap="square">
            <a:spAutoFit/>
          </a:bodyPr>
          <a:lstStyle/>
          <a:p>
            <a:pPr algn="l"/>
            <a:r>
              <a:rPr sz="1000" b="0" i="0">
                <a:solidFill>
                  <a:srgbClr val="1A1A2E"/>
                </a:solidFill>
              </a:rPr>
              <a:t>Evaluation &amp; final report
(comparison, time-series charts)</a:t>
            </a:r>
          </a:p>
        </p:txBody>
      </p:sp>
      <p:sp>
        <p:nvSpPr>
          <p:cNvPr id="33" name="Rectangle 32"/>
          <p:cNvSpPr/>
          <p:nvPr/>
        </p:nvSpPr>
        <p:spPr>
          <a:xfrm>
            <a:off x="9555480" y="5230368"/>
            <a:ext cx="2240280" cy="411480"/>
          </a:xfrm>
          <a:prstGeom prst="rect">
            <a:avLst/>
          </a:prstGeom>
          <a:solidFill>
            <a:srgbClr val="1A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28632" y="5321808"/>
            <a:ext cx="2148840" cy="274320"/>
          </a:xfrm>
          <a:prstGeom prst="rect">
            <a:avLst/>
          </a:prstGeom>
          <a:noFill/>
        </p:spPr>
        <p:txBody>
          <a:bodyPr wrap="square">
            <a:spAutoFit/>
          </a:bodyPr>
          <a:lstStyle/>
          <a:p>
            <a:pPr algn="l"/>
            <a:r>
              <a:rPr sz="950" b="1" i="0">
                <a:solidFill>
                  <a:srgbClr val="FFFFFF"/>
                </a:solidFill>
              </a:rPr>
              <a:t>Week 3–4</a:t>
            </a:r>
          </a:p>
        </p:txBody>
      </p:sp>
      <p:cxnSp>
        <p:nvCxnSpPr>
          <p:cNvPr id="35" name="Connector 34"/>
          <p:cNvCxnSpPr/>
          <p:nvPr/>
        </p:nvCxnSpPr>
        <p:spPr>
          <a:xfrm>
            <a:off x="5074920.0" y="2011680"/>
            <a:ext cx="0.0" cy="3813048"/>
          </a:xfrm>
          <a:prstGeom prst="line">
            <a:avLst/>
          </a:prstGeom>
          <a:ln w="1270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315200.0" y="2011680"/>
            <a:ext cx="0.0" cy="3813048"/>
          </a:xfrm>
          <a:prstGeom prst="line">
            <a:avLst/>
          </a:prstGeom>
          <a:ln w="12700">
            <a:solidFill>
              <a:srgbClr val="D8DC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555480.0" y="2011680"/>
            <a:ext cx="0.0" cy="3813048"/>
          </a:xfrm>
          <a:prstGeom prst="line">
            <a:avLst/>
          </a:prstGeom>
          <a:ln w="12700">
            <a:solidFill>
              <a:srgbClr val="D8DCE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65760" y="6309360"/>
            <a:ext cx="11430000" cy="365760"/>
          </a:xfrm>
          <a:prstGeom prst="rect">
            <a:avLst/>
          </a:prstGeom>
          <a:noFill/>
        </p:spPr>
        <p:txBody>
          <a:bodyPr wrap="square">
            <a:spAutoFit/>
          </a:bodyPr>
          <a:lstStyle/>
          <a:p>
            <a:pPr algn="l"/>
            <a:r>
              <a:rPr sz="1000" b="0" i="1">
                <a:solidFill>
                  <a:srgbClr val="55556B"/>
                </a:solidFill>
              </a:rPr>
              <a:t>Source: WORKPLAN.md (all phases), PRESENTATION-ACTION-ITEMS.md §9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Summary &amp; Deliverables</a:t>
            </a:r>
          </a:p>
          <a:p>
            <a:r>
              <a:rPr sz="1300">
                <a:solidFill>
                  <a:srgbClr val="B0C8E8"/>
                </a:solidFill>
              </a:rPr>
              <a:t>What we are building, testing, and delivering</a:t>
            </a:r>
          </a:p>
        </p:txBody>
      </p:sp>
      <p:sp>
        <p:nvSpPr>
          <p:cNvPr id="4" name="TextBox 3"/>
          <p:cNvSpPr txBox="1"/>
          <p:nvPr/>
        </p:nvSpPr>
        <p:spPr>
          <a:xfrm>
            <a:off x="365760" y="1508760"/>
            <a:ext cx="11430000" cy="274320"/>
          </a:xfrm>
          <a:prstGeom prst="rect">
            <a:avLst/>
          </a:prstGeom>
          <a:noFill/>
        </p:spPr>
        <p:txBody>
          <a:bodyPr wrap="square">
            <a:spAutoFit/>
          </a:bodyPr>
          <a:lstStyle/>
          <a:p>
            <a:pPr algn="l"/>
            <a:r>
              <a:rPr sz="1100" b="1" i="0">
                <a:solidFill>
                  <a:srgbClr val="1F5F99"/>
                </a:solidFill>
              </a:rPr>
              <a:t>WHAT WE ARE BUILDING</a:t>
            </a:r>
          </a:p>
        </p:txBody>
      </p:sp>
      <p:sp>
        <p:nvSpPr>
          <p:cNvPr id="5" name="TextBox 4"/>
          <p:cNvSpPr txBox="1"/>
          <p:nvPr/>
        </p:nvSpPr>
        <p:spPr>
          <a:xfrm>
            <a:off x="365760" y="1783080"/>
            <a:ext cx="11430000" cy="502920"/>
          </a:xfrm>
          <a:prstGeom prst="rect">
            <a:avLst/>
          </a:prstGeom>
          <a:noFill/>
        </p:spPr>
        <p:txBody>
          <a:bodyPr wrap="square">
            <a:spAutoFit/>
          </a:bodyPr>
          <a:lstStyle/>
          <a:p>
            <a:pPr algn="l"/>
            <a:r>
              <a:rPr sz="1350" b="0" i="0">
                <a:solidFill>
                  <a:srgbClr val="1A1A2E"/>
                </a:solidFill>
              </a:rPr>
              <a:t>A full experimental stack: Kubernetes + Istio + TopFull overload controller + self-implemented RetryGuard, on Google Cloud Platform. Test application: Online Boutique (Google's 11-microservice demo app).</a:t>
            </a:r>
          </a:p>
        </p:txBody>
      </p:sp>
      <p:sp>
        <p:nvSpPr>
          <p:cNvPr id="6" name="Rectangle 5"/>
          <p:cNvSpPr/>
          <p:nvPr/>
        </p:nvSpPr>
        <p:spPr>
          <a:xfrm>
            <a:off x="365760" y="242316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2560320"/>
            <a:ext cx="11430000" cy="274320"/>
          </a:xfrm>
          <a:prstGeom prst="rect">
            <a:avLst/>
          </a:prstGeom>
          <a:noFill/>
        </p:spPr>
        <p:txBody>
          <a:bodyPr wrap="square">
            <a:spAutoFit/>
          </a:bodyPr>
          <a:lstStyle/>
          <a:p>
            <a:pPr algn="l"/>
            <a:r>
              <a:rPr sz="1100" b="1" i="0">
                <a:solidFill>
                  <a:srgbClr val="1F5F99"/>
                </a:solidFill>
              </a:rPr>
              <a:t>WHAT WE ARE TESTING</a:t>
            </a:r>
          </a:p>
        </p:txBody>
      </p:sp>
      <p:sp>
        <p:nvSpPr>
          <p:cNvPr id="8" name="TextBox 7"/>
          <p:cNvSpPr txBox="1"/>
          <p:nvPr/>
        </p:nvSpPr>
        <p:spPr>
          <a:xfrm>
            <a:off x="365760" y="2834640"/>
            <a:ext cx="11430000" cy="502920"/>
          </a:xfrm>
          <a:prstGeom prst="rect">
            <a:avLst/>
          </a:prstGeom>
          <a:noFill/>
        </p:spPr>
        <p:txBody>
          <a:bodyPr wrap="square">
            <a:spAutoFit/>
          </a:bodyPr>
          <a:lstStyle/>
          <a:p>
            <a:pPr algn="l"/>
            <a:r>
              <a:rPr sz="1350" b="0" i="0">
                <a:solidFill>
                  <a:srgbClr val="1A1A2E"/>
                </a:solidFill>
              </a:rPr>
              <a:t>Whether RetryGuard (Algorithm 1, self-implemented from the RetryGuard paper) produces measurable improvement in goodput, latency, retry rate, and resource usage when layered on top of TopFull — across six load scenarios designed to answer eight open questions.</a:t>
            </a:r>
          </a:p>
        </p:txBody>
      </p:sp>
      <p:sp>
        <p:nvSpPr>
          <p:cNvPr id="9" name="Rectangle 8"/>
          <p:cNvSpPr/>
          <p:nvPr/>
        </p:nvSpPr>
        <p:spPr>
          <a:xfrm>
            <a:off x="365760" y="347472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3611880"/>
            <a:ext cx="11430000" cy="274320"/>
          </a:xfrm>
          <a:prstGeom prst="rect">
            <a:avLst/>
          </a:prstGeom>
          <a:noFill/>
        </p:spPr>
        <p:txBody>
          <a:bodyPr wrap="square">
            <a:spAutoFit/>
          </a:bodyPr>
          <a:lstStyle/>
          <a:p>
            <a:pPr algn="l"/>
            <a:r>
              <a:rPr sz="1100" b="1" i="0">
                <a:solidFill>
                  <a:srgbClr val="1F5F99"/>
                </a:solidFill>
              </a:rPr>
              <a:t>DELIVERABLES</a:t>
            </a:r>
          </a:p>
        </p:txBody>
      </p:sp>
      <p:sp>
        <p:nvSpPr>
          <p:cNvPr id="11" name="TextBox 10"/>
          <p:cNvSpPr txBox="1"/>
          <p:nvPr/>
        </p:nvSpPr>
        <p:spPr>
          <a:xfrm>
            <a:off x="365760" y="3931920"/>
            <a:ext cx="11430000" cy="1554480"/>
          </a:xfrm>
          <a:prstGeom prst="rect">
            <a:avLst/>
          </a:prstGeom>
          <a:noFill/>
        </p:spPr>
        <p:txBody>
          <a:bodyPr wrap="square">
            <a:spAutoFit/>
          </a:bodyPr>
          <a:lstStyle/>
          <a:p>
            <a:pPr algn="l">
              <a:spcBef>
                <a:spcPts val="200"/>
              </a:spcBef>
            </a:pPr>
            <a:r>
              <a:rPr sz="1350">
                <a:solidFill>
                  <a:srgbClr val="1A1A2E"/>
                </a:solidFill>
              </a:rPr>
              <a:t>•  Working Kubernetes + Istio + TopFull + RetryGuard experimental setup (reproducible, on GCP).</a:t>
            </a:r>
          </a:p>
          <a:p>
            <a:pPr algn="l">
              <a:spcBef>
                <a:spcPts val="200"/>
              </a:spcBef>
            </a:pPr>
            <a:r>
              <a:rPr sz="1350">
                <a:solidFill>
                  <a:srgbClr val="1A1A2E"/>
                </a:solidFill>
              </a:rPr>
              <a:t>•  Baseline vs. RetryGuard experiment data across all load scenarios — CSVs, logs, controller decision records.</a:t>
            </a:r>
          </a:p>
          <a:p>
            <a:pPr algn="l">
              <a:spcBef>
                <a:spcPts val="200"/>
              </a:spcBef>
            </a:pPr>
            <a:r>
              <a:rPr sz="1350">
                <a:solidFill>
                  <a:srgbClr val="1A1A2E"/>
                </a:solidFill>
              </a:rPr>
              <a:t>•  Evaluation report with time-series charts comparing goodput, latency, retries per request, resource usage, and autoscaler behavior — baseline vs. RetryGuard, side by side.</a:t>
            </a:r>
          </a:p>
        </p:txBody>
      </p:sp>
      <p:sp>
        <p:nvSpPr>
          <p:cNvPr id="12" name="Rectangle 11"/>
          <p:cNvSpPr/>
          <p:nvPr/>
        </p:nvSpPr>
        <p:spPr>
          <a:xfrm>
            <a:off x="365760" y="562356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760720"/>
            <a:ext cx="11430000" cy="365760"/>
          </a:xfrm>
          <a:prstGeom prst="rect">
            <a:avLst/>
          </a:prstGeom>
          <a:noFill/>
        </p:spPr>
        <p:txBody>
          <a:bodyPr wrap="square">
            <a:spAutoFit/>
          </a:bodyPr>
          <a:lstStyle/>
          <a:p>
            <a:pPr algn="l"/>
            <a:r>
              <a:rPr sz="1300" b="1" i="0">
                <a:solidFill>
                  <a:srgbClr val="1A2E4A"/>
                </a:solidFill>
              </a:rPr>
              <a:t>The outcome — whether RetryGuard helps significantly, helps only specific services, or barely moves the needle — is the point of the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